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3.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4.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5.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6.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charts/chart7.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charts/chart8.xml" ContentType="application/vnd.openxmlformats-officedocument.drawingml.chart+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notesMasterIdLst>
    <p:notesMasterId r:id="rId7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Blocks</c:v>
                </c:pt>
              </c:strCache>
            </c:strRef>
          </c:tx>
          <c:spPr>
            <a:solidFill>
              <a:srgbClr val="FF4D3D"/>
            </a:solidFill>
            <a:effectLst/>
          </c:spPr>
          <c:invertIfNegative val="0"/>
          <c:dLbls>
            <c:numFmt formatCode="#,##0" sourceLinked="0"/>
            <c:txPr>
              <a:bodyPr/>
              <a:lstStyle/>
              <a:p>
                <a:pPr>
                  <a:defRPr b="1" i="0" strike="noStrike" sz="16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Lead</c:v>
                  </c:pt>
                  <c:pt idx="1">
                    <c:v>$97</c:v>
                  </c:pt>
                  <c:pt idx="2">
                    <c:v>$10k</c:v>
                  </c:pt>
                </c:lvl>
              </c:multiLvlStrCache>
            </c:multiLvlStrRef>
          </c:cat>
          <c:val>
            <c:numRef>
              <c:f>Sheet1!$B$2:$B$4</c:f>
              <c:numCache>
                <c:formatCode>General</c:formatCode>
                <c:ptCount val="3"/>
                <c:pt idx="0">
                  <c:v>4</c:v>
                </c:pt>
                <c:pt idx="1">
                  <c:v>12</c:v>
                </c:pt>
                <c:pt idx="2">
                  <c:v>400</c:v>
                </c:pt>
              </c:numCache>
            </c:numRef>
          </c:val>
        </c:ser>
        <c:dLbls>
          <c:numFmt formatCode="#,##0" sourceLinked="0"/>
          <c:txPr>
            <a:bodyPr/>
            <a:lstStyle/>
            <a:p>
              <a:pPr>
                <a:defRPr b="1" i="0" strike="noStrike" sz="16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4141F"/>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FF4D3D"/>
              </a:solidFill>
              <a:effectLst/>
            </c:spPr>
          </c:dPt>
          <c:dPt>
            <c:idx val="1"/>
            <c:bubble3D val="0"/>
            <c:spPr>
              <a:solidFill>
                <a:srgbClr val="14141F"/>
              </a:solidFill>
              <a:effectLst/>
            </c:spPr>
          </c:dPt>
          <c:dLbls>
            <c:dLbl>
              <c:idx val="0"/>
              <c:numFmt formatCode="0%" sourceLinked="0"/>
              <c:spPr/>
              <c:txPr>
                <a:bodyPr/>
                <a:lstStyle/>
                <a:p>
                  <a:pPr>
                    <a:defRPr sz="2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2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Core topic</c:v>
                </c:pt>
                <c:pt idx="1">
                  <c:v>Interests</c:v>
                </c:pt>
              </c:strCache>
            </c:strRef>
          </c:cat>
          <c:val>
            <c:numRef>
              <c:f>Sheet1!$B$2:$B$3</c:f>
              <c:numCache>
                <c:ptCount val="2"/>
                <c:pt idx="0">
                  <c:v>80</c:v>
                </c:pt>
                <c:pt idx="1">
                  <c:v>20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Retention</c:v>
                </c:pt>
              </c:strCache>
            </c:strRef>
          </c:tx>
          <c:spPr>
            <a:solidFill>
              <a:srgbClr val="FF4D3D"/>
            </a:solidFill>
            <a:ln w="50800" cap="flat">
              <a:solidFill>
                <a:srgbClr val="FF4D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4D3D"/>
              </a:solidFill>
              <a:ln w="9525" cap="flat">
                <a:solidFill>
                  <a:srgbClr val="FF4D3D"/>
                </a:solidFill>
                <a:prstDash val="solid"/>
                <a:round/>
              </a:ln>
              <a:effectLst/>
            </c:spPr>
          </c:marker>
          <c:cat>
            <c:multiLvlStrRef>
              <c:f>Sheet1!$A$2:$A$10</c:f>
              <c:multiLvlStrCache>
                <c:ptCount val="9"/>
                <c:lvl>
                  <c:pt idx="0">
                    <c:v>0s</c:v>
                  </c:pt>
                  <c:pt idx="1">
                    <c:v>5s</c:v>
                  </c:pt>
                  <c:pt idx="2">
                    <c:v>10s</c:v>
                  </c:pt>
                  <c:pt idx="3">
                    <c:v>15s</c:v>
                  </c:pt>
                  <c:pt idx="4">
                    <c:v>20s</c:v>
                  </c:pt>
                  <c:pt idx="5">
                    <c:v>25s</c:v>
                  </c:pt>
                  <c:pt idx="6">
                    <c:v>30s</c:v>
                  </c:pt>
                  <c:pt idx="7">
                    <c:v>35s</c:v>
                  </c:pt>
                  <c:pt idx="8">
                    <c:v>40s</c:v>
                  </c:pt>
                </c:lvl>
              </c:multiLvlStrCache>
            </c:multiLvlStrRef>
          </c:cat>
          <c:val>
            <c:numRef>
              <c:f>Sheet1!$B$2:$B$10</c:f>
              <c:numCache>
                <c:formatCode>General</c:formatCode>
                <c:ptCount val="9"/>
                <c:pt idx="0">
                  <c:v>100</c:v>
                </c:pt>
                <c:pt idx="1">
                  <c:v>90</c:v>
                </c:pt>
                <c:pt idx="2">
                  <c:v>84</c:v>
                </c:pt>
                <c:pt idx="3">
                  <c:v>80</c:v>
                </c:pt>
                <c:pt idx="4">
                  <c:v>77</c:v>
                </c:pt>
                <c:pt idx="5">
                  <c:v>58</c:v>
                </c:pt>
                <c:pt idx="6">
                  <c:v>55</c:v>
                </c:pt>
                <c:pt idx="7">
                  <c:v>53</c:v>
                </c:pt>
                <c:pt idx="8">
                  <c:v>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5B6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6E6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5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FF4D3D"/>
              </a:solidFill>
              <a:effectLst/>
            </c:spPr>
          </c:dPt>
          <c:dPt>
            <c:idx val="1"/>
            <c:bubble3D val="0"/>
            <c:spPr>
              <a:solidFill>
                <a:srgbClr val="F4F4F8"/>
              </a:solidFill>
              <a:effectLst/>
            </c:spPr>
          </c:dPt>
          <c:dLbls>
            <c:dLbl>
              <c:idx val="0"/>
              <c:numFmt formatCode="0%" sourceLinked="0"/>
              <c:spPr/>
              <c:txPr>
                <a:bodyPr/>
                <a:lstStyle/>
                <a:p>
                  <a:pPr>
                    <a:defRPr sz="2400" b="1" i="0" u="none" strike="noStrike">
                      <a:solidFill>
                        <a:srgbClr val="14141F"/>
                      </a:solidFill>
                      <a:latin typeface="Arial"/>
                    </a:defRPr>
                  </a:pPr>
                </a:p>
              </c:txPr>
              <c:showLegendKey val="0"/>
              <c:showVal val="0"/>
              <c:showCatName val="0"/>
              <c:showSerName val="0"/>
              <c:showPercent val="1"/>
              <c:showBubbleSize val="0"/>
            </c:dLbl>
            <c:dLbl>
              <c:idx val="1"/>
              <c:numFmt formatCode="0%" sourceLinked="0"/>
              <c:spPr/>
              <c:txPr>
                <a:bodyPr/>
                <a:lstStyle/>
                <a:p>
                  <a:pPr>
                    <a:defRPr sz="2400" b="1" i="0" u="none" strike="noStrike">
                      <a:solidFill>
                        <a:srgbClr val="14141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Held</c:v>
                </c:pt>
                <c:pt idx="1">
                  <c:v>Dropped</c:v>
                </c:pt>
              </c:strCache>
            </c:strRef>
          </c:cat>
          <c:val>
            <c:numRef>
              <c:f>Sheet1!$B$2:$B$3</c:f>
              <c:numCache>
                <c:ptCount val="2"/>
                <c:pt idx="0">
                  <c:v>70</c:v>
                </c:pt>
                <c:pt idx="1">
                  <c:v>30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Views</c:v>
                </c:pt>
              </c:strCache>
            </c:strRef>
          </c:tx>
          <c:spPr>
            <a:solidFill>
              <a:srgbClr val="14141F"/>
            </a:solidFill>
            <a:effectLst/>
          </c:spPr>
          <c:invertIfNegative val="0"/>
          <c:dLbls>
            <c:numFmt formatCode="#,##0" sourceLinked="0"/>
            <c:txPr>
              <a:bodyPr/>
              <a:lstStyle/>
              <a:p>
                <a:pPr>
                  <a:defRPr b="1" i="0" strike="noStrike" sz="18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4141F"/>
              </a:solidFill>
              <a:effectLst/>
            </c:spPr>
          </c:dPt>
          <c:dPt>
            <c:idx val="1"/>
            <c:invertIfNegative val="0"/>
            <c:bubble3D val="0"/>
            <c:spPr>
              <a:solidFill>
                <a:srgbClr val="FF4D3D"/>
              </a:solidFill>
              <a:effectLst/>
            </c:spPr>
          </c:dPt>
          <c:cat>
            <c:multiLvlStrRef>
              <c:f>Sheet1!$A$2:$A$3</c:f>
              <c:multiLvlStrCache>
                <c:ptCount val="2"/>
                <c:lvl>
                  <c:pt idx="0">
                    <c:v>Median</c:v>
                  </c:pt>
                  <c:pt idx="1">
                    <c:v>New post</c:v>
                  </c:pt>
                </c:lvl>
              </c:multiLvlStrCache>
            </c:multiLvlStrRef>
          </c:cat>
          <c:val>
            <c:numRef>
              <c:f>Sheet1!$B$2:$B$3</c:f>
              <c:numCache>
                <c:formatCode>General</c:formatCode>
                <c:ptCount val="2"/>
                <c:pt idx="0">
                  <c:v>100</c:v>
                </c:pt>
                <c:pt idx="1">
                  <c:v>150</c:v>
                </c:pt>
              </c:numCache>
            </c:numRef>
          </c:val>
        </c:ser>
        <c:dLbls>
          <c:numFmt formatCode="#,##0" sourceLinked="0"/>
          <c:txPr>
            <a:bodyPr/>
            <a:lstStyle/>
            <a:p>
              <a:pPr>
                <a:defRPr b="1" i="0" strike="noStrike" sz="1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Blocks per view</c:v>
                </c:pt>
              </c:strCache>
            </c:strRef>
          </c:tx>
          <c:spPr>
            <a:solidFill>
              <a:srgbClr val="14141F"/>
            </a:solidFill>
            <a:effectLst/>
          </c:spPr>
          <c:invertIfNegative val="0"/>
          <c:dLbls>
            <c:numFmt formatCode="0.0" sourceLinked="0"/>
            <c:txPr>
              <a:bodyPr/>
              <a:lstStyle/>
              <a:p>
                <a:pPr>
                  <a:defRPr b="1" i="0" strike="noStrike" sz="20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4141F"/>
              </a:solidFill>
              <a:effectLst/>
            </c:spPr>
          </c:dPt>
          <c:dPt>
            <c:idx val="1"/>
            <c:invertIfNegative val="0"/>
            <c:bubble3D val="0"/>
            <c:spPr>
              <a:solidFill>
                <a:srgbClr val="FF4D3D"/>
              </a:solidFill>
              <a:effectLst/>
            </c:spPr>
          </c:dPt>
          <c:cat>
            <c:multiLvlStrRef>
              <c:f>Sheet1!$A$2:$A$3</c:f>
              <c:multiLvlStrCache>
                <c:ptCount val="2"/>
                <c:lvl>
                  <c:pt idx="0">
                    <c:v>Short</c:v>
                  </c:pt>
                  <c:pt idx="1">
                    <c:v>Long form</c:v>
                  </c:pt>
                </c:lvl>
              </c:multiLvlStrCache>
            </c:multiLvlStrRef>
          </c:cat>
          <c:val>
            <c:numRef>
              <c:f>Sheet1!$B$2:$B$3</c:f>
              <c:numCache>
                <c:formatCode>General</c:formatCode>
                <c:ptCount val="2"/>
                <c:pt idx="0">
                  <c:v>0.5</c:v>
                </c:pt>
                <c:pt idx="1">
                  <c:v>10</c:v>
                </c:pt>
              </c:numCache>
            </c:numRef>
          </c:val>
        </c:ser>
        <c:dLbls>
          <c:numFmt formatCode="0.0" sourceLinked="0"/>
          <c:txPr>
            <a:bodyPr/>
            <a:lstStyle/>
            <a:p>
              <a:pPr>
                <a:defRPr b="1" i="0" strike="noStrike" sz="2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FF4D3D"/>
              </a:solidFill>
              <a:effectLst/>
            </c:spPr>
          </c:dPt>
          <c:dPt>
            <c:idx val="1"/>
            <c:bubble3D val="0"/>
            <c:spPr>
              <a:solidFill>
                <a:srgbClr val="14141F"/>
              </a:solidFill>
              <a:effectLst/>
            </c:spPr>
          </c:dPt>
          <c:dLbls>
            <c:dLbl>
              <c:idx val="0"/>
              <c:numFmt formatCode="0%" sourceLinked="0"/>
              <c:spPr/>
              <c:txPr>
                <a:bodyPr/>
                <a:lstStyle/>
                <a:p>
                  <a:pPr>
                    <a:defRPr sz="2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2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Primary</c:v>
                </c:pt>
                <c:pt idx="1">
                  <c:v>Secondary</c:v>
                </c:pt>
              </c:strCache>
            </c:strRef>
          </c:cat>
          <c:val>
            <c:numRef>
              <c:f>Sheet1!$B$2:$B$3</c:f>
              <c:numCache>
                <c:ptCount val="2"/>
                <c:pt idx="0">
                  <c:v>85</c:v>
                </c:pt>
                <c:pt idx="1">
                  <c:v>15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14141F"/>
              </a:solidFill>
              <a:effectLst/>
            </c:spPr>
          </c:dPt>
          <c:dPt>
            <c:idx val="1"/>
            <c:bubble3D val="0"/>
            <c:spPr>
              <a:solidFill>
                <a:srgbClr val="FF4D3D"/>
              </a:solidFill>
              <a:effectLst/>
            </c:spPr>
          </c:dPt>
          <c:dPt>
            <c:idx val="2"/>
            <c:bubble3D val="0"/>
            <c:spPr>
              <a:solidFill>
                <a:srgbClr val="FFC93C"/>
              </a:solidFill>
              <a:effectLst/>
            </c:spPr>
          </c:dPt>
          <c:dLbls>
            <c:dLbl>
              <c:idx val="0"/>
              <c:numFmt formatCode="0%" sourceLinked="0"/>
              <c:spPr/>
              <c:txPr>
                <a:bodyPr/>
                <a:lstStyle/>
                <a:p>
                  <a:pPr>
                    <a:defRPr sz="18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8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8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Proven</c:v>
                </c:pt>
                <c:pt idx="1">
                  <c:v>Iterate</c:v>
                </c:pt>
                <c:pt idx="2">
                  <c:v>Experiment</c:v>
                </c:pt>
              </c:strCache>
            </c:strRef>
          </c:cat>
          <c:val>
            <c:numRef>
              <c:f>Sheet1!$B$2:$B$4</c:f>
              <c:numCache>
                <c:ptCount val="3"/>
                <c:pt idx="0">
                  <c:v>70</c:v>
                </c:pt>
                <c:pt idx="1">
                  <c:v>20</c:v>
                </c:pt>
                <c:pt idx="2">
                  <c:v>10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Masterclass built from Kane Callaway's short-form and YouTube systems and Caleb Ralston's brand-building course. 14 phases: mindset, strategy, brand, positioning, mediums and platforms, short-form craft, iteration, YouTube, storytelling, community, monetization, scale, team,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1, the forgettable brand: posts randomly hoping something sticks, nobody knows who you are, no engagement, no buyers.
Path 2, the intentional brand: you own what people associate with you; content builds trust and moves people to a decision. If you're already on Path 2, this breaks your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phases in one flow: 00 Mindset, 01 Strategy, 02 Brand, 03 Positioning, 04 Mediums &amp; platforms, 05 Short-form craft, 06 Iteration, 07 YouTube, 08 Storytelling, 09 Community, 10 Monetization, 11 Scale, 12 Team, 13 Future &amp;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tactic, install the right operating system. Most people quit exactly where the real learning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Play forever: pick a game you're willing to die on the field for; winning becomes inevitable.
2. Sustain: don't start on Ronnie Coleman's routine; the best program is the one you'll stick with. Build the posting habit first.
3. Volume negates luck: strategy is commoditized; the edge is iteration distance between reps.
4. A vs. B: taste says 'cool'; skill says 'my hook was slower than the winner's.' Get a coach for blind spots.
5. Ego out: everyone is bad at the start. Caleb thought he looked fat in his footage and posted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10–30 reps you think you should be good by now, and you still suck. It feels like it'll take ~500 reps. Most people quit here. If you've posted consistently for 2–3 months, you're already ahead of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strategy depends on what you sell. Pick the game first, and the tactics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Entertainment media (MrBeast, streamers): max views.
2. Education media: max views.
3. Commodity consumer product (couches, hats): awareness, just show it.
4. Consumer product needing education (AG1): awareness plus a quick explainer.
5. B2B (services, coaching, info, SaaS): deep trust through lots of education.
Warning: the pure media game is arbing to zero. You'd compete with MrBeast, Netflix, the NFL and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business is traffic, funnels, offers. The traffic-first trap: you chase views, broaden topics, revenue caps, the broad audience won't buy your offer, and you have to rebuild a narrow audience. Sketch your offer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Creators chase fame; seven figures there is rare. Entrepreneurs use content as a lever: 'I just need to be known by my potential customers.' The wider the audience, the less brands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watched minute = 1 trust block. ~4 blocks for an email lead, ~12 for a $97 product, ~400 for a $10k product. A 25-minute YouTube video earns ~8–10 blocks per view; a short earns ~0.5. So ~20 shorts equal one long-form video in trust. Short form = awareness, long form = conversion (Harley dealership sunk-cost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brand exists whether you define it or not. If you don't, your audience will do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Branding = a pairing of things. Good branding = an intentional pairing of relevant things, done consistently. Brand = the byproduct: the audience inherently associates those things.
Nike + Michael Jordan = athletic greatness. Gary Vee + content (Crush It, 15+ years). Harley-Davidson + freedom (the open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Reverse-engineer from the end: 1) Desired outcome. 2) What must I be known for? 3) What must I do to be known for it? (Brand is actions.) 4) What must I learn to do that? This is your day-one to-do list.
Cheshire Cat: 'If you don't know where you're going, either way will take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WITH what you want people to think of (business, trust, well-being); every piece reinforces it.
Refuse to pair with the wrong crowd: appearing with snake-oil sellers makes people associate you with them. Awareness isn't worth the trade. If your gut says no, skip even the biggest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Catalyst: why you exist. What needs to change, what do you see that others don't? (Phil Knight saw unmet demand.)
Core Truth: a conviction you share publicly, not controversy for its own sake. (Russ preaches artist independence.)
Proof: brand is what you do repeatedly. (Gary proves 'volume' through 15 years of practice and VaynerMedia's Super Bowl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legible to the algorithm, to viewers and to memory. Then own the gap nobody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gap: what does your space say that you disagree with? If everyone preaches virality, own long-term trust.
Story is your secret weapon: list pivotal moments; show, don't tell ('32 hours straight editing' beats 'I'm a hard worker'; Bezos's door-desk).
Own a term: people hold ~200–300 names. 'ManyChat' brings one person to mind. Claim a niche term nobody 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narrow (Gary did Wine Library TV for years). Expand only into adjacent topics, in layers, not leaps, when you're world-class, engagement is steady and the audience asks. Honor your roots (Amazon + Audible, Crayola's revived colors, Knocked Loose's early tracks).
80% core topic tied to your offer, 20% human interests (interest stacking, Rogan).
Reconcile: Kane's 'one topic' is for the algorithm; Caleb's 80/20 is for humans.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transcribes your video into a context map (niche terms work like SEO). It tests ~200 people (subscribers plus likely fans). Better than usual → ~2,000 similar people, then wider concentric circles until the audience gets muddy. A bad signal throttles at ~200. Topic-hopping builds a mixed audience and weak signals: pick one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Dollars per view is the business metric, not total views. Some creators with &lt;10k followers make millions because the followers are buyers. Followers are a credibility threshold (~10k on Instagram and YouTube; a few thousand on X); above it, 180k vs. 365k barely matters. Brand deals price on last-10 average views, engagement and followers. Caleb's 68k landscape-photo followers are the wrong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form you'll lead with, the places you'll post and a rhythm you can keep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Written (LinkedIn, X, email): you journal and enjoy rewriting.
Video (highest leverage): one shoot becomes long form, shorts, audio, quotes, posts, newsletter and stills. Rambling means you need an editor.
Audio (podcasts): a stepping stone if the camera scares you; a monotone voice can be your bit.
Graphic (carousels): simplify ideas visually (Visualize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single-platform risk (TikTok went dark in the US for 12 hours in January 2025). Eye of Sauron: focus hard on one while the others run in maintenance mode, then rotate. Pick where you're comfortable, where you already scroll and where your audience is, and test against real leads. Double down on winners. Track conversions over vanity.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define quality; the audience does. Post volume to learn faster (10 posts a week beats 10 a month). Read signals, including conversion %, not just totals (LinkedIn converted best). Then compress: put 5 posts' worth of effort into 1–3 better pieces. Perfect is the enemy of posted.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great video, brick by brick: hook, script, visuals, edit, format,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angle, hook, story structure, visual format, key visuals, audio. Find winners in your niche, explode them into 7 bricks, hold the world-class bricks constant, improve the weak ones, restack and post. Beginners change only topic and angle. Advanced creators invent formats. The 6 + 1 play: use proven winners for 6 bricks and be first-mover 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must align: visual, text and spoken. Misalignment → confusion → churn.
Three jobs, in order: 1) Visual stop (light beats sound; be different from the feed). 2) Context in the first sentence (the brain learns top-down). 3) Contrast (expectation vs. reality).
Time you get: 2–3 seconds on shorts, ~15–20 seconds on YouTube. Pattern interrupts work too (Gary's blueberry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Implied contrast ('Cars are driving backwards and nobody knows why') moves the viewer from 0 to −100: a 100-point arc. Direct contrast ('Most people think X… but actually…') leans them to +100 first, then flips to −100: a 200-point arc. Direct is more violent, so it holds more curiosity.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Absorption rate is the core KPI: every word understood, one meaning, active voice. Question chain: line 1 opens ONE question, the next line answers it and opens the next. Answer objections in the script (like a VSL). Two dopamine hits (usable, non-obvious insights) before they'd churn = locked in. Vary speed and volume, and be human, not an 'information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motion, high color, high contrast. The brain tracks motion like a grazing deer. Add push-ins to static clips. Pick interesting B-roll. Mature niches (tech, AI) need tighter visuals than immature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starts at 100%, and every word or frame holds it or lowers it. Keep the first 5–10 seconds airtight. Look for abnormal cliffs in retention: usually confusion or visuals not matching the words. Eyes-closed test: listen without watching. Bored = cut tighter; can't absorb = add breathing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2020–22: transactional listicles and tutorials (now saturated and AI-easy). Then: case-study breakdowns. Now: narrative visual storytelling, one-of-one (Chloe Shu's 30 lessons by 30, Marshall Haas's cars). If 50 others could make your video, you must be the best of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Numbered series ('Day 4 of 10') make people go back for days 1–3; bank episodes ahead. Profile covers drive binges. Most shares happen in DMs, where the video shows a static cover, not a loop, so a better cover gets more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good video isn't the goal. A system that improves every rep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one at a time early (Kane did ~300 single reps before batching). Monthly top-10% review: find the 1–2 traits your best posts share and bake them in. Get peer feedback (the MrBeast model) or a coach. Study winners in order: yours, then the best creators sharing your bricks, then tools. Fix old content: delete, wait 3+ days, re-upload.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 Shorts benchmark: 70%+ of viewers still watching at 3 seconds means a banger. Below 50% means the hook is the problem. Data lags; the principles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 = the median (not mean) of the last 75–90 days, per platform and format. Report each post as a multiple: 150k views against a 100k median = 1.5x. Score at ~day 11. Update the benchmark monthly. Share sheets across platforms. Don't track metrics that won't change your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form gets you discovered. YouTube builds trust fastest, and packaging is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trust blocks per view vs. ~0.5 for a short. About 10 ideas per video, your mannerisms and more rope before people churn. Long form rewards explaining (Madden-style attributes). Build a skill first; traffic is the most valuable. Win with niche education plus proof: non-obvious and tactically implementable. Kane's A-team from day one: a packaging agency, a thumbnail designer and an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Thumbnail catches the eye. 2) Title triggers a desire loop (pain, FOMO or desire). 3) Back to the thumbnail, which amplifies the title, never repeats it. 4) Intro confirms the click within ~5 seconds. 5) First dopamine hit within 30–60 seconds. 6) The package falls away like a rocket booster. Clickbait is fine; bait-and-switch isn't. Package FIRST, not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 each video against your last 10. 1–3: leave it and study why. 4–6: usually a smaller-TAM idea, so don't beat yourself up. 7–10: repackage the title and thumbnail, your only real-time lever. Thumbnail tests need ~50% gaps; then make two variants close to the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1M total views, different value: four 250k videos mostly reach existing fans (60–70%), while one 1M video reaches mostly new people. That's why MrBeast posted every 4–8 weeks with huge effort. Dollars per view beats views. Think in 3–5 years; every video is a 24/7 sales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Storytelling holds attention, proof converts it, and education done right scales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win attention in seconds. Problem: specific, relatable stakes ('14-hour days for my hero, still stuck'). Journey: progress, not perfection; show the messy middle. Lesson: an actionable takeaway tied to your offer. CTA: not always a sale ('Comment which tactic you'll use').
Shock score: out of 100 people, how many already believe it? Lead with what most don't believe but can believe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(the journey is relatable, the destination isn't; keep telling it). Failure (vulnerability plus the lesson). Success (before and after: Gary's TikTok 300k → 3.5M). Client success (proof you can replicate it). Industry contrarian (flip accepted wisdom respectfully).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pair yourself with success stories → they trust what you say → they act on your lessons → they get results → they associate you with THEIR success, so your offer feels cheap. Seminar buyers told sales reps, 'Shut up and take my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at people builds an audience. Talking with them builds a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Co-create: let fans vote on versions. Social listening: repeated DM and comment questions become content ('How did you know I needed this?'). Make the audience the hero: share their wins and prompt UGC. Reply to comments (use a labeled team account if needed). Shared jokes and lingo. Change how you present, never what you believe.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rented attention into owned relationships and revenue, without burning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monetize: give massive value up front, prove credibility and build a relationship. Then selling needs no pushing, scarcity or urgency.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Services (agency, consulting, coaching). Products (start digital: very high margin). Affiliates and sponsors (only what you use). Community and memberships (recurring revenue for superfans). Ads (pair with another model). Not sure? Read your DMs, email and comments.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content → lead magnet (captures email) → low ticket $10–100 → mid ticket $500–5k → high ticket $10k+. Start with ONE offer. Share the knowledge, sell the execution (Caleb's Harley exhaust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magnets (doc, email series, community, waitlist, form); email opens ~60%. Show results instead of pitching ('I took John 0 → 10k in 4.5 months'). Native embeds: never break the hypnosis. Your embeds go early; sponsor ads go after the average view duration. Trust test before any money move: will this raise or lower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Repurpose intelligently, go platform-native, systematize and keep experimenting.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Waterfall (Gary Vee): one long video becomes shorts, quote posts, LinkedIn posts, carousels (hook on slides 1 AND 2), a newsletter and podcast audio. Make each piece native to its platform: the 'Sarah' rule, same person at brunch, cocktails and a board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Caleb's case study: a tweet popped → a short with the tweet as the hook → the quote printed as a poster and photographed (her top Instagram post) → an expanded LinkedIn post (top 3) → a 25–30 minute YouTube video (top 10). Same message, native to each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platforms by strength: best editor gets #1 and #4, the next gets #2 and #5, and so on. 85% of their time on their primary, 15% experimenting on their secondary. Match people to platforms (TikTok = trend-fluent, LinkedIn = subject expert, YouTube = lives on YouTube). No generic social media manager. Result: a 1.5x lift at the top (Gary's TikTok went 300k → 3.5M).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videographer nods harder as it gets better. Fist bumps between takes, naming specific moments. The crew listens as a skeptic and fills gaps. A post-shoot text 15–20 minutes later with honest, specific praise. Film at your energy peak, and protect content time like a board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70/20/10: 70% proven formats, 20% iterations on winners, 10% pure experiments.
Content hackathon (monthly or quarterly): 9:00 kickoff ('I don't care how it performs'), build 1–2 wild pieces, upload by 4:00, present your why at 4:30, the team votes and the winner gets published plus a prize.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 research → script → record → edit → post → analyze. Ideas are the bottomless pit, so hire a content operator (it took 3–6 months to clone Kane's taste). Two editors with templates and virtual cards for AI tools. AI is great at compressing and combining, weak at ideating.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team multiplies your vision. Hire deliberately, onboard properly, grow people until they don't want to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Hire to solve problems, not fill roles. Footage piling up → hire an editor. Editors idle → hire a strategist or videographer. Hire platform specialists (a Netflix editor isn't a YouTube editor; a LinkedIn writer before a video editor if LinkedIn drives revenue).
Job descriptions use the 4 Rs: Role, Responsibilities, Requirements, Results (plus communication cadence and core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CV plus an optional video (shows hunger). 2) Screening: salary, logistics, light technical questions (catches live AI-fed answers). 3) Technical interview: 'How would you innovate our style?' 4) Assessment: a real task on a deadline, the same for everyone. 5) Culture interview with real scenarios. 6) Final with the most senior person.
Tryouts: everyone edits the same footage (~1,500 signed up, ~230 submitted). Hire mindset, train skills (Trevor: 6/10 editor, 10/10 culture → lead editor at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0–1: mostly contractors and agencies (stay lean, test platforms). Years 1–3: bring critical roles in-house. Years 3+: most high-volume roles in-house; keep agencies for niche skills, platform reps and sprints. Early hires are specialists willing to wear many hats → document workflows → specialize.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the plan before day one. Days 1–30: learn the vision, values, tools and real communication; small wins, shadowing, frequent check-ins. Days 31–60: own core tasks and build their own workflow. Days 61–90: own the #1 responsibility, results against KPIs, then a 90-day review. Add an onboarding buddy and a resource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'How would you handle it if I got hit by a bus?' Team members teach weekly trainings. Align work with their career goals in one-on-ones. Lead with empathy (soup for sick days; they'll copy you times 10). Maker/manager schedule: makers 7:00–12:00, meetings 12:00–5:00, Wednesday a full maker day. Hybrid is best if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20-year window of free distribution is closing. Position for what's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2008–2028: roughly 20 years of free distribution at scale, never coming back. AI floods short form in ~2 years and long form in ~5. Replacement order: text → short → long form → 3-hour live streams. The likely future is pay-to-play (~$10 a post). Go all in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Niche down, own a term, tell one-of-one stories, become a brand people search for, and own your email list. AI-proof skills: psychology and attention, plus Dan Koe's four: marketing, sales, writing,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 $1M profit: a high-ticket, high-margin offer (done-for-you, or done-with-you at $5–10k) plus super-precise, high-value YouTube. It's all skills: start the 5–7 year clock early. Be present (Zuckerberg and Ek lock in instantly). Build a machine that builds machines. Caleb's charge: act, don't just consume.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next 7 days: 1) Pick your game and sketch your first offer. 2) Answer the 4 Brand Journey questions. 3) Write your gap, core truth and the term to own. 4) Choose your 80% medium and 2–3 platforms. 5) Explode 3 winning videos into 7 bricks. 6) Post one video and do an A-vs-B review. 7) Build your multiplier sheet and one lead magnet.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slideLayout" Target="../slideLayouts/slideLayout1.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image" Target="../media/image-11-7.png"/><Relationship Id="rId9" Type="http://schemas.openxmlformats.org/officeDocument/2006/relationships/image" Target="../media/image-11-8.png"/><Relationship Id="rId10" Type="http://schemas.openxmlformats.org/officeDocument/2006/relationships/image" Target="../media/image-11-9.png"/><Relationship Id="rId11" Type="http://schemas.openxmlformats.org/officeDocument/2006/relationships/image" Target="../media/image-11-10.png"/><Relationship Id="rId12" Type="http://schemas.openxmlformats.org/officeDocument/2006/relationships/image" Target="../media/image-11-11.png"/><Relationship Id="rId13" Type="http://schemas.openxmlformats.org/officeDocument/2006/relationships/image" Target="../media/image-11-12.png"/><Relationship Id="rId14" Type="http://schemas.openxmlformats.org/officeDocument/2006/relationships/image" Target="../media/image-11-13.png"/><Relationship Id="rId15" Type="http://schemas.openxmlformats.org/officeDocument/2006/relationships/image" Target="../media/image-11-14.png"/><Relationship Id="rId16" Type="http://schemas.openxmlformats.org/officeDocument/2006/relationships/image" Target="../media/image-11-15.png"/><Relationship Id="rId17" Type="http://schemas.openxmlformats.org/officeDocument/2006/relationships/image" Target="../media/image-11-16.png"/><Relationship Id="rId18" Type="http://schemas.openxmlformats.org/officeDocument/2006/relationships/image" Target="../media/image-11-17.png"/><Relationship Id="rId19" Type="http://schemas.openxmlformats.org/officeDocument/2006/relationships/image" Target="../media/image-11-18.png"/><Relationship Id="rId20" Type="http://schemas.openxmlformats.org/officeDocument/2006/relationships/image" Target="../media/image-11-19.png"/><Relationship Id="rId21" Type="http://schemas.openxmlformats.org/officeDocument/2006/relationships/image" Target="../media/image-11-20.png"/><Relationship Id="rId22" Type="http://schemas.openxmlformats.org/officeDocument/2006/relationships/image" Target="../media/image-11-21.png"/><Relationship Id="rId23" Type="http://schemas.openxmlformats.org/officeDocument/2006/relationships/slideLayout" Target="../slideLayouts/slideLayout1.xml"/><Relationship Id="rId2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image" Target="../media/image-19-3.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32-1.png"/><Relationship Id="rId3" Type="http://schemas.openxmlformats.org/officeDocument/2006/relationships/image" Target="../media/image-32-2.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37-1.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slideLayout" Target="../slideLayouts/slideLayout1.xml"/><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slideLayout" Target="../slideLayouts/slideLayout1.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slideLayout" Target="../slideLayouts/slideLayout1.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slideLayout" Target="../slideLayouts/slideLayout1.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slideLayout" Target="../slideLayouts/slideLayout1.xml"/><Relationship Id="rId7"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slideLayout" Target="../slideLayouts/slideLayout1.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slideLayout" Target="../slideLayouts/slideLayout1.xml"/><Relationship Id="rId9"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slideLayout" Target="../slideLayouts/slideLayout1.xml"/><Relationship Id="rId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image" Target="../media/image-58-1.png"/><Relationship Id="rId3" Type="http://schemas.openxmlformats.org/officeDocument/2006/relationships/image" Target="../media/image-58-2.png"/><Relationship Id="rId4" Type="http://schemas.openxmlformats.org/officeDocument/2006/relationships/image" Target="../media/image-58-3.png"/><Relationship Id="rId5" Type="http://schemas.openxmlformats.org/officeDocument/2006/relationships/image" Target="../media/image-58-4.png"/><Relationship Id="rId6" Type="http://schemas.openxmlformats.org/officeDocument/2006/relationships/image" Target="../media/image-58-5.png"/><Relationship Id="rId7" Type="http://schemas.openxmlformats.org/officeDocument/2006/relationships/image" Target="../media/image-58-6.png"/><Relationship Id="rId8" Type="http://schemas.openxmlformats.org/officeDocument/2006/relationships/slideLayout" Target="../slideLayouts/slideLayout1.xml"/><Relationship Id="rId9"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slideLayout" Target="../slideLayouts/slideLayout1.xml"/><Relationship Id="rId7"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image" Target="../media/image-60-1.png"/><Relationship Id="rId3" Type="http://schemas.openxmlformats.org/officeDocument/2006/relationships/image" Target="../media/image-60-2.png"/><Relationship Id="rId4" Type="http://schemas.openxmlformats.org/officeDocument/2006/relationships/image" Target="../media/image-60-3.png"/><Relationship Id="rId5" Type="http://schemas.openxmlformats.org/officeDocument/2006/relationships/image" Target="../media/image-60-4.png"/><Relationship Id="rId6" Type="http://schemas.openxmlformats.org/officeDocument/2006/relationships/slideLayout" Target="../slideLayouts/slideLayout1.xml"/><Relationship Id="rId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image" Target="../media/image-61-6.png"/><Relationship Id="rId7" Type="http://schemas.openxmlformats.org/officeDocument/2006/relationships/slideLayout" Target="../slideLayouts/slideLayout1.xml"/><Relationship Id="rId8"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slideLayout" Target="../slideLayouts/slideLayout1.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slideLayout" Target="../slideLayouts/slideLayout1.xml"/><Relationship Id="rId8"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slideLayout" Target="../slideLayouts/slideLayout1.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slideLayout" Target="../slideLayouts/slideLayout1.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image" Target="../media/image-67-5.png"/><Relationship Id="rId6" Type="http://schemas.openxmlformats.org/officeDocument/2006/relationships/slideLayout" Target="../slideLayouts/slideLayout1.xml"/><Relationship Id="rId7"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slideLayout" Target="../slideLayouts/slideLayout1.xml"/><Relationship Id="rId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slideLayout" Target="../slideLayouts/slideLayout1.xml"/><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slideLayout" Target="../slideLayouts/slideLayout1.xml"/><Relationship Id="rId6"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image" Target="../media/image-72-7.png"/><Relationship Id="rId8" Type="http://schemas.openxmlformats.org/officeDocument/2006/relationships/slideLayout" Target="../slideLayouts/slideLayout1.xml"/><Relationship Id="rId9"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7863840" y="-1280160"/>
            <a:ext cx="5669280" cy="5669280"/>
          </a:xfrm>
          <a:prstGeom prst="ellipse">
            <a:avLst/>
          </a:prstGeom>
          <a:solidFill>
            <a:srgbClr val="FF4D3D"/>
          </a:solidFill>
          <a:ln/>
        </p:spPr>
      </p:sp>
      <p:sp>
        <p:nvSpPr>
          <p:cNvPr id="3" name="Shape 1"/>
          <p:cNvSpPr/>
          <p:nvPr/>
        </p:nvSpPr>
        <p:spPr>
          <a:xfrm>
            <a:off x="9875520" y="4114800"/>
            <a:ext cx="2560320" cy="2560320"/>
          </a:xfrm>
          <a:prstGeom prst="ellipse">
            <a:avLst/>
          </a:prstGeom>
          <a:solidFill>
            <a:srgbClr val="FFC93C"/>
          </a:solidFill>
          <a:ln/>
        </p:spPr>
      </p:sp>
      <p:pic>
        <p:nvPicPr>
          <p:cNvPr id="4" name="Image 0" descr="preencoded.png">    </p:cNvPr>
          <p:cNvPicPr>
            <a:picLocks noChangeAspect="1"/>
          </p:cNvPicPr>
          <p:nvPr/>
        </p:nvPicPr>
        <p:blipFill>
          <a:blip r:embed="rId1"/>
          <a:stretch>
            <a:fillRect/>
          </a:stretch>
        </p:blipFill>
        <p:spPr>
          <a:xfrm>
            <a:off x="9235440" y="548640"/>
            <a:ext cx="2743200" cy="2743200"/>
          </a:xfrm>
          <a:prstGeom prst="rect">
            <a:avLst/>
          </a:prstGeom>
        </p:spPr>
      </p:pic>
      <p:pic>
        <p:nvPicPr>
          <p:cNvPr id="5" name="Image 1" descr="preencoded.png">    </p:cNvPr>
          <p:cNvPicPr>
            <a:picLocks noChangeAspect="1"/>
          </p:cNvPicPr>
          <p:nvPr/>
        </p:nvPicPr>
        <p:blipFill>
          <a:blip r:embed="rId2"/>
          <a:stretch>
            <a:fillRect/>
          </a:stretch>
        </p:blipFill>
        <p:spPr>
          <a:xfrm>
            <a:off x="10652760" y="4892040"/>
            <a:ext cx="1005840" cy="1005840"/>
          </a:xfrm>
          <a:prstGeom prst="rect">
            <a:avLst/>
          </a:prstGeom>
        </p:spPr>
      </p:pic>
      <p:sp>
        <p:nvSpPr>
          <p:cNvPr id="6" name="Text 2"/>
          <p:cNvSpPr txBox="1"/>
          <p:nvPr/>
        </p:nvSpPr>
        <p:spPr>
          <a:xfrm>
            <a:off x="548640" y="2468880"/>
            <a:ext cx="7315200" cy="1097280"/>
          </a:xfrm>
          <a:prstGeom prst="rect">
            <a:avLst/>
          </a:prstGeom>
          <a:noFill/>
          <a:ln/>
        </p:spPr>
        <p:txBody>
          <a:bodyPr wrap="square" lIns="0" tIns="0" rIns="0" bIns="0" rtlCol="0" anchor="t"/>
          <a:lstStyle/>
          <a:p>
            <a:pPr indent="0" marL="0">
              <a:buNone/>
            </a:pPr>
            <a:r>
              <a:rPr lang="en-US" sz="5800" b="1" dirty="0">
                <a:solidFill>
                  <a:srgbClr val="FFFFFF"/>
                </a:solidFill>
                <a:latin typeface="Arial" pitchFamily="34" charset="0"/>
                <a:ea typeface="Arial" pitchFamily="34" charset="-122"/>
                <a:cs typeface="Arial" pitchFamily="34" charset="-120"/>
              </a:rPr>
              <a:t>The Content Machine</a:t>
            </a:r>
            <a:endParaRPr lang="en-US" sz="5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6095848" y="0"/>
            <a:ext cx="6095848" cy="6858000"/>
          </a:xfrm>
          <a:prstGeom prst="rect">
            <a:avLst/>
          </a:prstGeom>
          <a:solidFill>
            <a:srgbClr val="14141F"/>
          </a:solidFill>
          <a:ln/>
        </p:spPr>
      </p:sp>
      <p:sp>
        <p:nvSpPr>
          <p:cNvPr id="4" name="Shape 1"/>
          <p:cNvSpPr/>
          <p:nvPr/>
        </p:nvSpPr>
        <p:spPr>
          <a:xfrm>
            <a:off x="1859204" y="1463040"/>
            <a:ext cx="2377440" cy="2377440"/>
          </a:xfrm>
          <a:prstGeom prst="ellipse">
            <a:avLst/>
          </a:prstGeom>
          <a:solidFill>
            <a:srgbClr val="F4F4F8"/>
          </a:solidFill>
          <a:ln/>
        </p:spPr>
      </p:sp>
      <p:pic>
        <p:nvPicPr>
          <p:cNvPr id="5" name="Image 0" descr="preencoded.png">    </p:cNvPr>
          <p:cNvPicPr>
            <a:picLocks noChangeAspect="1"/>
          </p:cNvPicPr>
          <p:nvPr/>
        </p:nvPicPr>
        <p:blipFill>
          <a:blip r:embed="rId1"/>
          <a:stretch>
            <a:fillRect/>
          </a:stretch>
        </p:blipFill>
        <p:spPr>
          <a:xfrm>
            <a:off x="2477338" y="2081174"/>
            <a:ext cx="1141171" cy="1141171"/>
          </a:xfrm>
          <a:prstGeom prst="rect">
            <a:avLst/>
          </a:prstGeom>
        </p:spPr>
      </p:pic>
      <p:sp>
        <p:nvSpPr>
          <p:cNvPr id="6" name="Shape 2"/>
          <p:cNvSpPr/>
          <p:nvPr/>
        </p:nvSpPr>
        <p:spPr>
          <a:xfrm>
            <a:off x="7955051" y="1463040"/>
            <a:ext cx="2377440" cy="2377440"/>
          </a:xfrm>
          <a:prstGeom prst="ellipse">
            <a:avLst/>
          </a:prstGeom>
          <a:solidFill>
            <a:srgbClr val="FF4D3D"/>
          </a:solidFill>
          <a:ln/>
        </p:spPr>
      </p:sp>
      <p:pic>
        <p:nvPicPr>
          <p:cNvPr id="7" name="Image 1" descr="preencoded.png">    </p:cNvPr>
          <p:cNvPicPr>
            <a:picLocks noChangeAspect="1"/>
          </p:cNvPicPr>
          <p:nvPr/>
        </p:nvPicPr>
        <p:blipFill>
          <a:blip r:embed="rId2"/>
          <a:stretch>
            <a:fillRect/>
          </a:stretch>
        </p:blipFill>
        <p:spPr>
          <a:xfrm>
            <a:off x="8573186" y="2081174"/>
            <a:ext cx="1141171" cy="1141171"/>
          </a:xfrm>
          <a:prstGeom prst="rect">
            <a:avLst/>
          </a:prstGeom>
        </p:spPr>
      </p:pic>
      <p:sp>
        <p:nvSpPr>
          <p:cNvPr id="8" name="Text 3"/>
          <p:cNvSpPr txBox="1"/>
          <p:nvPr/>
        </p:nvSpPr>
        <p:spPr>
          <a:xfrm>
            <a:off x="457200" y="4206240"/>
            <a:ext cx="5181448" cy="731520"/>
          </a:xfrm>
          <a:prstGeom prst="rect">
            <a:avLst/>
          </a:prstGeom>
          <a:noFill/>
          <a:ln/>
        </p:spPr>
        <p:txBody>
          <a:bodyPr wrap="square" lIns="0" tIns="0" rIns="0" bIns="0" rtlCol="0" anchor="t"/>
          <a:lstStyle/>
          <a:p>
            <a:pPr algn="ctr" indent="0" marL="0">
              <a:buNone/>
            </a:pPr>
            <a:r>
              <a:rPr lang="en-US" sz="3200" b="1" dirty="0">
                <a:solidFill>
                  <a:srgbClr val="5B5B6B"/>
                </a:solidFill>
                <a:latin typeface="Arial" pitchFamily="34" charset="0"/>
                <a:ea typeface="Arial" pitchFamily="34" charset="-122"/>
                <a:cs typeface="Arial" pitchFamily="34" charset="-120"/>
              </a:rPr>
              <a:t>Forgettable</a:t>
            </a:r>
            <a:endParaRPr lang="en-US" sz="3200" dirty="0"/>
          </a:p>
        </p:txBody>
      </p:sp>
      <p:sp>
        <p:nvSpPr>
          <p:cNvPr id="9" name="Text 4"/>
          <p:cNvSpPr txBox="1"/>
          <p:nvPr/>
        </p:nvSpPr>
        <p:spPr>
          <a:xfrm>
            <a:off x="6553048" y="4206240"/>
            <a:ext cx="5181448" cy="731520"/>
          </a:xfrm>
          <a:prstGeom prst="rect">
            <a:avLst/>
          </a:prstGeom>
          <a:noFill/>
          <a:ln/>
        </p:spPr>
        <p:txBody>
          <a:bodyPr wrap="square" lIns="0" tIns="0" rIns="0" bIns="0" rtlCol="0" anchor="t"/>
          <a:lstStyle/>
          <a:p>
            <a:pPr algn="ctr" indent="0" marL="0">
              <a:buNone/>
            </a:pPr>
            <a:r>
              <a:rPr lang="en-US" sz="3200" b="1" dirty="0">
                <a:solidFill>
                  <a:srgbClr val="FFFFFF"/>
                </a:solidFill>
                <a:latin typeface="Arial" pitchFamily="34" charset="0"/>
                <a:ea typeface="Arial" pitchFamily="34" charset="-122"/>
                <a:cs typeface="Arial" pitchFamily="34" charset="-120"/>
              </a:rPr>
              <a:t>Intentional</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roadmap</a:t>
            </a:r>
            <a:endParaRPr lang="en-US" sz="3000" dirty="0"/>
          </a:p>
        </p:txBody>
      </p:sp>
      <p:sp>
        <p:nvSpPr>
          <p:cNvPr id="4" name="Shape 1"/>
          <p:cNvSpPr/>
          <p:nvPr/>
        </p:nvSpPr>
        <p:spPr>
          <a:xfrm>
            <a:off x="548640" y="1554480"/>
            <a:ext cx="1412487" cy="2240280"/>
          </a:xfrm>
          <a:prstGeom prst="roundRect">
            <a:avLst>
              <a:gd name="adj" fmla="val 6474"/>
            </a:avLst>
          </a:prstGeom>
          <a:solidFill>
            <a:srgbClr val="F4F4F8"/>
          </a:solidFill>
          <a:ln/>
        </p:spPr>
      </p:sp>
      <p:sp>
        <p:nvSpPr>
          <p:cNvPr id="5" name="Text 2"/>
          <p:cNvSpPr txBox="1"/>
          <p:nvPr/>
        </p:nvSpPr>
        <p:spPr>
          <a:xfrm>
            <a:off x="685800" y="16642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00</a:t>
            </a:r>
            <a:endParaRPr lang="en-US" sz="2000" dirty="0"/>
          </a:p>
        </p:txBody>
      </p:sp>
      <p:pic>
        <p:nvPicPr>
          <p:cNvPr id="6" name="Image 0" descr="preencoded.png">    </p:cNvPr>
          <p:cNvPicPr>
            <a:picLocks noChangeAspect="1"/>
          </p:cNvPicPr>
          <p:nvPr/>
        </p:nvPicPr>
        <p:blipFill>
          <a:blip r:embed="rId1"/>
          <a:stretch>
            <a:fillRect/>
          </a:stretch>
        </p:blipFill>
        <p:spPr>
          <a:xfrm>
            <a:off x="843403" y="2240280"/>
            <a:ext cx="822960" cy="822960"/>
          </a:xfrm>
          <a:prstGeom prst="rect">
            <a:avLst/>
          </a:prstGeom>
        </p:spPr>
      </p:pic>
      <p:sp>
        <p:nvSpPr>
          <p:cNvPr id="7" name="Text 3"/>
          <p:cNvSpPr txBox="1"/>
          <p:nvPr/>
        </p:nvSpPr>
        <p:spPr>
          <a:xfrm>
            <a:off x="640080" y="3246120"/>
            <a:ext cx="1229607" cy="365760"/>
          </a:xfrm>
          <a:prstGeom prst="rect">
            <a:avLst/>
          </a:prstGeom>
          <a:noFill/>
          <a:ln/>
        </p:spPr>
        <p:txBody>
          <a:bodyPr wrap="square" lIns="0" tIns="0" rIns="0" bIns="0" rtlCol="0" anchor="t"/>
          <a:lstStyle/>
          <a:p>
            <a:pPr algn="ctr" indent="0" marL="0">
              <a:buNone/>
            </a:pPr>
            <a:r>
              <a:rPr lang="en-US" sz="1400" b="1" dirty="0">
                <a:solidFill>
                  <a:srgbClr val="14141F"/>
                </a:solidFill>
                <a:latin typeface="Arial" pitchFamily="34" charset="0"/>
                <a:ea typeface="Arial" pitchFamily="34" charset="-122"/>
                <a:cs typeface="Arial" pitchFamily="34" charset="-120"/>
              </a:rPr>
              <a:t>Mindset</a:t>
            </a:r>
            <a:endParaRPr lang="en-US" sz="1400" dirty="0"/>
          </a:p>
        </p:txBody>
      </p:sp>
      <p:sp>
        <p:nvSpPr>
          <p:cNvPr id="8" name="Shape 4"/>
          <p:cNvSpPr/>
          <p:nvPr/>
        </p:nvSpPr>
        <p:spPr>
          <a:xfrm>
            <a:off x="2162295" y="1554480"/>
            <a:ext cx="1412487" cy="2240280"/>
          </a:xfrm>
          <a:prstGeom prst="roundRect">
            <a:avLst>
              <a:gd name="adj" fmla="val 6474"/>
            </a:avLst>
          </a:prstGeom>
          <a:solidFill>
            <a:srgbClr val="F4F4F8"/>
          </a:solidFill>
          <a:ln/>
        </p:spPr>
      </p:sp>
      <p:sp>
        <p:nvSpPr>
          <p:cNvPr id="9" name="Text 5"/>
          <p:cNvSpPr txBox="1"/>
          <p:nvPr/>
        </p:nvSpPr>
        <p:spPr>
          <a:xfrm>
            <a:off x="2299455" y="16642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01</a:t>
            </a:r>
            <a:endParaRPr lang="en-US" sz="2000" dirty="0"/>
          </a:p>
        </p:txBody>
      </p:sp>
      <p:pic>
        <p:nvPicPr>
          <p:cNvPr id="10" name="Image 1" descr="preencoded.png">    </p:cNvPr>
          <p:cNvPicPr>
            <a:picLocks noChangeAspect="1"/>
          </p:cNvPicPr>
          <p:nvPr/>
        </p:nvPicPr>
        <p:blipFill>
          <a:blip r:embed="rId2"/>
          <a:stretch>
            <a:fillRect/>
          </a:stretch>
        </p:blipFill>
        <p:spPr>
          <a:xfrm>
            <a:off x="2457058" y="2240280"/>
            <a:ext cx="822960" cy="822960"/>
          </a:xfrm>
          <a:prstGeom prst="rect">
            <a:avLst/>
          </a:prstGeom>
        </p:spPr>
      </p:pic>
      <p:sp>
        <p:nvSpPr>
          <p:cNvPr id="11" name="Text 6"/>
          <p:cNvSpPr txBox="1"/>
          <p:nvPr/>
        </p:nvSpPr>
        <p:spPr>
          <a:xfrm>
            <a:off x="2253735" y="3246120"/>
            <a:ext cx="1229607" cy="365760"/>
          </a:xfrm>
          <a:prstGeom prst="rect">
            <a:avLst/>
          </a:prstGeom>
          <a:noFill/>
          <a:ln/>
        </p:spPr>
        <p:txBody>
          <a:bodyPr wrap="square" lIns="0" tIns="0" rIns="0" bIns="0" rtlCol="0" anchor="t"/>
          <a:lstStyle/>
          <a:p>
            <a:pPr algn="ctr" indent="0" marL="0">
              <a:buNone/>
            </a:pPr>
            <a:r>
              <a:rPr lang="en-US" sz="1400" b="1" dirty="0">
                <a:solidFill>
                  <a:srgbClr val="14141F"/>
                </a:solidFill>
                <a:latin typeface="Arial" pitchFamily="34" charset="0"/>
                <a:ea typeface="Arial" pitchFamily="34" charset="-122"/>
                <a:cs typeface="Arial" pitchFamily="34" charset="-120"/>
              </a:rPr>
              <a:t>Strategy</a:t>
            </a:r>
            <a:endParaRPr lang="en-US" sz="1400" dirty="0"/>
          </a:p>
        </p:txBody>
      </p:sp>
      <p:sp>
        <p:nvSpPr>
          <p:cNvPr id="12" name="Shape 7"/>
          <p:cNvSpPr/>
          <p:nvPr/>
        </p:nvSpPr>
        <p:spPr>
          <a:xfrm>
            <a:off x="3775949" y="1554480"/>
            <a:ext cx="1412487" cy="2240280"/>
          </a:xfrm>
          <a:prstGeom prst="roundRect">
            <a:avLst>
              <a:gd name="adj" fmla="val 6474"/>
            </a:avLst>
          </a:prstGeom>
          <a:solidFill>
            <a:srgbClr val="F4F4F8"/>
          </a:solidFill>
          <a:ln/>
        </p:spPr>
      </p:sp>
      <p:sp>
        <p:nvSpPr>
          <p:cNvPr id="13" name="Text 8"/>
          <p:cNvSpPr txBox="1"/>
          <p:nvPr/>
        </p:nvSpPr>
        <p:spPr>
          <a:xfrm>
            <a:off x="3913109" y="16642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02</a:t>
            </a:r>
            <a:endParaRPr lang="en-US" sz="2000" dirty="0"/>
          </a:p>
        </p:txBody>
      </p:sp>
      <p:pic>
        <p:nvPicPr>
          <p:cNvPr id="14" name="Image 2" descr="preencoded.png">    </p:cNvPr>
          <p:cNvPicPr>
            <a:picLocks noChangeAspect="1"/>
          </p:cNvPicPr>
          <p:nvPr/>
        </p:nvPicPr>
        <p:blipFill>
          <a:blip r:embed="rId3"/>
          <a:stretch>
            <a:fillRect/>
          </a:stretch>
        </p:blipFill>
        <p:spPr>
          <a:xfrm>
            <a:off x="4070713" y="2240280"/>
            <a:ext cx="822960" cy="822960"/>
          </a:xfrm>
          <a:prstGeom prst="rect">
            <a:avLst/>
          </a:prstGeom>
        </p:spPr>
      </p:pic>
      <p:sp>
        <p:nvSpPr>
          <p:cNvPr id="15" name="Text 9"/>
          <p:cNvSpPr txBox="1"/>
          <p:nvPr/>
        </p:nvSpPr>
        <p:spPr>
          <a:xfrm>
            <a:off x="3867389" y="3246120"/>
            <a:ext cx="1229607" cy="365760"/>
          </a:xfrm>
          <a:prstGeom prst="rect">
            <a:avLst/>
          </a:prstGeom>
          <a:noFill/>
          <a:ln/>
        </p:spPr>
        <p:txBody>
          <a:bodyPr wrap="square" lIns="0" tIns="0" rIns="0" bIns="0" rtlCol="0" anchor="t"/>
          <a:lstStyle/>
          <a:p>
            <a:pPr algn="ctr" indent="0" marL="0">
              <a:buNone/>
            </a:pPr>
            <a:r>
              <a:rPr lang="en-US" sz="1400" b="1" dirty="0">
                <a:solidFill>
                  <a:srgbClr val="14141F"/>
                </a:solidFill>
                <a:latin typeface="Arial" pitchFamily="34" charset="0"/>
                <a:ea typeface="Arial" pitchFamily="34" charset="-122"/>
                <a:cs typeface="Arial" pitchFamily="34" charset="-120"/>
              </a:rPr>
              <a:t>Brand</a:t>
            </a:r>
            <a:endParaRPr lang="en-US" sz="1400" dirty="0"/>
          </a:p>
        </p:txBody>
      </p:sp>
      <p:sp>
        <p:nvSpPr>
          <p:cNvPr id="16" name="Shape 10"/>
          <p:cNvSpPr/>
          <p:nvPr/>
        </p:nvSpPr>
        <p:spPr>
          <a:xfrm>
            <a:off x="5389604" y="1554480"/>
            <a:ext cx="1412487" cy="2240280"/>
          </a:xfrm>
          <a:prstGeom prst="roundRect">
            <a:avLst>
              <a:gd name="adj" fmla="val 6474"/>
            </a:avLst>
          </a:prstGeom>
          <a:solidFill>
            <a:srgbClr val="F4F4F8"/>
          </a:solidFill>
          <a:ln/>
        </p:spPr>
      </p:sp>
      <p:sp>
        <p:nvSpPr>
          <p:cNvPr id="17" name="Text 11"/>
          <p:cNvSpPr txBox="1"/>
          <p:nvPr/>
        </p:nvSpPr>
        <p:spPr>
          <a:xfrm>
            <a:off x="5526764" y="16642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03</a:t>
            </a:r>
            <a:endParaRPr lang="en-US" sz="2000" dirty="0"/>
          </a:p>
        </p:txBody>
      </p:sp>
      <p:pic>
        <p:nvPicPr>
          <p:cNvPr id="18" name="Image 3" descr="preencoded.png">    </p:cNvPr>
          <p:cNvPicPr>
            <a:picLocks noChangeAspect="1"/>
          </p:cNvPicPr>
          <p:nvPr/>
        </p:nvPicPr>
        <p:blipFill>
          <a:blip r:embed="rId4"/>
          <a:stretch>
            <a:fillRect/>
          </a:stretch>
        </p:blipFill>
        <p:spPr>
          <a:xfrm>
            <a:off x="5684368" y="2240280"/>
            <a:ext cx="822960" cy="822960"/>
          </a:xfrm>
          <a:prstGeom prst="rect">
            <a:avLst/>
          </a:prstGeom>
        </p:spPr>
      </p:pic>
      <p:sp>
        <p:nvSpPr>
          <p:cNvPr id="19" name="Text 12"/>
          <p:cNvSpPr txBox="1"/>
          <p:nvPr/>
        </p:nvSpPr>
        <p:spPr>
          <a:xfrm>
            <a:off x="5481044" y="3246120"/>
            <a:ext cx="1229607" cy="365760"/>
          </a:xfrm>
          <a:prstGeom prst="rect">
            <a:avLst/>
          </a:prstGeom>
          <a:noFill/>
          <a:ln/>
        </p:spPr>
        <p:txBody>
          <a:bodyPr wrap="square" lIns="0" tIns="0" rIns="0" bIns="0" rtlCol="0" anchor="t"/>
          <a:lstStyle/>
          <a:p>
            <a:pPr algn="ctr" indent="0" marL="0">
              <a:buNone/>
            </a:pPr>
            <a:r>
              <a:rPr lang="en-US" sz="1400" b="1" dirty="0">
                <a:solidFill>
                  <a:srgbClr val="14141F"/>
                </a:solidFill>
                <a:latin typeface="Arial" pitchFamily="34" charset="0"/>
                <a:ea typeface="Arial" pitchFamily="34" charset="-122"/>
                <a:cs typeface="Arial" pitchFamily="34" charset="-120"/>
              </a:rPr>
              <a:t>Position</a:t>
            </a:r>
            <a:endParaRPr lang="en-US" sz="1400" dirty="0"/>
          </a:p>
        </p:txBody>
      </p:sp>
      <p:sp>
        <p:nvSpPr>
          <p:cNvPr id="20" name="Shape 13"/>
          <p:cNvSpPr/>
          <p:nvPr/>
        </p:nvSpPr>
        <p:spPr>
          <a:xfrm>
            <a:off x="7003259" y="1554480"/>
            <a:ext cx="1412487" cy="2240280"/>
          </a:xfrm>
          <a:prstGeom prst="roundRect">
            <a:avLst>
              <a:gd name="adj" fmla="val 6474"/>
            </a:avLst>
          </a:prstGeom>
          <a:solidFill>
            <a:srgbClr val="F4F4F8"/>
          </a:solidFill>
          <a:ln/>
        </p:spPr>
      </p:sp>
      <p:sp>
        <p:nvSpPr>
          <p:cNvPr id="21" name="Text 14"/>
          <p:cNvSpPr txBox="1"/>
          <p:nvPr/>
        </p:nvSpPr>
        <p:spPr>
          <a:xfrm>
            <a:off x="7140419" y="16642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04</a:t>
            </a:r>
            <a:endParaRPr lang="en-US" sz="2000" dirty="0"/>
          </a:p>
        </p:txBody>
      </p:sp>
      <p:pic>
        <p:nvPicPr>
          <p:cNvPr id="22" name="Image 4" descr="preencoded.png">    </p:cNvPr>
          <p:cNvPicPr>
            <a:picLocks noChangeAspect="1"/>
          </p:cNvPicPr>
          <p:nvPr/>
        </p:nvPicPr>
        <p:blipFill>
          <a:blip r:embed="rId5"/>
          <a:stretch>
            <a:fillRect/>
          </a:stretch>
        </p:blipFill>
        <p:spPr>
          <a:xfrm>
            <a:off x="7298022" y="2240280"/>
            <a:ext cx="822960" cy="822960"/>
          </a:xfrm>
          <a:prstGeom prst="rect">
            <a:avLst/>
          </a:prstGeom>
        </p:spPr>
      </p:pic>
      <p:sp>
        <p:nvSpPr>
          <p:cNvPr id="23" name="Text 15"/>
          <p:cNvSpPr txBox="1"/>
          <p:nvPr/>
        </p:nvSpPr>
        <p:spPr>
          <a:xfrm>
            <a:off x="7094699" y="3246120"/>
            <a:ext cx="1229607" cy="365760"/>
          </a:xfrm>
          <a:prstGeom prst="rect">
            <a:avLst/>
          </a:prstGeom>
          <a:noFill/>
          <a:ln/>
        </p:spPr>
        <p:txBody>
          <a:bodyPr wrap="square" lIns="0" tIns="0" rIns="0" bIns="0" rtlCol="0" anchor="t"/>
          <a:lstStyle/>
          <a:p>
            <a:pPr algn="ctr" indent="0" marL="0">
              <a:buNone/>
            </a:pPr>
            <a:r>
              <a:rPr lang="en-US" sz="1400" b="1" dirty="0">
                <a:solidFill>
                  <a:srgbClr val="14141F"/>
                </a:solidFill>
                <a:latin typeface="Arial" pitchFamily="34" charset="0"/>
                <a:ea typeface="Arial" pitchFamily="34" charset="-122"/>
                <a:cs typeface="Arial" pitchFamily="34" charset="-120"/>
              </a:rPr>
              <a:t>Platforms</a:t>
            </a:r>
            <a:endParaRPr lang="en-US" sz="1400" dirty="0"/>
          </a:p>
        </p:txBody>
      </p:sp>
      <p:sp>
        <p:nvSpPr>
          <p:cNvPr id="24" name="Shape 16"/>
          <p:cNvSpPr/>
          <p:nvPr/>
        </p:nvSpPr>
        <p:spPr>
          <a:xfrm>
            <a:off x="8616914" y="1554480"/>
            <a:ext cx="1412487" cy="2240280"/>
          </a:xfrm>
          <a:prstGeom prst="roundRect">
            <a:avLst>
              <a:gd name="adj" fmla="val 6474"/>
            </a:avLst>
          </a:prstGeom>
          <a:solidFill>
            <a:srgbClr val="F4F4F8"/>
          </a:solidFill>
          <a:ln/>
        </p:spPr>
      </p:sp>
      <p:sp>
        <p:nvSpPr>
          <p:cNvPr id="25" name="Text 17"/>
          <p:cNvSpPr txBox="1"/>
          <p:nvPr/>
        </p:nvSpPr>
        <p:spPr>
          <a:xfrm>
            <a:off x="8754074" y="16642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05</a:t>
            </a:r>
            <a:endParaRPr lang="en-US" sz="2000" dirty="0"/>
          </a:p>
        </p:txBody>
      </p:sp>
      <p:pic>
        <p:nvPicPr>
          <p:cNvPr id="26" name="Image 5" descr="preencoded.png">    </p:cNvPr>
          <p:cNvPicPr>
            <a:picLocks noChangeAspect="1"/>
          </p:cNvPicPr>
          <p:nvPr/>
        </p:nvPicPr>
        <p:blipFill>
          <a:blip r:embed="rId6"/>
          <a:stretch>
            <a:fillRect/>
          </a:stretch>
        </p:blipFill>
        <p:spPr>
          <a:xfrm>
            <a:off x="8911677" y="2240280"/>
            <a:ext cx="822960" cy="822960"/>
          </a:xfrm>
          <a:prstGeom prst="rect">
            <a:avLst/>
          </a:prstGeom>
        </p:spPr>
      </p:pic>
      <p:sp>
        <p:nvSpPr>
          <p:cNvPr id="27" name="Text 18"/>
          <p:cNvSpPr txBox="1"/>
          <p:nvPr/>
        </p:nvSpPr>
        <p:spPr>
          <a:xfrm>
            <a:off x="8708354" y="3246120"/>
            <a:ext cx="1229607" cy="365760"/>
          </a:xfrm>
          <a:prstGeom prst="rect">
            <a:avLst/>
          </a:prstGeom>
          <a:noFill/>
          <a:ln/>
        </p:spPr>
        <p:txBody>
          <a:bodyPr wrap="square" lIns="0" tIns="0" rIns="0" bIns="0" rtlCol="0" anchor="t"/>
          <a:lstStyle/>
          <a:p>
            <a:pPr algn="ctr" indent="0" marL="0">
              <a:buNone/>
            </a:pPr>
            <a:r>
              <a:rPr lang="en-US" sz="1400" b="1" dirty="0">
                <a:solidFill>
                  <a:srgbClr val="14141F"/>
                </a:solidFill>
                <a:latin typeface="Arial" pitchFamily="34" charset="0"/>
                <a:ea typeface="Arial" pitchFamily="34" charset="-122"/>
                <a:cs typeface="Arial" pitchFamily="34" charset="-120"/>
              </a:rPr>
              <a:t>Shorts</a:t>
            </a:r>
            <a:endParaRPr lang="en-US" sz="1400" dirty="0"/>
          </a:p>
        </p:txBody>
      </p:sp>
      <p:sp>
        <p:nvSpPr>
          <p:cNvPr id="28" name="Shape 19"/>
          <p:cNvSpPr/>
          <p:nvPr/>
        </p:nvSpPr>
        <p:spPr>
          <a:xfrm>
            <a:off x="10230568" y="1554480"/>
            <a:ext cx="1412487" cy="2240280"/>
          </a:xfrm>
          <a:prstGeom prst="roundRect">
            <a:avLst>
              <a:gd name="adj" fmla="val 6474"/>
            </a:avLst>
          </a:prstGeom>
          <a:solidFill>
            <a:srgbClr val="F4F4F8"/>
          </a:solidFill>
          <a:ln/>
        </p:spPr>
      </p:sp>
      <p:sp>
        <p:nvSpPr>
          <p:cNvPr id="29" name="Text 20"/>
          <p:cNvSpPr txBox="1"/>
          <p:nvPr/>
        </p:nvSpPr>
        <p:spPr>
          <a:xfrm>
            <a:off x="10367728" y="16642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06</a:t>
            </a:r>
            <a:endParaRPr lang="en-US" sz="2000" dirty="0"/>
          </a:p>
        </p:txBody>
      </p:sp>
      <p:pic>
        <p:nvPicPr>
          <p:cNvPr id="30" name="Image 6" descr="preencoded.png">    </p:cNvPr>
          <p:cNvPicPr>
            <a:picLocks noChangeAspect="1"/>
          </p:cNvPicPr>
          <p:nvPr/>
        </p:nvPicPr>
        <p:blipFill>
          <a:blip r:embed="rId7"/>
          <a:stretch>
            <a:fillRect/>
          </a:stretch>
        </p:blipFill>
        <p:spPr>
          <a:xfrm>
            <a:off x="10525332" y="2240280"/>
            <a:ext cx="822960" cy="822960"/>
          </a:xfrm>
          <a:prstGeom prst="rect">
            <a:avLst/>
          </a:prstGeom>
        </p:spPr>
      </p:pic>
      <p:sp>
        <p:nvSpPr>
          <p:cNvPr id="31" name="Text 21"/>
          <p:cNvSpPr txBox="1"/>
          <p:nvPr/>
        </p:nvSpPr>
        <p:spPr>
          <a:xfrm>
            <a:off x="10322008" y="3246120"/>
            <a:ext cx="1229607" cy="365760"/>
          </a:xfrm>
          <a:prstGeom prst="rect">
            <a:avLst/>
          </a:prstGeom>
          <a:noFill/>
          <a:ln/>
        </p:spPr>
        <p:txBody>
          <a:bodyPr wrap="square" lIns="0" tIns="0" rIns="0" bIns="0" rtlCol="0" anchor="t"/>
          <a:lstStyle/>
          <a:p>
            <a:pPr algn="ctr" indent="0" marL="0">
              <a:buNone/>
            </a:pPr>
            <a:r>
              <a:rPr lang="en-US" sz="1400" b="1" dirty="0">
                <a:solidFill>
                  <a:srgbClr val="14141F"/>
                </a:solidFill>
                <a:latin typeface="Arial" pitchFamily="34" charset="0"/>
                <a:ea typeface="Arial" pitchFamily="34" charset="-122"/>
                <a:cs typeface="Arial" pitchFamily="34" charset="-120"/>
              </a:rPr>
              <a:t>Iterate</a:t>
            </a:r>
            <a:endParaRPr lang="en-US" sz="1400" dirty="0"/>
          </a:p>
        </p:txBody>
      </p:sp>
      <p:sp>
        <p:nvSpPr>
          <p:cNvPr id="32" name="Shape 22"/>
          <p:cNvSpPr/>
          <p:nvPr/>
        </p:nvSpPr>
        <p:spPr>
          <a:xfrm>
            <a:off x="548640" y="4069080"/>
            <a:ext cx="1412487" cy="2240280"/>
          </a:xfrm>
          <a:prstGeom prst="roundRect">
            <a:avLst>
              <a:gd name="adj" fmla="val 6474"/>
            </a:avLst>
          </a:prstGeom>
          <a:solidFill>
            <a:srgbClr val="14141F"/>
          </a:solidFill>
          <a:ln/>
        </p:spPr>
      </p:sp>
      <p:sp>
        <p:nvSpPr>
          <p:cNvPr id="33" name="Text 23"/>
          <p:cNvSpPr txBox="1"/>
          <p:nvPr/>
        </p:nvSpPr>
        <p:spPr>
          <a:xfrm>
            <a:off x="685800" y="41788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07</a:t>
            </a:r>
            <a:endParaRPr lang="en-US" sz="2000" dirty="0"/>
          </a:p>
        </p:txBody>
      </p:sp>
      <p:pic>
        <p:nvPicPr>
          <p:cNvPr id="34" name="Image 7" descr="preencoded.png">    </p:cNvPr>
          <p:cNvPicPr>
            <a:picLocks noChangeAspect="1"/>
          </p:cNvPicPr>
          <p:nvPr/>
        </p:nvPicPr>
        <p:blipFill>
          <a:blip r:embed="rId8"/>
          <a:stretch>
            <a:fillRect/>
          </a:stretch>
        </p:blipFill>
        <p:spPr>
          <a:xfrm>
            <a:off x="843403" y="4754880"/>
            <a:ext cx="822960" cy="822960"/>
          </a:xfrm>
          <a:prstGeom prst="rect">
            <a:avLst/>
          </a:prstGeom>
        </p:spPr>
      </p:pic>
      <p:sp>
        <p:nvSpPr>
          <p:cNvPr id="35" name="Text 24"/>
          <p:cNvSpPr txBox="1"/>
          <p:nvPr/>
        </p:nvSpPr>
        <p:spPr>
          <a:xfrm>
            <a:off x="640080" y="5760720"/>
            <a:ext cx="1229607"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YouTube</a:t>
            </a:r>
            <a:endParaRPr lang="en-US" sz="1400" dirty="0"/>
          </a:p>
        </p:txBody>
      </p:sp>
      <p:sp>
        <p:nvSpPr>
          <p:cNvPr id="36" name="Shape 25"/>
          <p:cNvSpPr/>
          <p:nvPr/>
        </p:nvSpPr>
        <p:spPr>
          <a:xfrm>
            <a:off x="2162295" y="4069080"/>
            <a:ext cx="1412487" cy="2240280"/>
          </a:xfrm>
          <a:prstGeom prst="roundRect">
            <a:avLst>
              <a:gd name="adj" fmla="val 6474"/>
            </a:avLst>
          </a:prstGeom>
          <a:solidFill>
            <a:srgbClr val="14141F"/>
          </a:solidFill>
          <a:ln/>
        </p:spPr>
      </p:sp>
      <p:sp>
        <p:nvSpPr>
          <p:cNvPr id="37" name="Text 26"/>
          <p:cNvSpPr txBox="1"/>
          <p:nvPr/>
        </p:nvSpPr>
        <p:spPr>
          <a:xfrm>
            <a:off x="2299455" y="41788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08</a:t>
            </a:r>
            <a:endParaRPr lang="en-US" sz="2000" dirty="0"/>
          </a:p>
        </p:txBody>
      </p:sp>
      <p:pic>
        <p:nvPicPr>
          <p:cNvPr id="38" name="Image 8" descr="preencoded.png">    </p:cNvPr>
          <p:cNvPicPr>
            <a:picLocks noChangeAspect="1"/>
          </p:cNvPicPr>
          <p:nvPr/>
        </p:nvPicPr>
        <p:blipFill>
          <a:blip r:embed="rId9"/>
          <a:stretch>
            <a:fillRect/>
          </a:stretch>
        </p:blipFill>
        <p:spPr>
          <a:xfrm>
            <a:off x="2457058" y="4754880"/>
            <a:ext cx="822960" cy="822960"/>
          </a:xfrm>
          <a:prstGeom prst="rect">
            <a:avLst/>
          </a:prstGeom>
        </p:spPr>
      </p:pic>
      <p:sp>
        <p:nvSpPr>
          <p:cNvPr id="39" name="Text 27"/>
          <p:cNvSpPr txBox="1"/>
          <p:nvPr/>
        </p:nvSpPr>
        <p:spPr>
          <a:xfrm>
            <a:off x="2253735" y="5760720"/>
            <a:ext cx="1229607"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Story</a:t>
            </a:r>
            <a:endParaRPr lang="en-US" sz="1400" dirty="0"/>
          </a:p>
        </p:txBody>
      </p:sp>
      <p:sp>
        <p:nvSpPr>
          <p:cNvPr id="40" name="Shape 28"/>
          <p:cNvSpPr/>
          <p:nvPr/>
        </p:nvSpPr>
        <p:spPr>
          <a:xfrm>
            <a:off x="3775949" y="4069080"/>
            <a:ext cx="1412487" cy="2240280"/>
          </a:xfrm>
          <a:prstGeom prst="roundRect">
            <a:avLst>
              <a:gd name="adj" fmla="val 6474"/>
            </a:avLst>
          </a:prstGeom>
          <a:solidFill>
            <a:srgbClr val="14141F"/>
          </a:solidFill>
          <a:ln/>
        </p:spPr>
      </p:sp>
      <p:sp>
        <p:nvSpPr>
          <p:cNvPr id="41" name="Text 29"/>
          <p:cNvSpPr txBox="1"/>
          <p:nvPr/>
        </p:nvSpPr>
        <p:spPr>
          <a:xfrm>
            <a:off x="3913109" y="41788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09</a:t>
            </a:r>
            <a:endParaRPr lang="en-US" sz="2000" dirty="0"/>
          </a:p>
        </p:txBody>
      </p:sp>
      <p:pic>
        <p:nvPicPr>
          <p:cNvPr id="42" name="Image 9" descr="preencoded.png">    </p:cNvPr>
          <p:cNvPicPr>
            <a:picLocks noChangeAspect="1"/>
          </p:cNvPicPr>
          <p:nvPr/>
        </p:nvPicPr>
        <p:blipFill>
          <a:blip r:embed="rId10"/>
          <a:stretch>
            <a:fillRect/>
          </a:stretch>
        </p:blipFill>
        <p:spPr>
          <a:xfrm>
            <a:off x="4070713" y="4754880"/>
            <a:ext cx="822960" cy="822960"/>
          </a:xfrm>
          <a:prstGeom prst="rect">
            <a:avLst/>
          </a:prstGeom>
        </p:spPr>
      </p:pic>
      <p:sp>
        <p:nvSpPr>
          <p:cNvPr id="43" name="Text 30"/>
          <p:cNvSpPr txBox="1"/>
          <p:nvPr/>
        </p:nvSpPr>
        <p:spPr>
          <a:xfrm>
            <a:off x="3867389" y="5760720"/>
            <a:ext cx="1229607"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Community</a:t>
            </a:r>
            <a:endParaRPr lang="en-US" sz="1400" dirty="0"/>
          </a:p>
        </p:txBody>
      </p:sp>
      <p:sp>
        <p:nvSpPr>
          <p:cNvPr id="44" name="Shape 31"/>
          <p:cNvSpPr/>
          <p:nvPr/>
        </p:nvSpPr>
        <p:spPr>
          <a:xfrm>
            <a:off x="5389604" y="4069080"/>
            <a:ext cx="1412487" cy="2240280"/>
          </a:xfrm>
          <a:prstGeom prst="roundRect">
            <a:avLst>
              <a:gd name="adj" fmla="val 6474"/>
            </a:avLst>
          </a:prstGeom>
          <a:solidFill>
            <a:srgbClr val="14141F"/>
          </a:solidFill>
          <a:ln/>
        </p:spPr>
      </p:sp>
      <p:sp>
        <p:nvSpPr>
          <p:cNvPr id="45" name="Text 32"/>
          <p:cNvSpPr txBox="1"/>
          <p:nvPr/>
        </p:nvSpPr>
        <p:spPr>
          <a:xfrm>
            <a:off x="5526764" y="41788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10</a:t>
            </a:r>
            <a:endParaRPr lang="en-US" sz="2000" dirty="0"/>
          </a:p>
        </p:txBody>
      </p:sp>
      <p:pic>
        <p:nvPicPr>
          <p:cNvPr id="46" name="Image 10" descr="preencoded.png">    </p:cNvPr>
          <p:cNvPicPr>
            <a:picLocks noChangeAspect="1"/>
          </p:cNvPicPr>
          <p:nvPr/>
        </p:nvPicPr>
        <p:blipFill>
          <a:blip r:embed="rId11"/>
          <a:stretch>
            <a:fillRect/>
          </a:stretch>
        </p:blipFill>
        <p:spPr>
          <a:xfrm>
            <a:off x="5684368" y="4754880"/>
            <a:ext cx="822960" cy="822960"/>
          </a:xfrm>
          <a:prstGeom prst="rect">
            <a:avLst/>
          </a:prstGeom>
        </p:spPr>
      </p:pic>
      <p:sp>
        <p:nvSpPr>
          <p:cNvPr id="47" name="Text 33"/>
          <p:cNvSpPr txBox="1"/>
          <p:nvPr/>
        </p:nvSpPr>
        <p:spPr>
          <a:xfrm>
            <a:off x="5481044" y="5760720"/>
            <a:ext cx="1229607"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Monetize</a:t>
            </a:r>
            <a:endParaRPr lang="en-US" sz="1400" dirty="0"/>
          </a:p>
        </p:txBody>
      </p:sp>
      <p:sp>
        <p:nvSpPr>
          <p:cNvPr id="48" name="Shape 34"/>
          <p:cNvSpPr/>
          <p:nvPr/>
        </p:nvSpPr>
        <p:spPr>
          <a:xfrm>
            <a:off x="7003259" y="4069080"/>
            <a:ext cx="1412487" cy="2240280"/>
          </a:xfrm>
          <a:prstGeom prst="roundRect">
            <a:avLst>
              <a:gd name="adj" fmla="val 6474"/>
            </a:avLst>
          </a:prstGeom>
          <a:solidFill>
            <a:srgbClr val="14141F"/>
          </a:solidFill>
          <a:ln/>
        </p:spPr>
      </p:sp>
      <p:sp>
        <p:nvSpPr>
          <p:cNvPr id="49" name="Text 35"/>
          <p:cNvSpPr txBox="1"/>
          <p:nvPr/>
        </p:nvSpPr>
        <p:spPr>
          <a:xfrm>
            <a:off x="7140419" y="41788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11</a:t>
            </a:r>
            <a:endParaRPr lang="en-US" sz="2000" dirty="0"/>
          </a:p>
        </p:txBody>
      </p:sp>
      <p:pic>
        <p:nvPicPr>
          <p:cNvPr id="50" name="Image 11" descr="preencoded.png">    </p:cNvPr>
          <p:cNvPicPr>
            <a:picLocks noChangeAspect="1"/>
          </p:cNvPicPr>
          <p:nvPr/>
        </p:nvPicPr>
        <p:blipFill>
          <a:blip r:embed="rId12"/>
          <a:stretch>
            <a:fillRect/>
          </a:stretch>
        </p:blipFill>
        <p:spPr>
          <a:xfrm>
            <a:off x="7298022" y="4754880"/>
            <a:ext cx="822960" cy="822960"/>
          </a:xfrm>
          <a:prstGeom prst="rect">
            <a:avLst/>
          </a:prstGeom>
        </p:spPr>
      </p:pic>
      <p:sp>
        <p:nvSpPr>
          <p:cNvPr id="51" name="Text 36"/>
          <p:cNvSpPr txBox="1"/>
          <p:nvPr/>
        </p:nvSpPr>
        <p:spPr>
          <a:xfrm>
            <a:off x="7094699" y="5760720"/>
            <a:ext cx="1229607"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Scale</a:t>
            </a:r>
            <a:endParaRPr lang="en-US" sz="1400" dirty="0"/>
          </a:p>
        </p:txBody>
      </p:sp>
      <p:sp>
        <p:nvSpPr>
          <p:cNvPr id="52" name="Shape 37"/>
          <p:cNvSpPr/>
          <p:nvPr/>
        </p:nvSpPr>
        <p:spPr>
          <a:xfrm>
            <a:off x="8616914" y="4069080"/>
            <a:ext cx="1412487" cy="2240280"/>
          </a:xfrm>
          <a:prstGeom prst="roundRect">
            <a:avLst>
              <a:gd name="adj" fmla="val 6474"/>
            </a:avLst>
          </a:prstGeom>
          <a:solidFill>
            <a:srgbClr val="14141F"/>
          </a:solidFill>
          <a:ln/>
        </p:spPr>
      </p:sp>
      <p:sp>
        <p:nvSpPr>
          <p:cNvPr id="53" name="Text 38"/>
          <p:cNvSpPr txBox="1"/>
          <p:nvPr/>
        </p:nvSpPr>
        <p:spPr>
          <a:xfrm>
            <a:off x="8754074" y="41788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12</a:t>
            </a:r>
            <a:endParaRPr lang="en-US" sz="2000" dirty="0"/>
          </a:p>
        </p:txBody>
      </p:sp>
      <p:pic>
        <p:nvPicPr>
          <p:cNvPr id="54" name="Image 12" descr="preencoded.png">    </p:cNvPr>
          <p:cNvPicPr>
            <a:picLocks noChangeAspect="1"/>
          </p:cNvPicPr>
          <p:nvPr/>
        </p:nvPicPr>
        <p:blipFill>
          <a:blip r:embed="rId13"/>
          <a:stretch>
            <a:fillRect/>
          </a:stretch>
        </p:blipFill>
        <p:spPr>
          <a:xfrm>
            <a:off x="8911677" y="4754880"/>
            <a:ext cx="822960" cy="822960"/>
          </a:xfrm>
          <a:prstGeom prst="rect">
            <a:avLst/>
          </a:prstGeom>
        </p:spPr>
      </p:pic>
      <p:sp>
        <p:nvSpPr>
          <p:cNvPr id="55" name="Text 39"/>
          <p:cNvSpPr txBox="1"/>
          <p:nvPr/>
        </p:nvSpPr>
        <p:spPr>
          <a:xfrm>
            <a:off x="8708354" y="5760720"/>
            <a:ext cx="1229607"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Team</a:t>
            </a:r>
            <a:endParaRPr lang="en-US" sz="1400" dirty="0"/>
          </a:p>
        </p:txBody>
      </p:sp>
      <p:sp>
        <p:nvSpPr>
          <p:cNvPr id="56" name="Shape 40"/>
          <p:cNvSpPr/>
          <p:nvPr/>
        </p:nvSpPr>
        <p:spPr>
          <a:xfrm>
            <a:off x="10230568" y="4069080"/>
            <a:ext cx="1412487" cy="2240280"/>
          </a:xfrm>
          <a:prstGeom prst="roundRect">
            <a:avLst>
              <a:gd name="adj" fmla="val 6474"/>
            </a:avLst>
          </a:prstGeom>
          <a:solidFill>
            <a:srgbClr val="14141F"/>
          </a:solidFill>
          <a:ln/>
        </p:spPr>
      </p:sp>
      <p:sp>
        <p:nvSpPr>
          <p:cNvPr id="57" name="Text 41"/>
          <p:cNvSpPr txBox="1"/>
          <p:nvPr/>
        </p:nvSpPr>
        <p:spPr>
          <a:xfrm>
            <a:off x="10367728" y="4178808"/>
            <a:ext cx="1138167" cy="457200"/>
          </a:xfrm>
          <a:prstGeom prst="rect">
            <a:avLst/>
          </a:prstGeom>
          <a:noFill/>
          <a:ln/>
        </p:spPr>
        <p:txBody>
          <a:bodyPr wrap="square" lIns="0" tIns="0" rIns="0" bIns="0" rtlCol="0" anchor="t"/>
          <a:lstStyle/>
          <a:p>
            <a:pPr indent="0" marL="0">
              <a:buNone/>
            </a:pPr>
            <a:r>
              <a:rPr lang="en-US" sz="2000" b="1" dirty="0">
                <a:solidFill>
                  <a:srgbClr val="FF4D3D"/>
                </a:solidFill>
                <a:latin typeface="Arial" pitchFamily="34" charset="0"/>
                <a:ea typeface="Arial" pitchFamily="34" charset="-122"/>
                <a:cs typeface="Arial" pitchFamily="34" charset="-120"/>
              </a:rPr>
              <a:t>13</a:t>
            </a:r>
            <a:endParaRPr lang="en-US" sz="2000" dirty="0"/>
          </a:p>
        </p:txBody>
      </p:sp>
      <p:pic>
        <p:nvPicPr>
          <p:cNvPr id="58" name="Image 13" descr="preencoded.png">    </p:cNvPr>
          <p:cNvPicPr>
            <a:picLocks noChangeAspect="1"/>
          </p:cNvPicPr>
          <p:nvPr/>
        </p:nvPicPr>
        <p:blipFill>
          <a:blip r:embed="rId14"/>
          <a:stretch>
            <a:fillRect/>
          </a:stretch>
        </p:blipFill>
        <p:spPr>
          <a:xfrm>
            <a:off x="10525332" y="4754880"/>
            <a:ext cx="822960" cy="822960"/>
          </a:xfrm>
          <a:prstGeom prst="rect">
            <a:avLst/>
          </a:prstGeom>
        </p:spPr>
      </p:pic>
      <p:sp>
        <p:nvSpPr>
          <p:cNvPr id="59" name="Text 42"/>
          <p:cNvSpPr txBox="1"/>
          <p:nvPr/>
        </p:nvSpPr>
        <p:spPr>
          <a:xfrm>
            <a:off x="10322008" y="5760720"/>
            <a:ext cx="1229607"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Future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00</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Mindset</a:t>
            </a:r>
            <a:endParaRPr lang="en-US"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0</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operating system</a:t>
            </a:r>
            <a:endParaRPr lang="en-US" sz="3000" dirty="0"/>
          </a:p>
        </p:txBody>
      </p:sp>
      <p:sp>
        <p:nvSpPr>
          <p:cNvPr id="5" name="Shape 2"/>
          <p:cNvSpPr/>
          <p:nvPr/>
        </p:nvSpPr>
        <p:spPr>
          <a:xfrm>
            <a:off x="970228" y="2786866"/>
            <a:ext cx="1375707" cy="1375707"/>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327912" y="3144550"/>
            <a:ext cx="660340" cy="660340"/>
          </a:xfrm>
          <a:prstGeom prst="rect">
            <a:avLst/>
          </a:prstGeom>
        </p:spPr>
      </p:pic>
      <p:sp>
        <p:nvSpPr>
          <p:cNvPr id="7" name="Text 3"/>
          <p:cNvSpPr txBox="1"/>
          <p:nvPr/>
        </p:nvSpPr>
        <p:spPr>
          <a:xfrm>
            <a:off x="594360"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Play forever</a:t>
            </a:r>
            <a:endParaRPr lang="en-US" sz="1800" dirty="0"/>
          </a:p>
        </p:txBody>
      </p:sp>
      <p:sp>
        <p:nvSpPr>
          <p:cNvPr id="8" name="Shape 4"/>
          <p:cNvSpPr/>
          <p:nvPr/>
        </p:nvSpPr>
        <p:spPr>
          <a:xfrm>
            <a:off x="3189111" y="2786866"/>
            <a:ext cx="1375707" cy="1375707"/>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3546795" y="3144550"/>
            <a:ext cx="660340" cy="660340"/>
          </a:xfrm>
          <a:prstGeom prst="rect">
            <a:avLst/>
          </a:prstGeom>
        </p:spPr>
      </p:pic>
      <p:sp>
        <p:nvSpPr>
          <p:cNvPr id="10" name="Text 5"/>
          <p:cNvSpPr txBox="1"/>
          <p:nvPr/>
        </p:nvSpPr>
        <p:spPr>
          <a:xfrm>
            <a:off x="2813243"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Sustain</a:t>
            </a:r>
            <a:endParaRPr lang="en-US" sz="1800" dirty="0"/>
          </a:p>
        </p:txBody>
      </p:sp>
      <p:sp>
        <p:nvSpPr>
          <p:cNvPr id="11" name="Shape 6"/>
          <p:cNvSpPr/>
          <p:nvPr/>
        </p:nvSpPr>
        <p:spPr>
          <a:xfrm>
            <a:off x="5407994" y="2786866"/>
            <a:ext cx="1375707" cy="1375707"/>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5765678" y="3144550"/>
            <a:ext cx="660340" cy="660340"/>
          </a:xfrm>
          <a:prstGeom prst="rect">
            <a:avLst/>
          </a:prstGeom>
        </p:spPr>
      </p:pic>
      <p:sp>
        <p:nvSpPr>
          <p:cNvPr id="13" name="Text 7"/>
          <p:cNvSpPr txBox="1"/>
          <p:nvPr/>
        </p:nvSpPr>
        <p:spPr>
          <a:xfrm>
            <a:off x="5032126"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Reps</a:t>
            </a:r>
            <a:endParaRPr lang="en-US" sz="1800" dirty="0"/>
          </a:p>
        </p:txBody>
      </p:sp>
      <p:sp>
        <p:nvSpPr>
          <p:cNvPr id="14" name="Shape 8"/>
          <p:cNvSpPr/>
          <p:nvPr/>
        </p:nvSpPr>
        <p:spPr>
          <a:xfrm>
            <a:off x="7626877" y="2786866"/>
            <a:ext cx="1375707" cy="1375707"/>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7984561" y="3144550"/>
            <a:ext cx="660340" cy="660340"/>
          </a:xfrm>
          <a:prstGeom prst="rect">
            <a:avLst/>
          </a:prstGeom>
        </p:spPr>
      </p:pic>
      <p:sp>
        <p:nvSpPr>
          <p:cNvPr id="16" name="Text 9"/>
          <p:cNvSpPr txBox="1"/>
          <p:nvPr/>
        </p:nvSpPr>
        <p:spPr>
          <a:xfrm>
            <a:off x="7251009"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A vs. B</a:t>
            </a:r>
            <a:endParaRPr lang="en-US" sz="1800" dirty="0"/>
          </a:p>
        </p:txBody>
      </p:sp>
      <p:sp>
        <p:nvSpPr>
          <p:cNvPr id="17" name="Shape 10"/>
          <p:cNvSpPr/>
          <p:nvPr/>
        </p:nvSpPr>
        <p:spPr>
          <a:xfrm>
            <a:off x="9845760" y="2786866"/>
            <a:ext cx="1375707" cy="1375707"/>
          </a:xfrm>
          <a:prstGeom prst="ellipse">
            <a:avLst/>
          </a:prstGeom>
          <a:solidFill>
            <a:srgbClr val="14141F"/>
          </a:solidFill>
          <a:ln/>
        </p:spPr>
      </p:sp>
      <p:pic>
        <p:nvPicPr>
          <p:cNvPr id="18" name="Image 4" descr="preencoded.png">    </p:cNvPr>
          <p:cNvPicPr>
            <a:picLocks noChangeAspect="1"/>
          </p:cNvPicPr>
          <p:nvPr/>
        </p:nvPicPr>
        <p:blipFill>
          <a:blip r:embed="rId5"/>
          <a:stretch>
            <a:fillRect/>
          </a:stretch>
        </p:blipFill>
        <p:spPr>
          <a:xfrm>
            <a:off x="10203444" y="3144550"/>
            <a:ext cx="660340" cy="660340"/>
          </a:xfrm>
          <a:prstGeom prst="rect">
            <a:avLst/>
          </a:prstGeom>
        </p:spPr>
      </p:pic>
      <p:sp>
        <p:nvSpPr>
          <p:cNvPr id="19" name="Text 11"/>
          <p:cNvSpPr txBox="1"/>
          <p:nvPr/>
        </p:nvSpPr>
        <p:spPr>
          <a:xfrm>
            <a:off x="9469892"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Ego out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0</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fork in the road</a:t>
            </a:r>
            <a:endParaRPr lang="en-US" sz="3000" dirty="0"/>
          </a:p>
        </p:txBody>
      </p:sp>
      <p:sp>
        <p:nvSpPr>
          <p:cNvPr id="5" name="Shape 2"/>
          <p:cNvSpPr/>
          <p:nvPr/>
        </p:nvSpPr>
        <p:spPr>
          <a:xfrm>
            <a:off x="548640" y="1737360"/>
            <a:ext cx="5120640" cy="4114800"/>
          </a:xfrm>
          <a:prstGeom prst="roundRect">
            <a:avLst>
              <a:gd name="adj" fmla="val 3333"/>
            </a:avLst>
          </a:prstGeom>
          <a:solidFill>
            <a:srgbClr val="F4F4F8"/>
          </a:solidFill>
          <a:ln/>
        </p:spPr>
      </p:sp>
      <p:sp>
        <p:nvSpPr>
          <p:cNvPr id="6" name="Shape 3"/>
          <p:cNvSpPr/>
          <p:nvPr/>
        </p:nvSpPr>
        <p:spPr>
          <a:xfrm>
            <a:off x="6492240" y="1737360"/>
            <a:ext cx="5120640" cy="4114800"/>
          </a:xfrm>
          <a:prstGeom prst="roundRect">
            <a:avLst>
              <a:gd name="adj" fmla="val 3333"/>
            </a:avLst>
          </a:prstGeom>
          <a:solidFill>
            <a:srgbClr val="14141F"/>
          </a:solidFill>
          <a:ln/>
        </p:spPr>
      </p:sp>
      <p:pic>
        <p:nvPicPr>
          <p:cNvPr id="7" name="Image 0" descr="preencoded.png">    </p:cNvPr>
          <p:cNvPicPr>
            <a:picLocks noChangeAspect="1"/>
          </p:cNvPicPr>
          <p:nvPr/>
        </p:nvPicPr>
        <p:blipFill>
          <a:blip r:embed="rId1"/>
          <a:stretch>
            <a:fillRect/>
          </a:stretch>
        </p:blipFill>
        <p:spPr>
          <a:xfrm>
            <a:off x="2560320" y="2103120"/>
            <a:ext cx="1097280" cy="1097280"/>
          </a:xfrm>
          <a:prstGeom prst="rect">
            <a:avLst/>
          </a:prstGeom>
        </p:spPr>
      </p:pic>
      <p:pic>
        <p:nvPicPr>
          <p:cNvPr id="8" name="Image 1" descr="preencoded.png">    </p:cNvPr>
          <p:cNvPicPr>
            <a:picLocks noChangeAspect="1"/>
          </p:cNvPicPr>
          <p:nvPr/>
        </p:nvPicPr>
        <p:blipFill>
          <a:blip r:embed="rId2"/>
          <a:stretch>
            <a:fillRect/>
          </a:stretch>
        </p:blipFill>
        <p:spPr>
          <a:xfrm>
            <a:off x="8503920" y="2103120"/>
            <a:ext cx="1097280" cy="1097280"/>
          </a:xfrm>
          <a:prstGeom prst="rect">
            <a:avLst/>
          </a:prstGeom>
        </p:spPr>
      </p:pic>
      <p:sp>
        <p:nvSpPr>
          <p:cNvPr id="9" name="Text 4"/>
          <p:cNvSpPr txBox="1"/>
          <p:nvPr/>
        </p:nvSpPr>
        <p:spPr>
          <a:xfrm>
            <a:off x="548640" y="3383280"/>
            <a:ext cx="5120640" cy="1463040"/>
          </a:xfrm>
          <a:prstGeom prst="rect">
            <a:avLst/>
          </a:prstGeom>
          <a:noFill/>
          <a:ln/>
        </p:spPr>
        <p:txBody>
          <a:bodyPr wrap="square" lIns="0" tIns="0" rIns="0" bIns="0" rtlCol="0" anchor="ctr"/>
          <a:lstStyle/>
          <a:p>
            <a:pPr algn="ctr" indent="0" marL="0">
              <a:buNone/>
            </a:pPr>
            <a:r>
              <a:rPr lang="en-US" sz="7200" b="1" dirty="0">
                <a:solidFill>
                  <a:srgbClr val="14141F"/>
                </a:solidFill>
                <a:latin typeface="Arial" pitchFamily="34" charset="0"/>
                <a:ea typeface="Arial" pitchFamily="34" charset="-122"/>
                <a:cs typeface="Arial" pitchFamily="34" charset="-120"/>
              </a:rPr>
              <a:t>10–30</a:t>
            </a:r>
            <a:endParaRPr lang="en-US" sz="7200" dirty="0"/>
          </a:p>
        </p:txBody>
      </p:sp>
      <p:sp>
        <p:nvSpPr>
          <p:cNvPr id="10" name="Text 5"/>
          <p:cNvSpPr txBox="1"/>
          <p:nvPr/>
        </p:nvSpPr>
        <p:spPr>
          <a:xfrm>
            <a:off x="6492240" y="3383280"/>
            <a:ext cx="5120640" cy="1463040"/>
          </a:xfrm>
          <a:prstGeom prst="rect">
            <a:avLst/>
          </a:prstGeom>
          <a:noFill/>
          <a:ln/>
        </p:spPr>
        <p:txBody>
          <a:bodyPr wrap="square" lIns="0" tIns="0" rIns="0" bIns="0" rtlCol="0" anchor="ctr"/>
          <a:lstStyle/>
          <a:p>
            <a:pPr algn="ctr" indent="0" marL="0">
              <a:buNone/>
            </a:pPr>
            <a:r>
              <a:rPr lang="en-US" sz="7200" b="1" dirty="0">
                <a:solidFill>
                  <a:srgbClr val="FF4D3D"/>
                </a:solidFill>
                <a:latin typeface="Arial" pitchFamily="34" charset="0"/>
                <a:ea typeface="Arial" pitchFamily="34" charset="-122"/>
                <a:cs typeface="Arial" pitchFamily="34" charset="-120"/>
              </a:rPr>
              <a:t>500</a:t>
            </a:r>
            <a:endParaRPr lang="en-US" sz="7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01</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Pick your game</a:t>
            </a:r>
            <a:endParaRPr lang="en-US" sz="4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5 content games</a:t>
            </a:r>
            <a:endParaRPr lang="en-US" sz="3000" dirty="0"/>
          </a:p>
        </p:txBody>
      </p:sp>
      <p:sp>
        <p:nvSpPr>
          <p:cNvPr id="5" name="Shape 2"/>
          <p:cNvSpPr/>
          <p:nvPr/>
        </p:nvSpPr>
        <p:spPr>
          <a:xfrm>
            <a:off x="970228" y="2786866"/>
            <a:ext cx="1375707" cy="1375707"/>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327912" y="3144550"/>
            <a:ext cx="660340" cy="660340"/>
          </a:xfrm>
          <a:prstGeom prst="rect">
            <a:avLst/>
          </a:prstGeom>
        </p:spPr>
      </p:pic>
      <p:sp>
        <p:nvSpPr>
          <p:cNvPr id="7" name="Text 3"/>
          <p:cNvSpPr txBox="1"/>
          <p:nvPr/>
        </p:nvSpPr>
        <p:spPr>
          <a:xfrm>
            <a:off x="594360"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Entertain</a:t>
            </a:r>
            <a:endParaRPr lang="en-US" sz="1800" dirty="0"/>
          </a:p>
        </p:txBody>
      </p:sp>
      <p:sp>
        <p:nvSpPr>
          <p:cNvPr id="8" name="Shape 4"/>
          <p:cNvSpPr/>
          <p:nvPr/>
        </p:nvSpPr>
        <p:spPr>
          <a:xfrm>
            <a:off x="3189111" y="2786866"/>
            <a:ext cx="1375707" cy="1375707"/>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3546795" y="3144550"/>
            <a:ext cx="660340" cy="660340"/>
          </a:xfrm>
          <a:prstGeom prst="rect">
            <a:avLst/>
          </a:prstGeom>
        </p:spPr>
      </p:pic>
      <p:sp>
        <p:nvSpPr>
          <p:cNvPr id="10" name="Text 5"/>
          <p:cNvSpPr txBox="1"/>
          <p:nvPr/>
        </p:nvSpPr>
        <p:spPr>
          <a:xfrm>
            <a:off x="2813243"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Educate</a:t>
            </a:r>
            <a:endParaRPr lang="en-US" sz="1800" dirty="0"/>
          </a:p>
        </p:txBody>
      </p:sp>
      <p:sp>
        <p:nvSpPr>
          <p:cNvPr id="11" name="Shape 6"/>
          <p:cNvSpPr/>
          <p:nvPr/>
        </p:nvSpPr>
        <p:spPr>
          <a:xfrm>
            <a:off x="5407994" y="2786866"/>
            <a:ext cx="1375707" cy="1375707"/>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5765678" y="3144550"/>
            <a:ext cx="660340" cy="660340"/>
          </a:xfrm>
          <a:prstGeom prst="rect">
            <a:avLst/>
          </a:prstGeom>
        </p:spPr>
      </p:pic>
      <p:sp>
        <p:nvSpPr>
          <p:cNvPr id="13" name="Text 7"/>
          <p:cNvSpPr txBox="1"/>
          <p:nvPr/>
        </p:nvSpPr>
        <p:spPr>
          <a:xfrm>
            <a:off x="5032126"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Product</a:t>
            </a:r>
            <a:endParaRPr lang="en-US" sz="1800" dirty="0"/>
          </a:p>
        </p:txBody>
      </p:sp>
      <p:sp>
        <p:nvSpPr>
          <p:cNvPr id="14" name="Shape 8"/>
          <p:cNvSpPr/>
          <p:nvPr/>
        </p:nvSpPr>
        <p:spPr>
          <a:xfrm>
            <a:off x="7626877" y="2786866"/>
            <a:ext cx="1375707" cy="1375707"/>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7984561" y="3144550"/>
            <a:ext cx="660340" cy="660340"/>
          </a:xfrm>
          <a:prstGeom prst="rect">
            <a:avLst/>
          </a:prstGeom>
        </p:spPr>
      </p:pic>
      <p:sp>
        <p:nvSpPr>
          <p:cNvPr id="16" name="Text 9"/>
          <p:cNvSpPr txBox="1"/>
          <p:nvPr/>
        </p:nvSpPr>
        <p:spPr>
          <a:xfrm>
            <a:off x="7251009"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Product + edu</a:t>
            </a:r>
            <a:endParaRPr lang="en-US" sz="1800" dirty="0"/>
          </a:p>
        </p:txBody>
      </p:sp>
      <p:sp>
        <p:nvSpPr>
          <p:cNvPr id="17" name="Shape 10"/>
          <p:cNvSpPr/>
          <p:nvPr/>
        </p:nvSpPr>
        <p:spPr>
          <a:xfrm>
            <a:off x="9845760" y="2786866"/>
            <a:ext cx="1375707" cy="1375707"/>
          </a:xfrm>
          <a:prstGeom prst="ellipse">
            <a:avLst/>
          </a:prstGeom>
          <a:solidFill>
            <a:srgbClr val="14141F"/>
          </a:solidFill>
          <a:ln/>
        </p:spPr>
      </p:sp>
      <p:pic>
        <p:nvPicPr>
          <p:cNvPr id="18" name="Image 4" descr="preencoded.png">    </p:cNvPr>
          <p:cNvPicPr>
            <a:picLocks noChangeAspect="1"/>
          </p:cNvPicPr>
          <p:nvPr/>
        </p:nvPicPr>
        <p:blipFill>
          <a:blip r:embed="rId5"/>
          <a:stretch>
            <a:fillRect/>
          </a:stretch>
        </p:blipFill>
        <p:spPr>
          <a:xfrm>
            <a:off x="10203444" y="3144550"/>
            <a:ext cx="660340" cy="660340"/>
          </a:xfrm>
          <a:prstGeom prst="rect">
            <a:avLst/>
          </a:prstGeom>
        </p:spPr>
      </p:pic>
      <p:sp>
        <p:nvSpPr>
          <p:cNvPr id="19" name="Text 11"/>
          <p:cNvSpPr txBox="1"/>
          <p:nvPr/>
        </p:nvSpPr>
        <p:spPr>
          <a:xfrm>
            <a:off x="9469892"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B2B</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Traffic → Funnels → Offers</a:t>
            </a:r>
            <a:endParaRPr lang="en-US" sz="3000" dirty="0"/>
          </a:p>
        </p:txBody>
      </p:sp>
      <p:sp>
        <p:nvSpPr>
          <p:cNvPr id="5" name="Shape 2"/>
          <p:cNvSpPr/>
          <p:nvPr/>
        </p:nvSpPr>
        <p:spPr>
          <a:xfrm>
            <a:off x="3403549" y="3474720"/>
            <a:ext cx="1686458" cy="0"/>
          </a:xfrm>
          <a:prstGeom prst="line">
            <a:avLst/>
          </a:prstGeom>
          <a:noFill/>
          <a:ln w="38100">
            <a:solidFill>
              <a:srgbClr val="C9C9D6"/>
            </a:solidFill>
            <a:prstDash val="solid"/>
            <a:tailEnd type="triangle"/>
          </a:ln>
        </p:spPr>
      </p:sp>
      <p:sp>
        <p:nvSpPr>
          <p:cNvPr id="6" name="Shape 3"/>
          <p:cNvSpPr/>
          <p:nvPr/>
        </p:nvSpPr>
        <p:spPr>
          <a:xfrm>
            <a:off x="7101688" y="3474720"/>
            <a:ext cx="1686458" cy="0"/>
          </a:xfrm>
          <a:prstGeom prst="line">
            <a:avLst/>
          </a:prstGeom>
          <a:noFill/>
          <a:ln w="38100">
            <a:solidFill>
              <a:srgbClr val="C9C9D6"/>
            </a:solidFill>
            <a:prstDash val="solid"/>
            <a:tailEnd type="triangle"/>
          </a:ln>
        </p:spPr>
      </p:sp>
      <p:sp>
        <p:nvSpPr>
          <p:cNvPr id="7" name="Shape 4"/>
          <p:cNvSpPr/>
          <p:nvPr/>
        </p:nvSpPr>
        <p:spPr>
          <a:xfrm>
            <a:off x="1483309" y="2560320"/>
            <a:ext cx="1828800" cy="1828800"/>
          </a:xfrm>
          <a:prstGeom prst="ellipse">
            <a:avLst/>
          </a:prstGeom>
          <a:solidFill>
            <a:srgbClr val="FF4D3D"/>
          </a:solidFill>
          <a:ln/>
        </p:spPr>
      </p:sp>
      <p:pic>
        <p:nvPicPr>
          <p:cNvPr id="8" name="Image 0" descr="preencoded.png">    </p:cNvPr>
          <p:cNvPicPr>
            <a:picLocks noChangeAspect="1"/>
          </p:cNvPicPr>
          <p:nvPr/>
        </p:nvPicPr>
        <p:blipFill>
          <a:blip r:embed="rId1"/>
          <a:stretch>
            <a:fillRect/>
          </a:stretch>
        </p:blipFill>
        <p:spPr>
          <a:xfrm>
            <a:off x="1958797" y="3035808"/>
            <a:ext cx="877824" cy="877824"/>
          </a:xfrm>
          <a:prstGeom prst="rect">
            <a:avLst/>
          </a:prstGeom>
        </p:spPr>
      </p:pic>
      <p:sp>
        <p:nvSpPr>
          <p:cNvPr id="9" name="Text 5"/>
          <p:cNvSpPr txBox="1"/>
          <p:nvPr/>
        </p:nvSpPr>
        <p:spPr>
          <a:xfrm>
            <a:off x="594360"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Traffic</a:t>
            </a:r>
            <a:endParaRPr lang="en-US" sz="2200" dirty="0"/>
          </a:p>
        </p:txBody>
      </p:sp>
      <p:sp>
        <p:nvSpPr>
          <p:cNvPr id="10" name="Shape 6"/>
          <p:cNvSpPr/>
          <p:nvPr/>
        </p:nvSpPr>
        <p:spPr>
          <a:xfrm>
            <a:off x="5181448" y="2560320"/>
            <a:ext cx="1828800" cy="1828800"/>
          </a:xfrm>
          <a:prstGeom prst="ellipse">
            <a:avLst/>
          </a:prstGeom>
          <a:solidFill>
            <a:srgbClr val="14141F"/>
          </a:solidFill>
          <a:ln/>
        </p:spPr>
      </p:sp>
      <p:pic>
        <p:nvPicPr>
          <p:cNvPr id="11" name="Image 1" descr="preencoded.png">    </p:cNvPr>
          <p:cNvPicPr>
            <a:picLocks noChangeAspect="1"/>
          </p:cNvPicPr>
          <p:nvPr/>
        </p:nvPicPr>
        <p:blipFill>
          <a:blip r:embed="rId2"/>
          <a:stretch>
            <a:fillRect/>
          </a:stretch>
        </p:blipFill>
        <p:spPr>
          <a:xfrm>
            <a:off x="5656936" y="3035808"/>
            <a:ext cx="877824" cy="877824"/>
          </a:xfrm>
          <a:prstGeom prst="rect">
            <a:avLst/>
          </a:prstGeom>
        </p:spPr>
      </p:pic>
      <p:sp>
        <p:nvSpPr>
          <p:cNvPr id="12" name="Text 7"/>
          <p:cNvSpPr txBox="1"/>
          <p:nvPr/>
        </p:nvSpPr>
        <p:spPr>
          <a:xfrm>
            <a:off x="4292498"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Funnel</a:t>
            </a:r>
            <a:endParaRPr lang="en-US" sz="2200" dirty="0"/>
          </a:p>
        </p:txBody>
      </p:sp>
      <p:sp>
        <p:nvSpPr>
          <p:cNvPr id="13" name="Shape 8"/>
          <p:cNvSpPr/>
          <p:nvPr/>
        </p:nvSpPr>
        <p:spPr>
          <a:xfrm>
            <a:off x="8879586" y="2560320"/>
            <a:ext cx="1828800" cy="1828800"/>
          </a:xfrm>
          <a:prstGeom prst="ellipse">
            <a:avLst/>
          </a:prstGeom>
          <a:solidFill>
            <a:srgbClr val="FFC93C"/>
          </a:solidFill>
          <a:ln/>
        </p:spPr>
      </p:sp>
      <p:pic>
        <p:nvPicPr>
          <p:cNvPr id="14" name="Image 2" descr="preencoded.png">    </p:cNvPr>
          <p:cNvPicPr>
            <a:picLocks noChangeAspect="1"/>
          </p:cNvPicPr>
          <p:nvPr/>
        </p:nvPicPr>
        <p:blipFill>
          <a:blip r:embed="rId3"/>
          <a:stretch>
            <a:fillRect/>
          </a:stretch>
        </p:blipFill>
        <p:spPr>
          <a:xfrm>
            <a:off x="9355074" y="3035808"/>
            <a:ext cx="877824" cy="877824"/>
          </a:xfrm>
          <a:prstGeom prst="rect">
            <a:avLst/>
          </a:prstGeom>
        </p:spPr>
      </p:pic>
      <p:sp>
        <p:nvSpPr>
          <p:cNvPr id="15" name="Text 9"/>
          <p:cNvSpPr txBox="1"/>
          <p:nvPr/>
        </p:nvSpPr>
        <p:spPr>
          <a:xfrm>
            <a:off x="7990637"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Offer</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Creator vs. entrepreneur</a:t>
            </a:r>
            <a:endParaRPr lang="en-US" sz="3000" dirty="0"/>
          </a:p>
        </p:txBody>
      </p:sp>
      <p:sp>
        <p:nvSpPr>
          <p:cNvPr id="5" name="Shape 2"/>
          <p:cNvSpPr/>
          <p:nvPr/>
        </p:nvSpPr>
        <p:spPr>
          <a:xfrm>
            <a:off x="2194560" y="1737360"/>
            <a:ext cx="2560320" cy="2560320"/>
          </a:xfrm>
          <a:prstGeom prst="ellipse">
            <a:avLst/>
          </a:prstGeom>
          <a:solidFill>
            <a:srgbClr val="F4F4F8"/>
          </a:solidFill>
          <a:ln/>
        </p:spPr>
      </p:sp>
      <p:pic>
        <p:nvPicPr>
          <p:cNvPr id="6" name="Image 0" descr="preencoded.png">    </p:cNvPr>
          <p:cNvPicPr>
            <a:picLocks noChangeAspect="1"/>
          </p:cNvPicPr>
          <p:nvPr/>
        </p:nvPicPr>
        <p:blipFill>
          <a:blip r:embed="rId1"/>
          <a:stretch>
            <a:fillRect/>
          </a:stretch>
        </p:blipFill>
        <p:spPr>
          <a:xfrm>
            <a:off x="2860243" y="2403043"/>
            <a:ext cx="1228954" cy="1228954"/>
          </a:xfrm>
          <a:prstGeom prst="rect">
            <a:avLst/>
          </a:prstGeom>
        </p:spPr>
      </p:pic>
      <p:sp>
        <p:nvSpPr>
          <p:cNvPr id="7" name="Shape 3"/>
          <p:cNvSpPr/>
          <p:nvPr/>
        </p:nvSpPr>
        <p:spPr>
          <a:xfrm>
            <a:off x="7406640" y="1737360"/>
            <a:ext cx="2560320" cy="2560320"/>
          </a:xfrm>
          <a:prstGeom prst="ellipse">
            <a:avLst/>
          </a:prstGeom>
          <a:solidFill>
            <a:srgbClr val="FF4D3D"/>
          </a:solidFill>
          <a:ln/>
        </p:spPr>
      </p:sp>
      <p:pic>
        <p:nvPicPr>
          <p:cNvPr id="8" name="Image 1" descr="preencoded.png">    </p:cNvPr>
          <p:cNvPicPr>
            <a:picLocks noChangeAspect="1"/>
          </p:cNvPicPr>
          <p:nvPr/>
        </p:nvPicPr>
        <p:blipFill>
          <a:blip r:embed="rId2"/>
          <a:stretch>
            <a:fillRect/>
          </a:stretch>
        </p:blipFill>
        <p:spPr>
          <a:xfrm>
            <a:off x="8072323" y="2403043"/>
            <a:ext cx="1228954" cy="1228954"/>
          </a:xfrm>
          <a:prstGeom prst="rect">
            <a:avLst/>
          </a:prstGeom>
        </p:spPr>
      </p:pic>
      <p:sp>
        <p:nvSpPr>
          <p:cNvPr id="9" name="Text 4"/>
          <p:cNvSpPr txBox="1"/>
          <p:nvPr/>
        </p:nvSpPr>
        <p:spPr>
          <a:xfrm>
            <a:off x="5120640" y="2560320"/>
            <a:ext cx="1920240" cy="914400"/>
          </a:xfrm>
          <a:prstGeom prst="rect">
            <a:avLst/>
          </a:prstGeom>
          <a:noFill/>
          <a:ln/>
        </p:spPr>
        <p:txBody>
          <a:bodyPr wrap="square" lIns="0" tIns="0" rIns="0" bIns="0" rtlCol="0" anchor="t"/>
          <a:lstStyle/>
          <a:p>
            <a:pPr algn="ctr" indent="0" marL="0">
              <a:buNone/>
            </a:pPr>
            <a:r>
              <a:rPr lang="en-US" sz="4000" b="1" dirty="0">
                <a:solidFill>
                  <a:srgbClr val="C9C9D6"/>
                </a:solidFill>
                <a:latin typeface="Arial" pitchFamily="34" charset="0"/>
                <a:ea typeface="Arial" pitchFamily="34" charset="-122"/>
                <a:cs typeface="Arial" pitchFamily="34" charset="-120"/>
              </a:rPr>
              <a:t>vs.</a:t>
            </a:r>
            <a:endParaRPr lang="en-US" sz="4000" dirty="0"/>
          </a:p>
        </p:txBody>
      </p:sp>
      <p:sp>
        <p:nvSpPr>
          <p:cNvPr id="10" name="Text 5"/>
          <p:cNvSpPr txBox="1"/>
          <p:nvPr/>
        </p:nvSpPr>
        <p:spPr>
          <a:xfrm>
            <a:off x="1463040" y="4572000"/>
            <a:ext cx="4023360" cy="640080"/>
          </a:xfrm>
          <a:prstGeom prst="rect">
            <a:avLst/>
          </a:prstGeom>
          <a:noFill/>
          <a:ln/>
        </p:spPr>
        <p:txBody>
          <a:bodyPr wrap="square" lIns="0" tIns="0" rIns="0" bIns="0" rtlCol="0" anchor="t"/>
          <a:lstStyle/>
          <a:p>
            <a:pPr algn="ctr" indent="0" marL="0">
              <a:buNone/>
            </a:pPr>
            <a:r>
              <a:rPr lang="en-US" sz="2600" b="1" dirty="0">
                <a:solidFill>
                  <a:srgbClr val="5B5B6B"/>
                </a:solidFill>
                <a:latin typeface="Arial" pitchFamily="34" charset="0"/>
                <a:ea typeface="Arial" pitchFamily="34" charset="-122"/>
                <a:cs typeface="Arial" pitchFamily="34" charset="-120"/>
              </a:rPr>
              <a:t>Creator</a:t>
            </a:r>
            <a:endParaRPr lang="en-US" sz="2600" dirty="0"/>
          </a:p>
        </p:txBody>
      </p:sp>
      <p:sp>
        <p:nvSpPr>
          <p:cNvPr id="11" name="Text 6"/>
          <p:cNvSpPr txBox="1"/>
          <p:nvPr/>
        </p:nvSpPr>
        <p:spPr>
          <a:xfrm>
            <a:off x="6675120" y="4572000"/>
            <a:ext cx="4023360" cy="640080"/>
          </a:xfrm>
          <a:prstGeom prst="rect">
            <a:avLst/>
          </a:prstGeom>
          <a:noFill/>
          <a:ln/>
        </p:spPr>
        <p:txBody>
          <a:bodyPr wrap="square" lIns="0" tIns="0" rIns="0" bIns="0" rtlCol="0" anchor="t"/>
          <a:lstStyle/>
          <a:p>
            <a:pPr algn="ctr" indent="0" marL="0">
              <a:buNone/>
            </a:pPr>
            <a:r>
              <a:rPr lang="en-US" sz="2600" b="1" dirty="0">
                <a:solidFill>
                  <a:srgbClr val="14141F"/>
                </a:solidFill>
                <a:latin typeface="Arial" pitchFamily="34" charset="0"/>
                <a:ea typeface="Arial" pitchFamily="34" charset="-122"/>
                <a:cs typeface="Arial" pitchFamily="34" charset="-120"/>
              </a:rPr>
              <a:t>Entrepreneur</a:t>
            </a:r>
            <a:endParaRPr lang="en-US"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Content minutes</a:t>
            </a:r>
            <a:endParaRPr lang="en-US" sz="3000" dirty="0"/>
          </a:p>
        </p:txBody>
      </p:sp>
      <p:graphicFrame>
        <p:nvGraphicFramePr>
          <p:cNvPr id="5" name="Chart 0" descr=""/>
          <p:cNvGraphicFramePr/>
          <p:nvPr/>
        </p:nvGraphicFramePr>
        <p:xfrm>
          <a:off x="548640" y="1554480"/>
          <a:ext cx="5669280" cy="4663440"/>
        </p:xfrm>
        <a:graphic xmlns:a="http://schemas.openxmlformats.org/drawingml/2006/main">
          <a:graphicData uri="http://schemas.openxmlformats.org/drawingml/2006/chart">
            <c:chart xmlns:c="http://schemas.openxmlformats.org/drawingml/2006/chart" r:id="rId1"/>
          </a:graphicData>
        </a:graphic>
      </p:graphicFrame>
      <p:pic>
        <p:nvPicPr>
          <p:cNvPr id="6" name="Image 0" descr="preencoded.png">    </p:cNvPr>
          <p:cNvPicPr>
            <a:picLocks noChangeAspect="1"/>
          </p:cNvPicPr>
          <p:nvPr/>
        </p:nvPicPr>
        <p:blipFill>
          <a:blip r:embed="rId2"/>
          <a:stretch>
            <a:fillRect/>
          </a:stretch>
        </p:blipFill>
        <p:spPr>
          <a:xfrm>
            <a:off x="6675120" y="2011680"/>
            <a:ext cx="411480" cy="594360"/>
          </a:xfrm>
          <a:prstGeom prst="rect">
            <a:avLst/>
          </a:prstGeom>
        </p:spPr>
      </p:pic>
      <p:pic>
        <p:nvPicPr>
          <p:cNvPr id="7" name="Image 1" descr="preencoded.png">    </p:cNvPr>
          <p:cNvPicPr>
            <a:picLocks noChangeAspect="1"/>
          </p:cNvPicPr>
          <p:nvPr/>
        </p:nvPicPr>
        <p:blipFill>
          <a:blip r:embed="rId3"/>
          <a:stretch>
            <a:fillRect/>
          </a:stretch>
        </p:blipFill>
        <p:spPr>
          <a:xfrm>
            <a:off x="7178040" y="2011680"/>
            <a:ext cx="411480" cy="594360"/>
          </a:xfrm>
          <a:prstGeom prst="rect">
            <a:avLst/>
          </a:prstGeom>
        </p:spPr>
      </p:pic>
      <p:pic>
        <p:nvPicPr>
          <p:cNvPr id="8" name="Image 2" descr="preencoded.png">    </p:cNvPr>
          <p:cNvPicPr>
            <a:picLocks noChangeAspect="1"/>
          </p:cNvPicPr>
          <p:nvPr/>
        </p:nvPicPr>
        <p:blipFill>
          <a:blip r:embed="rId4"/>
          <a:stretch>
            <a:fillRect/>
          </a:stretch>
        </p:blipFill>
        <p:spPr>
          <a:xfrm>
            <a:off x="7680960" y="2011680"/>
            <a:ext cx="411480" cy="594360"/>
          </a:xfrm>
          <a:prstGeom prst="rect">
            <a:avLst/>
          </a:prstGeom>
        </p:spPr>
      </p:pic>
      <p:pic>
        <p:nvPicPr>
          <p:cNvPr id="9" name="Image 3" descr="preencoded.png">    </p:cNvPr>
          <p:cNvPicPr>
            <a:picLocks noChangeAspect="1"/>
          </p:cNvPicPr>
          <p:nvPr/>
        </p:nvPicPr>
        <p:blipFill>
          <a:blip r:embed="rId5"/>
          <a:stretch>
            <a:fillRect/>
          </a:stretch>
        </p:blipFill>
        <p:spPr>
          <a:xfrm>
            <a:off x="8183880" y="2011680"/>
            <a:ext cx="411480" cy="594360"/>
          </a:xfrm>
          <a:prstGeom prst="rect">
            <a:avLst/>
          </a:prstGeom>
        </p:spPr>
      </p:pic>
      <p:pic>
        <p:nvPicPr>
          <p:cNvPr id="10" name="Image 4" descr="preencoded.png">    </p:cNvPr>
          <p:cNvPicPr>
            <a:picLocks noChangeAspect="1"/>
          </p:cNvPicPr>
          <p:nvPr/>
        </p:nvPicPr>
        <p:blipFill>
          <a:blip r:embed="rId6"/>
          <a:stretch>
            <a:fillRect/>
          </a:stretch>
        </p:blipFill>
        <p:spPr>
          <a:xfrm>
            <a:off x="8686800" y="2011680"/>
            <a:ext cx="411480" cy="594360"/>
          </a:xfrm>
          <a:prstGeom prst="rect">
            <a:avLst/>
          </a:prstGeom>
        </p:spPr>
      </p:pic>
      <p:pic>
        <p:nvPicPr>
          <p:cNvPr id="11" name="Image 5" descr="preencoded.png">    </p:cNvPr>
          <p:cNvPicPr>
            <a:picLocks noChangeAspect="1"/>
          </p:cNvPicPr>
          <p:nvPr/>
        </p:nvPicPr>
        <p:blipFill>
          <a:blip r:embed="rId7"/>
          <a:stretch>
            <a:fillRect/>
          </a:stretch>
        </p:blipFill>
        <p:spPr>
          <a:xfrm>
            <a:off x="6675120" y="2788920"/>
            <a:ext cx="411480" cy="594360"/>
          </a:xfrm>
          <a:prstGeom prst="rect">
            <a:avLst/>
          </a:prstGeom>
        </p:spPr>
      </p:pic>
      <p:pic>
        <p:nvPicPr>
          <p:cNvPr id="12" name="Image 6" descr="preencoded.png">    </p:cNvPr>
          <p:cNvPicPr>
            <a:picLocks noChangeAspect="1"/>
          </p:cNvPicPr>
          <p:nvPr/>
        </p:nvPicPr>
        <p:blipFill>
          <a:blip r:embed="rId8"/>
          <a:stretch>
            <a:fillRect/>
          </a:stretch>
        </p:blipFill>
        <p:spPr>
          <a:xfrm>
            <a:off x="7178040" y="2788920"/>
            <a:ext cx="411480" cy="594360"/>
          </a:xfrm>
          <a:prstGeom prst="rect">
            <a:avLst/>
          </a:prstGeom>
        </p:spPr>
      </p:pic>
      <p:pic>
        <p:nvPicPr>
          <p:cNvPr id="13" name="Image 7" descr="preencoded.png">    </p:cNvPr>
          <p:cNvPicPr>
            <a:picLocks noChangeAspect="1"/>
          </p:cNvPicPr>
          <p:nvPr/>
        </p:nvPicPr>
        <p:blipFill>
          <a:blip r:embed="rId9"/>
          <a:stretch>
            <a:fillRect/>
          </a:stretch>
        </p:blipFill>
        <p:spPr>
          <a:xfrm>
            <a:off x="7680960" y="2788920"/>
            <a:ext cx="411480" cy="594360"/>
          </a:xfrm>
          <a:prstGeom prst="rect">
            <a:avLst/>
          </a:prstGeom>
        </p:spPr>
      </p:pic>
      <p:pic>
        <p:nvPicPr>
          <p:cNvPr id="14" name="Image 8" descr="preencoded.png">    </p:cNvPr>
          <p:cNvPicPr>
            <a:picLocks noChangeAspect="1"/>
          </p:cNvPicPr>
          <p:nvPr/>
        </p:nvPicPr>
        <p:blipFill>
          <a:blip r:embed="rId10"/>
          <a:stretch>
            <a:fillRect/>
          </a:stretch>
        </p:blipFill>
        <p:spPr>
          <a:xfrm>
            <a:off x="8183880" y="2788920"/>
            <a:ext cx="411480" cy="594360"/>
          </a:xfrm>
          <a:prstGeom prst="rect">
            <a:avLst/>
          </a:prstGeom>
        </p:spPr>
      </p:pic>
      <p:pic>
        <p:nvPicPr>
          <p:cNvPr id="15" name="Image 9" descr="preencoded.png">    </p:cNvPr>
          <p:cNvPicPr>
            <a:picLocks noChangeAspect="1"/>
          </p:cNvPicPr>
          <p:nvPr/>
        </p:nvPicPr>
        <p:blipFill>
          <a:blip r:embed="rId11"/>
          <a:stretch>
            <a:fillRect/>
          </a:stretch>
        </p:blipFill>
        <p:spPr>
          <a:xfrm>
            <a:off x="8686800" y="2788920"/>
            <a:ext cx="411480" cy="594360"/>
          </a:xfrm>
          <a:prstGeom prst="rect">
            <a:avLst/>
          </a:prstGeom>
        </p:spPr>
      </p:pic>
      <p:pic>
        <p:nvPicPr>
          <p:cNvPr id="16" name="Image 10" descr="preencoded.png">    </p:cNvPr>
          <p:cNvPicPr>
            <a:picLocks noChangeAspect="1"/>
          </p:cNvPicPr>
          <p:nvPr/>
        </p:nvPicPr>
        <p:blipFill>
          <a:blip r:embed="rId12"/>
          <a:stretch>
            <a:fillRect/>
          </a:stretch>
        </p:blipFill>
        <p:spPr>
          <a:xfrm>
            <a:off x="6675120" y="3566160"/>
            <a:ext cx="411480" cy="594360"/>
          </a:xfrm>
          <a:prstGeom prst="rect">
            <a:avLst/>
          </a:prstGeom>
        </p:spPr>
      </p:pic>
      <p:pic>
        <p:nvPicPr>
          <p:cNvPr id="17" name="Image 11" descr="preencoded.png">    </p:cNvPr>
          <p:cNvPicPr>
            <a:picLocks noChangeAspect="1"/>
          </p:cNvPicPr>
          <p:nvPr/>
        </p:nvPicPr>
        <p:blipFill>
          <a:blip r:embed="rId13"/>
          <a:stretch>
            <a:fillRect/>
          </a:stretch>
        </p:blipFill>
        <p:spPr>
          <a:xfrm>
            <a:off x="7178040" y="3566160"/>
            <a:ext cx="411480" cy="594360"/>
          </a:xfrm>
          <a:prstGeom prst="rect">
            <a:avLst/>
          </a:prstGeom>
        </p:spPr>
      </p:pic>
      <p:pic>
        <p:nvPicPr>
          <p:cNvPr id="18" name="Image 12" descr="preencoded.png">    </p:cNvPr>
          <p:cNvPicPr>
            <a:picLocks noChangeAspect="1"/>
          </p:cNvPicPr>
          <p:nvPr/>
        </p:nvPicPr>
        <p:blipFill>
          <a:blip r:embed="rId14"/>
          <a:stretch>
            <a:fillRect/>
          </a:stretch>
        </p:blipFill>
        <p:spPr>
          <a:xfrm>
            <a:off x="7680960" y="3566160"/>
            <a:ext cx="411480" cy="594360"/>
          </a:xfrm>
          <a:prstGeom prst="rect">
            <a:avLst/>
          </a:prstGeom>
        </p:spPr>
      </p:pic>
      <p:pic>
        <p:nvPicPr>
          <p:cNvPr id="19" name="Image 13" descr="preencoded.png">    </p:cNvPr>
          <p:cNvPicPr>
            <a:picLocks noChangeAspect="1"/>
          </p:cNvPicPr>
          <p:nvPr/>
        </p:nvPicPr>
        <p:blipFill>
          <a:blip r:embed="rId15"/>
          <a:stretch>
            <a:fillRect/>
          </a:stretch>
        </p:blipFill>
        <p:spPr>
          <a:xfrm>
            <a:off x="8183880" y="3566160"/>
            <a:ext cx="411480" cy="594360"/>
          </a:xfrm>
          <a:prstGeom prst="rect">
            <a:avLst/>
          </a:prstGeom>
        </p:spPr>
      </p:pic>
      <p:pic>
        <p:nvPicPr>
          <p:cNvPr id="20" name="Image 14" descr="preencoded.png">    </p:cNvPr>
          <p:cNvPicPr>
            <a:picLocks noChangeAspect="1"/>
          </p:cNvPicPr>
          <p:nvPr/>
        </p:nvPicPr>
        <p:blipFill>
          <a:blip r:embed="rId16"/>
          <a:stretch>
            <a:fillRect/>
          </a:stretch>
        </p:blipFill>
        <p:spPr>
          <a:xfrm>
            <a:off x="8686800" y="3566160"/>
            <a:ext cx="411480" cy="594360"/>
          </a:xfrm>
          <a:prstGeom prst="rect">
            <a:avLst/>
          </a:prstGeom>
        </p:spPr>
      </p:pic>
      <p:pic>
        <p:nvPicPr>
          <p:cNvPr id="21" name="Image 15" descr="preencoded.png">    </p:cNvPr>
          <p:cNvPicPr>
            <a:picLocks noChangeAspect="1"/>
          </p:cNvPicPr>
          <p:nvPr/>
        </p:nvPicPr>
        <p:blipFill>
          <a:blip r:embed="rId17"/>
          <a:stretch>
            <a:fillRect/>
          </a:stretch>
        </p:blipFill>
        <p:spPr>
          <a:xfrm>
            <a:off x="6675120" y="4343400"/>
            <a:ext cx="411480" cy="594360"/>
          </a:xfrm>
          <a:prstGeom prst="rect">
            <a:avLst/>
          </a:prstGeom>
        </p:spPr>
      </p:pic>
      <p:pic>
        <p:nvPicPr>
          <p:cNvPr id="22" name="Image 16" descr="preencoded.png">    </p:cNvPr>
          <p:cNvPicPr>
            <a:picLocks noChangeAspect="1"/>
          </p:cNvPicPr>
          <p:nvPr/>
        </p:nvPicPr>
        <p:blipFill>
          <a:blip r:embed="rId18"/>
          <a:stretch>
            <a:fillRect/>
          </a:stretch>
        </p:blipFill>
        <p:spPr>
          <a:xfrm>
            <a:off x="7178040" y="4343400"/>
            <a:ext cx="411480" cy="594360"/>
          </a:xfrm>
          <a:prstGeom prst="rect">
            <a:avLst/>
          </a:prstGeom>
        </p:spPr>
      </p:pic>
      <p:pic>
        <p:nvPicPr>
          <p:cNvPr id="23" name="Image 17" descr="preencoded.png">    </p:cNvPr>
          <p:cNvPicPr>
            <a:picLocks noChangeAspect="1"/>
          </p:cNvPicPr>
          <p:nvPr/>
        </p:nvPicPr>
        <p:blipFill>
          <a:blip r:embed="rId19"/>
          <a:stretch>
            <a:fillRect/>
          </a:stretch>
        </p:blipFill>
        <p:spPr>
          <a:xfrm>
            <a:off x="7680960" y="4343400"/>
            <a:ext cx="411480" cy="594360"/>
          </a:xfrm>
          <a:prstGeom prst="rect">
            <a:avLst/>
          </a:prstGeom>
        </p:spPr>
      </p:pic>
      <p:pic>
        <p:nvPicPr>
          <p:cNvPr id="24" name="Image 18" descr="preencoded.png">    </p:cNvPr>
          <p:cNvPicPr>
            <a:picLocks noChangeAspect="1"/>
          </p:cNvPicPr>
          <p:nvPr/>
        </p:nvPicPr>
        <p:blipFill>
          <a:blip r:embed="rId20"/>
          <a:stretch>
            <a:fillRect/>
          </a:stretch>
        </p:blipFill>
        <p:spPr>
          <a:xfrm>
            <a:off x="8183880" y="4343400"/>
            <a:ext cx="411480" cy="594360"/>
          </a:xfrm>
          <a:prstGeom prst="rect">
            <a:avLst/>
          </a:prstGeom>
        </p:spPr>
      </p:pic>
      <p:pic>
        <p:nvPicPr>
          <p:cNvPr id="25" name="Image 19" descr="preencoded.png">    </p:cNvPr>
          <p:cNvPicPr>
            <a:picLocks noChangeAspect="1"/>
          </p:cNvPicPr>
          <p:nvPr/>
        </p:nvPicPr>
        <p:blipFill>
          <a:blip r:embed="rId21"/>
          <a:stretch>
            <a:fillRect/>
          </a:stretch>
        </p:blipFill>
        <p:spPr>
          <a:xfrm>
            <a:off x="8686800" y="4343400"/>
            <a:ext cx="411480" cy="594360"/>
          </a:xfrm>
          <a:prstGeom prst="rect">
            <a:avLst/>
          </a:prstGeom>
        </p:spPr>
      </p:pic>
      <p:sp>
        <p:nvSpPr>
          <p:cNvPr id="26" name="Text 2"/>
          <p:cNvSpPr txBox="1"/>
          <p:nvPr/>
        </p:nvSpPr>
        <p:spPr>
          <a:xfrm>
            <a:off x="9144000" y="2926080"/>
            <a:ext cx="640080" cy="914400"/>
          </a:xfrm>
          <a:prstGeom prst="rect">
            <a:avLst/>
          </a:prstGeom>
          <a:noFill/>
          <a:ln/>
        </p:spPr>
        <p:txBody>
          <a:bodyPr wrap="square" lIns="0" tIns="0" rIns="0" bIns="0" rtlCol="0" anchor="t"/>
          <a:lstStyle/>
          <a:p>
            <a:pPr algn="ctr" indent="0" marL="0">
              <a:buNone/>
            </a:pPr>
            <a:r>
              <a:rPr lang="en-US" sz="4400" b="1" dirty="0">
                <a:solidFill>
                  <a:srgbClr val="C9C9D6"/>
                </a:solidFill>
                <a:latin typeface="Arial" pitchFamily="34" charset="0"/>
                <a:ea typeface="Arial" pitchFamily="34" charset="-122"/>
                <a:cs typeface="Arial" pitchFamily="34" charset="-120"/>
              </a:rPr>
              <a:t>=</a:t>
            </a:r>
            <a:endParaRPr lang="en-US" sz="4400" dirty="0"/>
          </a:p>
        </p:txBody>
      </p:sp>
      <p:pic>
        <p:nvPicPr>
          <p:cNvPr id="27" name="Image 20" descr="preencoded.png">    </p:cNvPr>
          <p:cNvPicPr>
            <a:picLocks noChangeAspect="1"/>
          </p:cNvPicPr>
          <p:nvPr/>
        </p:nvPicPr>
        <p:blipFill>
          <a:blip r:embed="rId22"/>
          <a:stretch>
            <a:fillRect/>
          </a:stretch>
        </p:blipFill>
        <p:spPr>
          <a:xfrm>
            <a:off x="9875520" y="2651760"/>
            <a:ext cx="1737360" cy="17373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02</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Brand foundation</a:t>
            </a:r>
            <a:endParaRPr lang="en-US" sz="4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2</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Brand = pairing, repeated</a:t>
            </a:r>
            <a:endParaRPr lang="en-US" sz="3000" dirty="0"/>
          </a:p>
        </p:txBody>
      </p:sp>
      <p:sp>
        <p:nvSpPr>
          <p:cNvPr id="5" name="Shape 2"/>
          <p:cNvSpPr/>
          <p:nvPr/>
        </p:nvSpPr>
        <p:spPr>
          <a:xfrm>
            <a:off x="2926080" y="1828800"/>
            <a:ext cx="1234440" cy="1234440"/>
          </a:xfrm>
          <a:prstGeom prst="ellipse">
            <a:avLst/>
          </a:prstGeom>
          <a:solidFill>
            <a:srgbClr val="14141F"/>
          </a:solidFill>
          <a:ln/>
        </p:spPr>
      </p:sp>
      <p:pic>
        <p:nvPicPr>
          <p:cNvPr id="6" name="Image 0" descr="preencoded.png">    </p:cNvPr>
          <p:cNvPicPr>
            <a:picLocks noChangeAspect="1"/>
          </p:cNvPicPr>
          <p:nvPr/>
        </p:nvPicPr>
        <p:blipFill>
          <a:blip r:embed="rId1"/>
          <a:stretch>
            <a:fillRect/>
          </a:stretch>
        </p:blipFill>
        <p:spPr>
          <a:xfrm>
            <a:off x="3247034" y="2149754"/>
            <a:ext cx="592531" cy="592531"/>
          </a:xfrm>
          <a:prstGeom prst="rect">
            <a:avLst/>
          </a:prstGeom>
        </p:spPr>
      </p:pic>
      <p:sp>
        <p:nvSpPr>
          <p:cNvPr id="7" name="Text 3"/>
          <p:cNvSpPr txBox="1"/>
          <p:nvPr/>
        </p:nvSpPr>
        <p:spPr>
          <a:xfrm>
            <a:off x="4389120" y="1828800"/>
            <a:ext cx="914400" cy="1234440"/>
          </a:xfrm>
          <a:prstGeom prst="rect">
            <a:avLst/>
          </a:prstGeom>
          <a:noFill/>
          <a:ln/>
        </p:spPr>
        <p:txBody>
          <a:bodyPr wrap="square" lIns="0" tIns="0" rIns="0" bIns="0" rtlCol="0" anchor="ctr"/>
          <a:lstStyle/>
          <a:p>
            <a:pPr algn="ctr" indent="0" marL="0">
              <a:buNone/>
            </a:pPr>
            <a:r>
              <a:rPr lang="en-US" sz="4000" b="1" dirty="0">
                <a:solidFill>
                  <a:srgbClr val="C9C9D6"/>
                </a:solidFill>
                <a:latin typeface="Arial" pitchFamily="34" charset="0"/>
                <a:ea typeface="Arial" pitchFamily="34" charset="-122"/>
                <a:cs typeface="Arial" pitchFamily="34" charset="-120"/>
              </a:rPr>
              <a:t>+</a:t>
            </a:r>
            <a:endParaRPr lang="en-US" sz="4000" dirty="0"/>
          </a:p>
        </p:txBody>
      </p:sp>
      <p:sp>
        <p:nvSpPr>
          <p:cNvPr id="8" name="Shape 4"/>
          <p:cNvSpPr/>
          <p:nvPr/>
        </p:nvSpPr>
        <p:spPr>
          <a:xfrm>
            <a:off x="5486400" y="1828800"/>
            <a:ext cx="1234440" cy="1234440"/>
          </a:xfrm>
          <a:prstGeom prst="ellipse">
            <a:avLst/>
          </a:prstGeom>
          <a:solidFill>
            <a:srgbClr val="FFC93C"/>
          </a:solidFill>
          <a:ln/>
        </p:spPr>
      </p:sp>
      <p:pic>
        <p:nvPicPr>
          <p:cNvPr id="9" name="Image 1" descr="preencoded.png">    </p:cNvPr>
          <p:cNvPicPr>
            <a:picLocks noChangeAspect="1"/>
          </p:cNvPicPr>
          <p:nvPr/>
        </p:nvPicPr>
        <p:blipFill>
          <a:blip r:embed="rId2"/>
          <a:stretch>
            <a:fillRect/>
          </a:stretch>
        </p:blipFill>
        <p:spPr>
          <a:xfrm>
            <a:off x="5807354" y="2149754"/>
            <a:ext cx="592531" cy="592531"/>
          </a:xfrm>
          <a:prstGeom prst="rect">
            <a:avLst/>
          </a:prstGeom>
        </p:spPr>
      </p:pic>
      <p:sp>
        <p:nvSpPr>
          <p:cNvPr id="10" name="Text 5"/>
          <p:cNvSpPr txBox="1"/>
          <p:nvPr/>
        </p:nvSpPr>
        <p:spPr>
          <a:xfrm>
            <a:off x="6949440" y="1828800"/>
            <a:ext cx="914400" cy="1234440"/>
          </a:xfrm>
          <a:prstGeom prst="rect">
            <a:avLst/>
          </a:prstGeom>
          <a:noFill/>
          <a:ln/>
        </p:spPr>
        <p:txBody>
          <a:bodyPr wrap="square" lIns="0" tIns="0" rIns="0" bIns="0" rtlCol="0" anchor="ctr"/>
          <a:lstStyle/>
          <a:p>
            <a:pPr algn="ctr" indent="0" marL="0">
              <a:buNone/>
            </a:pPr>
            <a:r>
              <a:rPr lang="en-US" sz="4000" b="1" dirty="0">
                <a:solidFill>
                  <a:srgbClr val="C9C9D6"/>
                </a:solidFill>
                <a:latin typeface="Arial" pitchFamily="34" charset="0"/>
                <a:ea typeface="Arial" pitchFamily="34" charset="-122"/>
                <a:cs typeface="Arial" pitchFamily="34" charset="-120"/>
              </a:rPr>
              <a:t>=</a:t>
            </a:r>
            <a:endParaRPr lang="en-US" sz="4000" dirty="0"/>
          </a:p>
        </p:txBody>
      </p:sp>
      <p:sp>
        <p:nvSpPr>
          <p:cNvPr id="11" name="Shape 6"/>
          <p:cNvSpPr/>
          <p:nvPr/>
        </p:nvSpPr>
        <p:spPr>
          <a:xfrm>
            <a:off x="8046720" y="1828800"/>
            <a:ext cx="1234440" cy="1234440"/>
          </a:xfrm>
          <a:prstGeom prst="ellipse">
            <a:avLst/>
          </a:prstGeom>
          <a:solidFill>
            <a:srgbClr val="FF4D3D"/>
          </a:solidFill>
          <a:ln/>
        </p:spPr>
      </p:sp>
      <p:pic>
        <p:nvPicPr>
          <p:cNvPr id="12" name="Image 2" descr="preencoded.png">    </p:cNvPr>
          <p:cNvPicPr>
            <a:picLocks noChangeAspect="1"/>
          </p:cNvPicPr>
          <p:nvPr/>
        </p:nvPicPr>
        <p:blipFill>
          <a:blip r:embed="rId3"/>
          <a:stretch>
            <a:fillRect/>
          </a:stretch>
        </p:blipFill>
        <p:spPr>
          <a:xfrm>
            <a:off x="8367674" y="2149754"/>
            <a:ext cx="592531" cy="592531"/>
          </a:xfrm>
          <a:prstGeom prst="rect">
            <a:avLst/>
          </a:prstGeom>
        </p:spPr>
      </p:pic>
      <p:sp>
        <p:nvSpPr>
          <p:cNvPr id="13" name="Shape 7"/>
          <p:cNvSpPr/>
          <p:nvPr/>
        </p:nvSpPr>
        <p:spPr>
          <a:xfrm>
            <a:off x="2926080" y="3383280"/>
            <a:ext cx="1234440" cy="1234440"/>
          </a:xfrm>
          <a:prstGeom prst="ellipse">
            <a:avLst/>
          </a:prstGeom>
          <a:solidFill>
            <a:srgbClr val="14141F"/>
          </a:solidFill>
          <a:ln/>
        </p:spPr>
      </p:sp>
      <p:pic>
        <p:nvPicPr>
          <p:cNvPr id="14" name="Image 3" descr="preencoded.png">    </p:cNvPr>
          <p:cNvPicPr>
            <a:picLocks noChangeAspect="1"/>
          </p:cNvPicPr>
          <p:nvPr/>
        </p:nvPicPr>
        <p:blipFill>
          <a:blip r:embed="rId4"/>
          <a:stretch>
            <a:fillRect/>
          </a:stretch>
        </p:blipFill>
        <p:spPr>
          <a:xfrm>
            <a:off x="3247034" y="3704234"/>
            <a:ext cx="592531" cy="592531"/>
          </a:xfrm>
          <a:prstGeom prst="rect">
            <a:avLst/>
          </a:prstGeom>
        </p:spPr>
      </p:pic>
      <p:sp>
        <p:nvSpPr>
          <p:cNvPr id="15" name="Text 8"/>
          <p:cNvSpPr txBox="1"/>
          <p:nvPr/>
        </p:nvSpPr>
        <p:spPr>
          <a:xfrm>
            <a:off x="4389120" y="3383280"/>
            <a:ext cx="914400" cy="1234440"/>
          </a:xfrm>
          <a:prstGeom prst="rect">
            <a:avLst/>
          </a:prstGeom>
          <a:noFill/>
          <a:ln/>
        </p:spPr>
        <p:txBody>
          <a:bodyPr wrap="square" lIns="0" tIns="0" rIns="0" bIns="0" rtlCol="0" anchor="ctr"/>
          <a:lstStyle/>
          <a:p>
            <a:pPr algn="ctr" indent="0" marL="0">
              <a:buNone/>
            </a:pPr>
            <a:r>
              <a:rPr lang="en-US" sz="4000" b="1" dirty="0">
                <a:solidFill>
                  <a:srgbClr val="C9C9D6"/>
                </a:solidFill>
                <a:latin typeface="Arial" pitchFamily="34" charset="0"/>
                <a:ea typeface="Arial" pitchFamily="34" charset="-122"/>
                <a:cs typeface="Arial" pitchFamily="34" charset="-120"/>
              </a:rPr>
              <a:t>+</a:t>
            </a:r>
            <a:endParaRPr lang="en-US" sz="4000" dirty="0"/>
          </a:p>
        </p:txBody>
      </p:sp>
      <p:sp>
        <p:nvSpPr>
          <p:cNvPr id="16" name="Shape 9"/>
          <p:cNvSpPr/>
          <p:nvPr/>
        </p:nvSpPr>
        <p:spPr>
          <a:xfrm>
            <a:off x="5486400" y="3383280"/>
            <a:ext cx="1234440" cy="1234440"/>
          </a:xfrm>
          <a:prstGeom prst="ellipse">
            <a:avLst/>
          </a:prstGeom>
          <a:solidFill>
            <a:srgbClr val="FFC93C"/>
          </a:solidFill>
          <a:ln/>
        </p:spPr>
      </p:sp>
      <p:pic>
        <p:nvPicPr>
          <p:cNvPr id="17" name="Image 4" descr="preencoded.png">    </p:cNvPr>
          <p:cNvPicPr>
            <a:picLocks noChangeAspect="1"/>
          </p:cNvPicPr>
          <p:nvPr/>
        </p:nvPicPr>
        <p:blipFill>
          <a:blip r:embed="rId5"/>
          <a:stretch>
            <a:fillRect/>
          </a:stretch>
        </p:blipFill>
        <p:spPr>
          <a:xfrm>
            <a:off x="5807354" y="3704234"/>
            <a:ext cx="592531" cy="592531"/>
          </a:xfrm>
          <a:prstGeom prst="rect">
            <a:avLst/>
          </a:prstGeom>
        </p:spPr>
      </p:pic>
      <p:sp>
        <p:nvSpPr>
          <p:cNvPr id="18" name="Text 10"/>
          <p:cNvSpPr txBox="1"/>
          <p:nvPr/>
        </p:nvSpPr>
        <p:spPr>
          <a:xfrm>
            <a:off x="6949440" y="3383280"/>
            <a:ext cx="914400" cy="1234440"/>
          </a:xfrm>
          <a:prstGeom prst="rect">
            <a:avLst/>
          </a:prstGeom>
          <a:noFill/>
          <a:ln/>
        </p:spPr>
        <p:txBody>
          <a:bodyPr wrap="square" lIns="0" tIns="0" rIns="0" bIns="0" rtlCol="0" anchor="ctr"/>
          <a:lstStyle/>
          <a:p>
            <a:pPr algn="ctr" indent="0" marL="0">
              <a:buNone/>
            </a:pPr>
            <a:r>
              <a:rPr lang="en-US" sz="4000" b="1" dirty="0">
                <a:solidFill>
                  <a:srgbClr val="C9C9D6"/>
                </a:solidFill>
                <a:latin typeface="Arial" pitchFamily="34" charset="0"/>
                <a:ea typeface="Arial" pitchFamily="34" charset="-122"/>
                <a:cs typeface="Arial" pitchFamily="34" charset="-120"/>
              </a:rPr>
              <a:t>=</a:t>
            </a:r>
            <a:endParaRPr lang="en-US" sz="4000" dirty="0"/>
          </a:p>
        </p:txBody>
      </p:sp>
      <p:sp>
        <p:nvSpPr>
          <p:cNvPr id="19" name="Shape 11"/>
          <p:cNvSpPr/>
          <p:nvPr/>
        </p:nvSpPr>
        <p:spPr>
          <a:xfrm>
            <a:off x="8046720" y="3383280"/>
            <a:ext cx="1234440" cy="1234440"/>
          </a:xfrm>
          <a:prstGeom prst="ellipse">
            <a:avLst/>
          </a:prstGeom>
          <a:solidFill>
            <a:srgbClr val="FF4D3D"/>
          </a:solidFill>
          <a:ln/>
        </p:spPr>
      </p:sp>
      <p:pic>
        <p:nvPicPr>
          <p:cNvPr id="20" name="Image 5" descr="preencoded.png">    </p:cNvPr>
          <p:cNvPicPr>
            <a:picLocks noChangeAspect="1"/>
          </p:cNvPicPr>
          <p:nvPr/>
        </p:nvPicPr>
        <p:blipFill>
          <a:blip r:embed="rId6"/>
          <a:stretch>
            <a:fillRect/>
          </a:stretch>
        </p:blipFill>
        <p:spPr>
          <a:xfrm>
            <a:off x="8367674" y="3704234"/>
            <a:ext cx="592531" cy="592531"/>
          </a:xfrm>
          <a:prstGeom prst="rect">
            <a:avLst/>
          </a:prstGeom>
        </p:spPr>
      </p:pic>
      <p:sp>
        <p:nvSpPr>
          <p:cNvPr id="21" name="Shape 12"/>
          <p:cNvSpPr/>
          <p:nvPr/>
        </p:nvSpPr>
        <p:spPr>
          <a:xfrm>
            <a:off x="2926080" y="4937760"/>
            <a:ext cx="1234440" cy="1234440"/>
          </a:xfrm>
          <a:prstGeom prst="ellipse">
            <a:avLst/>
          </a:prstGeom>
          <a:solidFill>
            <a:srgbClr val="14141F"/>
          </a:solidFill>
          <a:ln/>
        </p:spPr>
      </p:sp>
      <p:pic>
        <p:nvPicPr>
          <p:cNvPr id="22" name="Image 6" descr="preencoded.png">    </p:cNvPr>
          <p:cNvPicPr>
            <a:picLocks noChangeAspect="1"/>
          </p:cNvPicPr>
          <p:nvPr/>
        </p:nvPicPr>
        <p:blipFill>
          <a:blip r:embed="rId7"/>
          <a:stretch>
            <a:fillRect/>
          </a:stretch>
        </p:blipFill>
        <p:spPr>
          <a:xfrm>
            <a:off x="3247034" y="5258714"/>
            <a:ext cx="592531" cy="592531"/>
          </a:xfrm>
          <a:prstGeom prst="rect">
            <a:avLst/>
          </a:prstGeom>
        </p:spPr>
      </p:pic>
      <p:sp>
        <p:nvSpPr>
          <p:cNvPr id="23" name="Text 13"/>
          <p:cNvSpPr txBox="1"/>
          <p:nvPr/>
        </p:nvSpPr>
        <p:spPr>
          <a:xfrm>
            <a:off x="4389120" y="4937760"/>
            <a:ext cx="914400" cy="1234440"/>
          </a:xfrm>
          <a:prstGeom prst="rect">
            <a:avLst/>
          </a:prstGeom>
          <a:noFill/>
          <a:ln/>
        </p:spPr>
        <p:txBody>
          <a:bodyPr wrap="square" lIns="0" tIns="0" rIns="0" bIns="0" rtlCol="0" anchor="ctr"/>
          <a:lstStyle/>
          <a:p>
            <a:pPr algn="ctr" indent="0" marL="0">
              <a:buNone/>
            </a:pPr>
            <a:r>
              <a:rPr lang="en-US" sz="4000" b="1" dirty="0">
                <a:solidFill>
                  <a:srgbClr val="C9C9D6"/>
                </a:solidFill>
                <a:latin typeface="Arial" pitchFamily="34" charset="0"/>
                <a:ea typeface="Arial" pitchFamily="34" charset="-122"/>
                <a:cs typeface="Arial" pitchFamily="34" charset="-120"/>
              </a:rPr>
              <a:t>+</a:t>
            </a:r>
            <a:endParaRPr lang="en-US" sz="4000" dirty="0"/>
          </a:p>
        </p:txBody>
      </p:sp>
      <p:sp>
        <p:nvSpPr>
          <p:cNvPr id="24" name="Shape 14"/>
          <p:cNvSpPr/>
          <p:nvPr/>
        </p:nvSpPr>
        <p:spPr>
          <a:xfrm>
            <a:off x="5486400" y="4937760"/>
            <a:ext cx="1234440" cy="1234440"/>
          </a:xfrm>
          <a:prstGeom prst="ellipse">
            <a:avLst/>
          </a:prstGeom>
          <a:solidFill>
            <a:srgbClr val="FFC93C"/>
          </a:solidFill>
          <a:ln/>
        </p:spPr>
      </p:sp>
      <p:pic>
        <p:nvPicPr>
          <p:cNvPr id="25" name="Image 7" descr="preencoded.png">    </p:cNvPr>
          <p:cNvPicPr>
            <a:picLocks noChangeAspect="1"/>
          </p:cNvPicPr>
          <p:nvPr/>
        </p:nvPicPr>
        <p:blipFill>
          <a:blip r:embed="rId8"/>
          <a:stretch>
            <a:fillRect/>
          </a:stretch>
        </p:blipFill>
        <p:spPr>
          <a:xfrm>
            <a:off x="5807354" y="5258714"/>
            <a:ext cx="592531" cy="592531"/>
          </a:xfrm>
          <a:prstGeom prst="rect">
            <a:avLst/>
          </a:prstGeom>
        </p:spPr>
      </p:pic>
      <p:sp>
        <p:nvSpPr>
          <p:cNvPr id="26" name="Text 15"/>
          <p:cNvSpPr txBox="1"/>
          <p:nvPr/>
        </p:nvSpPr>
        <p:spPr>
          <a:xfrm>
            <a:off x="6949440" y="4937760"/>
            <a:ext cx="914400" cy="1234440"/>
          </a:xfrm>
          <a:prstGeom prst="rect">
            <a:avLst/>
          </a:prstGeom>
          <a:noFill/>
          <a:ln/>
        </p:spPr>
        <p:txBody>
          <a:bodyPr wrap="square" lIns="0" tIns="0" rIns="0" bIns="0" rtlCol="0" anchor="ctr"/>
          <a:lstStyle/>
          <a:p>
            <a:pPr algn="ctr" indent="0" marL="0">
              <a:buNone/>
            </a:pPr>
            <a:r>
              <a:rPr lang="en-US" sz="4000" b="1" dirty="0">
                <a:solidFill>
                  <a:srgbClr val="C9C9D6"/>
                </a:solidFill>
                <a:latin typeface="Arial" pitchFamily="34" charset="0"/>
                <a:ea typeface="Arial" pitchFamily="34" charset="-122"/>
                <a:cs typeface="Arial" pitchFamily="34" charset="-120"/>
              </a:rPr>
              <a:t>=</a:t>
            </a:r>
            <a:endParaRPr lang="en-US" sz="4000" dirty="0"/>
          </a:p>
        </p:txBody>
      </p:sp>
      <p:sp>
        <p:nvSpPr>
          <p:cNvPr id="27" name="Shape 16"/>
          <p:cNvSpPr/>
          <p:nvPr/>
        </p:nvSpPr>
        <p:spPr>
          <a:xfrm>
            <a:off x="8046720" y="4937760"/>
            <a:ext cx="1234440" cy="1234440"/>
          </a:xfrm>
          <a:prstGeom prst="ellipse">
            <a:avLst/>
          </a:prstGeom>
          <a:solidFill>
            <a:srgbClr val="FF4D3D"/>
          </a:solidFill>
          <a:ln/>
        </p:spPr>
      </p:sp>
      <p:pic>
        <p:nvPicPr>
          <p:cNvPr id="28" name="Image 8" descr="preencoded.png">    </p:cNvPr>
          <p:cNvPicPr>
            <a:picLocks noChangeAspect="1"/>
          </p:cNvPicPr>
          <p:nvPr/>
        </p:nvPicPr>
        <p:blipFill>
          <a:blip r:embed="rId9"/>
          <a:stretch>
            <a:fillRect/>
          </a:stretch>
        </p:blipFill>
        <p:spPr>
          <a:xfrm>
            <a:off x="8367674" y="5258714"/>
            <a:ext cx="592531" cy="59253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2</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Brand Journey</a:t>
            </a:r>
            <a:endParaRPr lang="en-US" sz="3000" dirty="0"/>
          </a:p>
        </p:txBody>
      </p:sp>
      <p:sp>
        <p:nvSpPr>
          <p:cNvPr id="5" name="Shape 2"/>
          <p:cNvSpPr/>
          <p:nvPr/>
        </p:nvSpPr>
        <p:spPr>
          <a:xfrm>
            <a:off x="2789623" y="3474720"/>
            <a:ext cx="1065242" cy="0"/>
          </a:xfrm>
          <a:prstGeom prst="line">
            <a:avLst/>
          </a:prstGeom>
          <a:noFill/>
          <a:ln w="38100">
            <a:solidFill>
              <a:srgbClr val="C9C9D6"/>
            </a:solidFill>
            <a:prstDash val="solid"/>
            <a:tailEnd type="triangle"/>
          </a:ln>
        </p:spPr>
      </p:sp>
      <p:sp>
        <p:nvSpPr>
          <p:cNvPr id="6" name="Shape 3"/>
          <p:cNvSpPr/>
          <p:nvPr/>
        </p:nvSpPr>
        <p:spPr>
          <a:xfrm>
            <a:off x="5563227" y="3474720"/>
            <a:ext cx="1065242" cy="0"/>
          </a:xfrm>
          <a:prstGeom prst="line">
            <a:avLst/>
          </a:prstGeom>
          <a:noFill/>
          <a:ln w="38100">
            <a:solidFill>
              <a:srgbClr val="C9C9D6"/>
            </a:solidFill>
            <a:prstDash val="solid"/>
            <a:tailEnd type="triangle"/>
          </a:ln>
        </p:spPr>
      </p:sp>
      <p:sp>
        <p:nvSpPr>
          <p:cNvPr id="7" name="Shape 4"/>
          <p:cNvSpPr/>
          <p:nvPr/>
        </p:nvSpPr>
        <p:spPr>
          <a:xfrm>
            <a:off x="8336831" y="3474720"/>
            <a:ext cx="1065242" cy="0"/>
          </a:xfrm>
          <a:prstGeom prst="line">
            <a:avLst/>
          </a:prstGeom>
          <a:noFill/>
          <a:ln w="38100">
            <a:solidFill>
              <a:srgbClr val="C9C9D6"/>
            </a:solidFill>
            <a:prstDash val="solid"/>
            <a:tailEnd type="triangle"/>
          </a:ln>
        </p:spPr>
      </p:sp>
      <p:sp>
        <p:nvSpPr>
          <p:cNvPr id="8" name="Shape 5"/>
          <p:cNvSpPr/>
          <p:nvPr/>
        </p:nvSpPr>
        <p:spPr>
          <a:xfrm>
            <a:off x="1172701" y="2711979"/>
            <a:ext cx="1525482" cy="1525482"/>
          </a:xfrm>
          <a:prstGeom prst="ellipse">
            <a:avLst/>
          </a:prstGeom>
          <a:solidFill>
            <a:srgbClr val="FF4D3D"/>
          </a:solidFill>
          <a:ln/>
        </p:spPr>
      </p:sp>
      <p:pic>
        <p:nvPicPr>
          <p:cNvPr id="9" name="Image 0" descr="preencoded.png">    </p:cNvPr>
          <p:cNvPicPr>
            <a:picLocks noChangeAspect="1"/>
          </p:cNvPicPr>
          <p:nvPr/>
        </p:nvPicPr>
        <p:blipFill>
          <a:blip r:embed="rId1"/>
          <a:stretch>
            <a:fillRect/>
          </a:stretch>
        </p:blipFill>
        <p:spPr>
          <a:xfrm>
            <a:off x="1569326" y="3108604"/>
            <a:ext cx="732231" cy="732231"/>
          </a:xfrm>
          <a:prstGeom prst="rect">
            <a:avLst/>
          </a:prstGeom>
        </p:spPr>
      </p:pic>
      <p:sp>
        <p:nvSpPr>
          <p:cNvPr id="10" name="Text 6"/>
          <p:cNvSpPr txBox="1"/>
          <p:nvPr/>
        </p:nvSpPr>
        <p:spPr>
          <a:xfrm>
            <a:off x="594360" y="4420341"/>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Outcome</a:t>
            </a:r>
            <a:endParaRPr lang="en-US" sz="1800" dirty="0"/>
          </a:p>
        </p:txBody>
      </p:sp>
      <p:sp>
        <p:nvSpPr>
          <p:cNvPr id="11" name="Shape 7"/>
          <p:cNvSpPr/>
          <p:nvPr/>
        </p:nvSpPr>
        <p:spPr>
          <a:xfrm>
            <a:off x="3946305" y="2711979"/>
            <a:ext cx="1525482" cy="1525482"/>
          </a:xfrm>
          <a:prstGeom prst="ellipse">
            <a:avLst/>
          </a:prstGeom>
          <a:solidFill>
            <a:srgbClr val="14141F"/>
          </a:solidFill>
          <a:ln/>
        </p:spPr>
      </p:sp>
      <p:pic>
        <p:nvPicPr>
          <p:cNvPr id="12" name="Image 1" descr="preencoded.png">    </p:cNvPr>
          <p:cNvPicPr>
            <a:picLocks noChangeAspect="1"/>
          </p:cNvPicPr>
          <p:nvPr/>
        </p:nvPicPr>
        <p:blipFill>
          <a:blip r:embed="rId2"/>
          <a:stretch>
            <a:fillRect/>
          </a:stretch>
        </p:blipFill>
        <p:spPr>
          <a:xfrm>
            <a:off x="4342930" y="3108604"/>
            <a:ext cx="732231" cy="732231"/>
          </a:xfrm>
          <a:prstGeom prst="rect">
            <a:avLst/>
          </a:prstGeom>
        </p:spPr>
      </p:pic>
      <p:sp>
        <p:nvSpPr>
          <p:cNvPr id="13" name="Text 8"/>
          <p:cNvSpPr txBox="1"/>
          <p:nvPr/>
        </p:nvSpPr>
        <p:spPr>
          <a:xfrm>
            <a:off x="3367964" y="4420341"/>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Known for</a:t>
            </a:r>
            <a:endParaRPr lang="en-US" sz="1800" dirty="0"/>
          </a:p>
        </p:txBody>
      </p:sp>
      <p:sp>
        <p:nvSpPr>
          <p:cNvPr id="14" name="Shape 9"/>
          <p:cNvSpPr/>
          <p:nvPr/>
        </p:nvSpPr>
        <p:spPr>
          <a:xfrm>
            <a:off x="6719908" y="2711979"/>
            <a:ext cx="1525482" cy="1525482"/>
          </a:xfrm>
          <a:prstGeom prst="ellipse">
            <a:avLst/>
          </a:prstGeom>
          <a:solidFill>
            <a:srgbClr val="FFC93C"/>
          </a:solidFill>
          <a:ln/>
        </p:spPr>
      </p:sp>
      <p:pic>
        <p:nvPicPr>
          <p:cNvPr id="15" name="Image 2" descr="preencoded.png">    </p:cNvPr>
          <p:cNvPicPr>
            <a:picLocks noChangeAspect="1"/>
          </p:cNvPicPr>
          <p:nvPr/>
        </p:nvPicPr>
        <p:blipFill>
          <a:blip r:embed="rId3"/>
          <a:stretch>
            <a:fillRect/>
          </a:stretch>
        </p:blipFill>
        <p:spPr>
          <a:xfrm>
            <a:off x="7116534" y="3108604"/>
            <a:ext cx="732231" cy="732231"/>
          </a:xfrm>
          <a:prstGeom prst="rect">
            <a:avLst/>
          </a:prstGeom>
        </p:spPr>
      </p:pic>
      <p:sp>
        <p:nvSpPr>
          <p:cNvPr id="16" name="Text 10"/>
          <p:cNvSpPr txBox="1"/>
          <p:nvPr/>
        </p:nvSpPr>
        <p:spPr>
          <a:xfrm>
            <a:off x="6141568" y="4420341"/>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Do</a:t>
            </a:r>
            <a:endParaRPr lang="en-US" sz="1800" dirty="0"/>
          </a:p>
        </p:txBody>
      </p:sp>
      <p:sp>
        <p:nvSpPr>
          <p:cNvPr id="17" name="Shape 11"/>
          <p:cNvSpPr/>
          <p:nvPr/>
        </p:nvSpPr>
        <p:spPr>
          <a:xfrm>
            <a:off x="9493512" y="2711979"/>
            <a:ext cx="1525482" cy="1525482"/>
          </a:xfrm>
          <a:prstGeom prst="ellipse">
            <a:avLst/>
          </a:prstGeom>
          <a:solidFill>
            <a:srgbClr val="FF4D3D"/>
          </a:solidFill>
          <a:ln/>
        </p:spPr>
      </p:sp>
      <p:pic>
        <p:nvPicPr>
          <p:cNvPr id="18" name="Image 3" descr="preencoded.png">    </p:cNvPr>
          <p:cNvPicPr>
            <a:picLocks noChangeAspect="1"/>
          </p:cNvPicPr>
          <p:nvPr/>
        </p:nvPicPr>
        <p:blipFill>
          <a:blip r:embed="rId4"/>
          <a:stretch>
            <a:fillRect/>
          </a:stretch>
        </p:blipFill>
        <p:spPr>
          <a:xfrm>
            <a:off x="9890138" y="3108604"/>
            <a:ext cx="732231" cy="732231"/>
          </a:xfrm>
          <a:prstGeom prst="rect">
            <a:avLst/>
          </a:prstGeom>
        </p:spPr>
      </p:pic>
      <p:sp>
        <p:nvSpPr>
          <p:cNvPr id="19" name="Text 12"/>
          <p:cNvSpPr txBox="1"/>
          <p:nvPr/>
        </p:nvSpPr>
        <p:spPr>
          <a:xfrm>
            <a:off x="8915171" y="4420341"/>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Learn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2</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Pair with / refuse</a:t>
            </a:r>
            <a:endParaRPr lang="en-US" sz="3000" dirty="0"/>
          </a:p>
        </p:txBody>
      </p:sp>
      <p:sp>
        <p:nvSpPr>
          <p:cNvPr id="5" name="Shape 2"/>
          <p:cNvSpPr/>
          <p:nvPr/>
        </p:nvSpPr>
        <p:spPr>
          <a:xfrm>
            <a:off x="2194560" y="1737360"/>
            <a:ext cx="2560320" cy="2560320"/>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2860243" y="2403043"/>
            <a:ext cx="1228954" cy="1228954"/>
          </a:xfrm>
          <a:prstGeom prst="rect">
            <a:avLst/>
          </a:prstGeom>
        </p:spPr>
      </p:pic>
      <p:sp>
        <p:nvSpPr>
          <p:cNvPr id="7" name="Shape 3"/>
          <p:cNvSpPr/>
          <p:nvPr/>
        </p:nvSpPr>
        <p:spPr>
          <a:xfrm>
            <a:off x="7406640" y="1737360"/>
            <a:ext cx="2560320" cy="2560320"/>
          </a:xfrm>
          <a:prstGeom prst="ellipse">
            <a:avLst/>
          </a:prstGeom>
          <a:solidFill>
            <a:srgbClr val="14141F"/>
          </a:solidFill>
          <a:ln/>
        </p:spPr>
      </p:sp>
      <p:pic>
        <p:nvPicPr>
          <p:cNvPr id="8" name="Image 1" descr="preencoded.png">    </p:cNvPr>
          <p:cNvPicPr>
            <a:picLocks noChangeAspect="1"/>
          </p:cNvPicPr>
          <p:nvPr/>
        </p:nvPicPr>
        <p:blipFill>
          <a:blip r:embed="rId2"/>
          <a:stretch>
            <a:fillRect/>
          </a:stretch>
        </p:blipFill>
        <p:spPr>
          <a:xfrm>
            <a:off x="8072323" y="2403043"/>
            <a:ext cx="1228954" cy="1228954"/>
          </a:xfrm>
          <a:prstGeom prst="rect">
            <a:avLst/>
          </a:prstGeom>
        </p:spPr>
      </p:pic>
      <p:sp>
        <p:nvSpPr>
          <p:cNvPr id="9" name="Text 4"/>
          <p:cNvSpPr txBox="1"/>
          <p:nvPr/>
        </p:nvSpPr>
        <p:spPr>
          <a:xfrm>
            <a:off x="1463040" y="4572000"/>
            <a:ext cx="4023360" cy="640080"/>
          </a:xfrm>
          <a:prstGeom prst="rect">
            <a:avLst/>
          </a:prstGeom>
          <a:noFill/>
          <a:ln/>
        </p:spPr>
        <p:txBody>
          <a:bodyPr wrap="square" lIns="0" tIns="0" rIns="0" bIns="0" rtlCol="0" anchor="t"/>
          <a:lstStyle/>
          <a:p>
            <a:pPr algn="ctr" indent="0" marL="0">
              <a:buNone/>
            </a:pPr>
            <a:r>
              <a:rPr lang="en-US" sz="2600" b="1" dirty="0">
                <a:solidFill>
                  <a:srgbClr val="14141F"/>
                </a:solidFill>
                <a:latin typeface="Arial" pitchFamily="34" charset="0"/>
                <a:ea typeface="Arial" pitchFamily="34" charset="-122"/>
                <a:cs typeface="Arial" pitchFamily="34" charset="-120"/>
              </a:rPr>
              <a:t>Pair with</a:t>
            </a:r>
            <a:endParaRPr lang="en-US" sz="2600" dirty="0"/>
          </a:p>
        </p:txBody>
      </p:sp>
      <p:sp>
        <p:nvSpPr>
          <p:cNvPr id="10" name="Text 5"/>
          <p:cNvSpPr txBox="1"/>
          <p:nvPr/>
        </p:nvSpPr>
        <p:spPr>
          <a:xfrm>
            <a:off x="6675120" y="4572000"/>
            <a:ext cx="4023360" cy="640080"/>
          </a:xfrm>
          <a:prstGeom prst="rect">
            <a:avLst/>
          </a:prstGeom>
          <a:noFill/>
          <a:ln/>
        </p:spPr>
        <p:txBody>
          <a:bodyPr wrap="square" lIns="0" tIns="0" rIns="0" bIns="0" rtlCol="0" anchor="t"/>
          <a:lstStyle/>
          <a:p>
            <a:pPr algn="ctr" indent="0" marL="0">
              <a:buNone/>
            </a:pPr>
            <a:r>
              <a:rPr lang="en-US" sz="2600" b="1" dirty="0">
                <a:solidFill>
                  <a:srgbClr val="14141F"/>
                </a:solidFill>
                <a:latin typeface="Arial" pitchFamily="34" charset="0"/>
                <a:ea typeface="Arial" pitchFamily="34" charset="-122"/>
                <a:cs typeface="Arial" pitchFamily="34" charset="-120"/>
              </a:rPr>
              <a:t>Refuse</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2</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Catalyst → Core Truth → Proof</a:t>
            </a:r>
            <a:endParaRPr lang="en-US" sz="3000" dirty="0"/>
          </a:p>
        </p:txBody>
      </p:sp>
      <p:sp>
        <p:nvSpPr>
          <p:cNvPr id="5" name="Shape 2"/>
          <p:cNvSpPr/>
          <p:nvPr/>
        </p:nvSpPr>
        <p:spPr>
          <a:xfrm>
            <a:off x="3403549" y="3474720"/>
            <a:ext cx="1686458" cy="0"/>
          </a:xfrm>
          <a:prstGeom prst="line">
            <a:avLst/>
          </a:prstGeom>
          <a:noFill/>
          <a:ln w="38100">
            <a:solidFill>
              <a:srgbClr val="C9C9D6"/>
            </a:solidFill>
            <a:prstDash val="solid"/>
            <a:tailEnd type="triangle"/>
          </a:ln>
        </p:spPr>
      </p:sp>
      <p:sp>
        <p:nvSpPr>
          <p:cNvPr id="6" name="Shape 3"/>
          <p:cNvSpPr/>
          <p:nvPr/>
        </p:nvSpPr>
        <p:spPr>
          <a:xfrm>
            <a:off x="7101688" y="3474720"/>
            <a:ext cx="1686458" cy="0"/>
          </a:xfrm>
          <a:prstGeom prst="line">
            <a:avLst/>
          </a:prstGeom>
          <a:noFill/>
          <a:ln w="38100">
            <a:solidFill>
              <a:srgbClr val="C9C9D6"/>
            </a:solidFill>
            <a:prstDash val="solid"/>
            <a:tailEnd type="triangle"/>
          </a:ln>
        </p:spPr>
      </p:sp>
      <p:sp>
        <p:nvSpPr>
          <p:cNvPr id="7" name="Shape 4"/>
          <p:cNvSpPr/>
          <p:nvPr/>
        </p:nvSpPr>
        <p:spPr>
          <a:xfrm>
            <a:off x="1483309" y="2560320"/>
            <a:ext cx="1828800" cy="1828800"/>
          </a:xfrm>
          <a:prstGeom prst="ellipse">
            <a:avLst/>
          </a:prstGeom>
          <a:solidFill>
            <a:srgbClr val="FF4D3D"/>
          </a:solidFill>
          <a:ln/>
        </p:spPr>
      </p:sp>
      <p:pic>
        <p:nvPicPr>
          <p:cNvPr id="8" name="Image 0" descr="preencoded.png">    </p:cNvPr>
          <p:cNvPicPr>
            <a:picLocks noChangeAspect="1"/>
          </p:cNvPicPr>
          <p:nvPr/>
        </p:nvPicPr>
        <p:blipFill>
          <a:blip r:embed="rId1"/>
          <a:stretch>
            <a:fillRect/>
          </a:stretch>
        </p:blipFill>
        <p:spPr>
          <a:xfrm>
            <a:off x="1958797" y="3035808"/>
            <a:ext cx="877824" cy="877824"/>
          </a:xfrm>
          <a:prstGeom prst="rect">
            <a:avLst/>
          </a:prstGeom>
        </p:spPr>
      </p:pic>
      <p:sp>
        <p:nvSpPr>
          <p:cNvPr id="9" name="Text 5"/>
          <p:cNvSpPr txBox="1"/>
          <p:nvPr/>
        </p:nvSpPr>
        <p:spPr>
          <a:xfrm>
            <a:off x="594360"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Catalyst</a:t>
            </a:r>
            <a:endParaRPr lang="en-US" sz="2200" dirty="0"/>
          </a:p>
        </p:txBody>
      </p:sp>
      <p:sp>
        <p:nvSpPr>
          <p:cNvPr id="10" name="Shape 6"/>
          <p:cNvSpPr/>
          <p:nvPr/>
        </p:nvSpPr>
        <p:spPr>
          <a:xfrm>
            <a:off x="5181448" y="2560320"/>
            <a:ext cx="1828800" cy="1828800"/>
          </a:xfrm>
          <a:prstGeom prst="ellipse">
            <a:avLst/>
          </a:prstGeom>
          <a:solidFill>
            <a:srgbClr val="14141F"/>
          </a:solidFill>
          <a:ln/>
        </p:spPr>
      </p:sp>
      <p:pic>
        <p:nvPicPr>
          <p:cNvPr id="11" name="Image 1" descr="preencoded.png">    </p:cNvPr>
          <p:cNvPicPr>
            <a:picLocks noChangeAspect="1"/>
          </p:cNvPicPr>
          <p:nvPr/>
        </p:nvPicPr>
        <p:blipFill>
          <a:blip r:embed="rId2"/>
          <a:stretch>
            <a:fillRect/>
          </a:stretch>
        </p:blipFill>
        <p:spPr>
          <a:xfrm>
            <a:off x="5656936" y="3035808"/>
            <a:ext cx="877824" cy="877824"/>
          </a:xfrm>
          <a:prstGeom prst="rect">
            <a:avLst/>
          </a:prstGeom>
        </p:spPr>
      </p:pic>
      <p:sp>
        <p:nvSpPr>
          <p:cNvPr id="12" name="Text 7"/>
          <p:cNvSpPr txBox="1"/>
          <p:nvPr/>
        </p:nvSpPr>
        <p:spPr>
          <a:xfrm>
            <a:off x="4292498"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Core truth</a:t>
            </a:r>
            <a:endParaRPr lang="en-US" sz="2200" dirty="0"/>
          </a:p>
        </p:txBody>
      </p:sp>
      <p:sp>
        <p:nvSpPr>
          <p:cNvPr id="13" name="Shape 8"/>
          <p:cNvSpPr/>
          <p:nvPr/>
        </p:nvSpPr>
        <p:spPr>
          <a:xfrm>
            <a:off x="8879586" y="2560320"/>
            <a:ext cx="1828800" cy="1828800"/>
          </a:xfrm>
          <a:prstGeom prst="ellipse">
            <a:avLst/>
          </a:prstGeom>
          <a:solidFill>
            <a:srgbClr val="FFC93C"/>
          </a:solidFill>
          <a:ln/>
        </p:spPr>
      </p:sp>
      <p:pic>
        <p:nvPicPr>
          <p:cNvPr id="14" name="Image 2" descr="preencoded.png">    </p:cNvPr>
          <p:cNvPicPr>
            <a:picLocks noChangeAspect="1"/>
          </p:cNvPicPr>
          <p:nvPr/>
        </p:nvPicPr>
        <p:blipFill>
          <a:blip r:embed="rId3"/>
          <a:stretch>
            <a:fillRect/>
          </a:stretch>
        </p:blipFill>
        <p:spPr>
          <a:xfrm>
            <a:off x="9355074" y="3035808"/>
            <a:ext cx="877824" cy="877824"/>
          </a:xfrm>
          <a:prstGeom prst="rect">
            <a:avLst/>
          </a:prstGeom>
        </p:spPr>
      </p:pic>
      <p:sp>
        <p:nvSpPr>
          <p:cNvPr id="15" name="Text 9"/>
          <p:cNvSpPr txBox="1"/>
          <p:nvPr/>
        </p:nvSpPr>
        <p:spPr>
          <a:xfrm>
            <a:off x="7990637"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Proof</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03</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Positioning &amp; algorithm</a:t>
            </a:r>
            <a:endParaRPr lang="en-US"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3</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Gap · Story · Term</a:t>
            </a:r>
            <a:endParaRPr lang="en-US" sz="3000" dirty="0"/>
          </a:p>
        </p:txBody>
      </p:sp>
      <p:sp>
        <p:nvSpPr>
          <p:cNvPr id="5" name="Shape 2"/>
          <p:cNvSpPr/>
          <p:nvPr/>
        </p:nvSpPr>
        <p:spPr>
          <a:xfrm>
            <a:off x="1437589" y="2514600"/>
            <a:ext cx="1920240" cy="1920240"/>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936852" y="3013862"/>
            <a:ext cx="921715" cy="921715"/>
          </a:xfrm>
          <a:prstGeom prst="rect">
            <a:avLst/>
          </a:prstGeom>
        </p:spPr>
      </p:pic>
      <p:sp>
        <p:nvSpPr>
          <p:cNvPr id="7" name="Text 3"/>
          <p:cNvSpPr txBox="1"/>
          <p:nvPr/>
        </p:nvSpPr>
        <p:spPr>
          <a:xfrm>
            <a:off x="594360" y="461772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Find the gap</a:t>
            </a:r>
            <a:endParaRPr lang="en-US" sz="2200" dirty="0"/>
          </a:p>
        </p:txBody>
      </p:sp>
      <p:sp>
        <p:nvSpPr>
          <p:cNvPr id="8" name="Shape 4"/>
          <p:cNvSpPr/>
          <p:nvPr/>
        </p:nvSpPr>
        <p:spPr>
          <a:xfrm>
            <a:off x="5135728" y="2514600"/>
            <a:ext cx="1920240" cy="1920240"/>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5634990" y="3013862"/>
            <a:ext cx="921715" cy="921715"/>
          </a:xfrm>
          <a:prstGeom prst="rect">
            <a:avLst/>
          </a:prstGeom>
        </p:spPr>
      </p:pic>
      <p:sp>
        <p:nvSpPr>
          <p:cNvPr id="10" name="Text 5"/>
          <p:cNvSpPr txBox="1"/>
          <p:nvPr/>
        </p:nvSpPr>
        <p:spPr>
          <a:xfrm>
            <a:off x="4292498" y="461772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Your story</a:t>
            </a:r>
            <a:endParaRPr lang="en-US" sz="2200" dirty="0"/>
          </a:p>
        </p:txBody>
      </p:sp>
      <p:sp>
        <p:nvSpPr>
          <p:cNvPr id="11" name="Shape 6"/>
          <p:cNvSpPr/>
          <p:nvPr/>
        </p:nvSpPr>
        <p:spPr>
          <a:xfrm>
            <a:off x="8833866" y="2514600"/>
            <a:ext cx="1920240" cy="1920240"/>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9333128" y="3013862"/>
            <a:ext cx="921715" cy="921715"/>
          </a:xfrm>
          <a:prstGeom prst="rect">
            <a:avLst/>
          </a:prstGeom>
        </p:spPr>
      </p:pic>
      <p:sp>
        <p:nvSpPr>
          <p:cNvPr id="13" name="Text 7"/>
          <p:cNvSpPr txBox="1"/>
          <p:nvPr/>
        </p:nvSpPr>
        <p:spPr>
          <a:xfrm>
            <a:off x="7990637" y="461772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Own a term</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3</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Start narrow, stay 80/20</a:t>
            </a:r>
            <a:endParaRPr lang="en-US" sz="3000" dirty="0"/>
          </a:p>
        </p:txBody>
      </p:sp>
      <p:graphicFrame>
        <p:nvGraphicFramePr>
          <p:cNvPr id="5" name="Chart 0" descr=""/>
          <p:cNvGraphicFramePr/>
          <p:nvPr/>
        </p:nvGraphicFramePr>
        <p:xfrm>
          <a:off x="731520" y="1463040"/>
          <a:ext cx="4937760" cy="475488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680960" y="1828800"/>
            <a:ext cx="2194560" cy="1143000"/>
          </a:xfrm>
          <a:prstGeom prst="roundRect">
            <a:avLst>
              <a:gd name="adj" fmla="val 9600"/>
            </a:avLst>
          </a:prstGeom>
          <a:solidFill>
            <a:srgbClr val="FF4D3D"/>
          </a:solidFill>
          <a:ln/>
        </p:spPr>
      </p:sp>
      <p:pic>
        <p:nvPicPr>
          <p:cNvPr id="7" name="Image 0" descr="preencoded.png">    </p:cNvPr>
          <p:cNvPicPr>
            <a:picLocks noChangeAspect="1"/>
          </p:cNvPicPr>
          <p:nvPr/>
        </p:nvPicPr>
        <p:blipFill>
          <a:blip r:embed="rId2"/>
          <a:stretch>
            <a:fillRect/>
          </a:stretch>
        </p:blipFill>
        <p:spPr>
          <a:xfrm>
            <a:off x="8412480" y="2029968"/>
            <a:ext cx="731520" cy="731520"/>
          </a:xfrm>
          <a:prstGeom prst="rect">
            <a:avLst/>
          </a:prstGeom>
        </p:spPr>
      </p:pic>
      <p:sp>
        <p:nvSpPr>
          <p:cNvPr id="8" name="Shape 3"/>
          <p:cNvSpPr/>
          <p:nvPr/>
        </p:nvSpPr>
        <p:spPr>
          <a:xfrm>
            <a:off x="7086600" y="3246120"/>
            <a:ext cx="3383280" cy="1143000"/>
          </a:xfrm>
          <a:prstGeom prst="roundRect">
            <a:avLst>
              <a:gd name="adj" fmla="val 9600"/>
            </a:avLst>
          </a:prstGeom>
          <a:solidFill>
            <a:srgbClr val="FFB3A8"/>
          </a:solidFill>
          <a:ln/>
        </p:spPr>
      </p:sp>
      <p:pic>
        <p:nvPicPr>
          <p:cNvPr id="9" name="Image 1" descr="preencoded.png">    </p:cNvPr>
          <p:cNvPicPr>
            <a:picLocks noChangeAspect="1"/>
          </p:cNvPicPr>
          <p:nvPr/>
        </p:nvPicPr>
        <p:blipFill>
          <a:blip r:embed="rId3"/>
          <a:stretch>
            <a:fillRect/>
          </a:stretch>
        </p:blipFill>
        <p:spPr>
          <a:xfrm>
            <a:off x="8412480" y="3447288"/>
            <a:ext cx="731520" cy="731520"/>
          </a:xfrm>
          <a:prstGeom prst="rect">
            <a:avLst/>
          </a:prstGeom>
        </p:spPr>
      </p:pic>
      <p:sp>
        <p:nvSpPr>
          <p:cNvPr id="10" name="Shape 4"/>
          <p:cNvSpPr/>
          <p:nvPr/>
        </p:nvSpPr>
        <p:spPr>
          <a:xfrm>
            <a:off x="6492240" y="4663440"/>
            <a:ext cx="4572000" cy="1143000"/>
          </a:xfrm>
          <a:prstGeom prst="roundRect">
            <a:avLst>
              <a:gd name="adj" fmla="val 9600"/>
            </a:avLst>
          </a:prstGeom>
          <a:solidFill>
            <a:srgbClr val="FFE1DC"/>
          </a:solidFill>
          <a:ln/>
        </p:spPr>
      </p:sp>
      <p:pic>
        <p:nvPicPr>
          <p:cNvPr id="11" name="Image 2" descr="preencoded.png">    </p:cNvPr>
          <p:cNvPicPr>
            <a:picLocks noChangeAspect="1"/>
          </p:cNvPicPr>
          <p:nvPr/>
        </p:nvPicPr>
        <p:blipFill>
          <a:blip r:embed="rId4"/>
          <a:stretch>
            <a:fillRect/>
          </a:stretch>
        </p:blipFill>
        <p:spPr>
          <a:xfrm>
            <a:off x="8412480" y="4864608"/>
            <a:ext cx="731520" cy="731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3</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How the algorithm spreads a video</a:t>
            </a:r>
            <a:endParaRPr lang="en-US" sz="3000" dirty="0"/>
          </a:p>
        </p:txBody>
      </p:sp>
      <p:sp>
        <p:nvSpPr>
          <p:cNvPr id="5" name="Shape 2"/>
          <p:cNvSpPr/>
          <p:nvPr/>
        </p:nvSpPr>
        <p:spPr>
          <a:xfrm>
            <a:off x="3009748" y="1600200"/>
            <a:ext cx="6172200" cy="4572000"/>
          </a:xfrm>
          <a:prstGeom prst="ellipse">
            <a:avLst/>
          </a:prstGeom>
          <a:solidFill>
            <a:srgbClr val="FFE1DC"/>
          </a:solidFill>
          <a:ln/>
        </p:spPr>
      </p:sp>
      <p:sp>
        <p:nvSpPr>
          <p:cNvPr id="6" name="Shape 3"/>
          <p:cNvSpPr/>
          <p:nvPr/>
        </p:nvSpPr>
        <p:spPr>
          <a:xfrm>
            <a:off x="3997300" y="2331720"/>
            <a:ext cx="4197096" cy="3108960"/>
          </a:xfrm>
          <a:prstGeom prst="ellipse">
            <a:avLst/>
          </a:prstGeom>
          <a:solidFill>
            <a:srgbClr val="FFB3A8"/>
          </a:solidFill>
          <a:ln/>
        </p:spPr>
      </p:sp>
      <p:sp>
        <p:nvSpPr>
          <p:cNvPr id="7" name="Shape 4"/>
          <p:cNvSpPr/>
          <p:nvPr/>
        </p:nvSpPr>
        <p:spPr>
          <a:xfrm>
            <a:off x="4923130" y="3017520"/>
            <a:ext cx="2345436" cy="1737360"/>
          </a:xfrm>
          <a:prstGeom prst="ellipse">
            <a:avLst/>
          </a:prstGeom>
          <a:solidFill>
            <a:srgbClr val="FF4D3D"/>
          </a:solidFill>
          <a:ln/>
        </p:spPr>
      </p:sp>
      <p:sp>
        <p:nvSpPr>
          <p:cNvPr id="8" name="Text 5"/>
          <p:cNvSpPr txBox="1"/>
          <p:nvPr/>
        </p:nvSpPr>
        <p:spPr>
          <a:xfrm>
            <a:off x="4724248" y="1645920"/>
            <a:ext cx="2743200" cy="45720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20,000+</a:t>
            </a:r>
            <a:endParaRPr lang="en-US" sz="1800" dirty="0"/>
          </a:p>
        </p:txBody>
      </p:sp>
      <p:sp>
        <p:nvSpPr>
          <p:cNvPr id="9" name="Text 6"/>
          <p:cNvSpPr txBox="1"/>
          <p:nvPr/>
        </p:nvSpPr>
        <p:spPr>
          <a:xfrm>
            <a:off x="4724248" y="2423160"/>
            <a:ext cx="2743200" cy="45720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2,000</a:t>
            </a:r>
            <a:endParaRPr lang="en-US" sz="1800" dirty="0"/>
          </a:p>
        </p:txBody>
      </p:sp>
      <p:pic>
        <p:nvPicPr>
          <p:cNvPr id="10" name="Image 0" descr="preencoded.png">    </p:cNvPr>
          <p:cNvPicPr>
            <a:picLocks noChangeAspect="1"/>
          </p:cNvPicPr>
          <p:nvPr/>
        </p:nvPicPr>
        <p:blipFill>
          <a:blip r:embed="rId1"/>
          <a:stretch>
            <a:fillRect/>
          </a:stretch>
        </p:blipFill>
        <p:spPr>
          <a:xfrm>
            <a:off x="5684368" y="3474720"/>
            <a:ext cx="822960" cy="822960"/>
          </a:xfrm>
          <a:prstGeom prst="rect">
            <a:avLst/>
          </a:prstGeom>
        </p:spPr>
      </p:pic>
      <p:sp>
        <p:nvSpPr>
          <p:cNvPr id="11" name="Text 7"/>
          <p:cNvSpPr txBox="1"/>
          <p:nvPr/>
        </p:nvSpPr>
        <p:spPr>
          <a:xfrm>
            <a:off x="4724248" y="4297680"/>
            <a:ext cx="274320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200</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3</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On-target beats total</a:t>
            </a:r>
            <a:endParaRPr lang="en-US" sz="3000" dirty="0"/>
          </a:p>
        </p:txBody>
      </p:sp>
      <p:sp>
        <p:nvSpPr>
          <p:cNvPr id="5" name="Shape 2"/>
          <p:cNvSpPr/>
          <p:nvPr/>
        </p:nvSpPr>
        <p:spPr>
          <a:xfrm>
            <a:off x="1463040" y="1828800"/>
            <a:ext cx="2926080" cy="2926080"/>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2223821" y="2589581"/>
            <a:ext cx="1404518" cy="1404518"/>
          </a:xfrm>
          <a:prstGeom prst="rect">
            <a:avLst/>
          </a:prstGeom>
        </p:spPr>
      </p:pic>
      <p:sp>
        <p:nvSpPr>
          <p:cNvPr id="7" name="Text 3"/>
          <p:cNvSpPr txBox="1"/>
          <p:nvPr/>
        </p:nvSpPr>
        <p:spPr>
          <a:xfrm>
            <a:off x="4937760" y="2011680"/>
            <a:ext cx="6583680" cy="2194560"/>
          </a:xfrm>
          <a:prstGeom prst="rect">
            <a:avLst/>
          </a:prstGeom>
          <a:noFill/>
          <a:ln/>
        </p:spPr>
        <p:txBody>
          <a:bodyPr wrap="square" lIns="0" tIns="0" rIns="0" bIns="0" rtlCol="0" anchor="ctr"/>
          <a:lstStyle/>
          <a:p>
            <a:pPr algn="ctr" indent="0" marL="0">
              <a:buNone/>
            </a:pPr>
            <a:r>
              <a:rPr lang="en-US" sz="9600" b="1" dirty="0">
                <a:solidFill>
                  <a:srgbClr val="14141F"/>
                </a:solidFill>
                <a:latin typeface="Arial" pitchFamily="34" charset="0"/>
                <a:ea typeface="Arial" pitchFamily="34" charset="-122"/>
                <a:cs typeface="Arial" pitchFamily="34" charset="-120"/>
              </a:rPr>
              <a:t>$ / view</a:t>
            </a:r>
            <a:endParaRPr lang="en-US" sz="9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04</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Mediums &amp; platforms</a:t>
            </a:r>
            <a:endParaRPr lang="en-US" sz="4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4</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Pick your 80% medium</a:t>
            </a:r>
            <a:endParaRPr lang="en-US" sz="3000" dirty="0"/>
          </a:p>
        </p:txBody>
      </p:sp>
      <p:sp>
        <p:nvSpPr>
          <p:cNvPr id="5" name="Shape 2"/>
          <p:cNvSpPr/>
          <p:nvPr/>
        </p:nvSpPr>
        <p:spPr>
          <a:xfrm>
            <a:off x="1075625" y="2614903"/>
            <a:ext cx="1719634" cy="1719634"/>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522730" y="3062008"/>
            <a:ext cx="825424" cy="825424"/>
          </a:xfrm>
          <a:prstGeom prst="rect">
            <a:avLst/>
          </a:prstGeom>
        </p:spPr>
      </p:pic>
      <p:sp>
        <p:nvSpPr>
          <p:cNvPr id="7" name="Text 3"/>
          <p:cNvSpPr txBox="1"/>
          <p:nvPr/>
        </p:nvSpPr>
        <p:spPr>
          <a:xfrm>
            <a:off x="594360"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Written</a:t>
            </a:r>
            <a:endParaRPr lang="en-US" sz="1800" dirty="0"/>
          </a:p>
        </p:txBody>
      </p:sp>
      <p:sp>
        <p:nvSpPr>
          <p:cNvPr id="8" name="Shape 4"/>
          <p:cNvSpPr/>
          <p:nvPr/>
        </p:nvSpPr>
        <p:spPr>
          <a:xfrm>
            <a:off x="3849229" y="2614903"/>
            <a:ext cx="1719634" cy="1719634"/>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4296333" y="3062008"/>
            <a:ext cx="825424" cy="825424"/>
          </a:xfrm>
          <a:prstGeom prst="rect">
            <a:avLst/>
          </a:prstGeom>
        </p:spPr>
      </p:pic>
      <p:sp>
        <p:nvSpPr>
          <p:cNvPr id="10" name="Text 5"/>
          <p:cNvSpPr txBox="1"/>
          <p:nvPr/>
        </p:nvSpPr>
        <p:spPr>
          <a:xfrm>
            <a:off x="3367964"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Video</a:t>
            </a:r>
            <a:endParaRPr lang="en-US" sz="1800" dirty="0"/>
          </a:p>
        </p:txBody>
      </p:sp>
      <p:sp>
        <p:nvSpPr>
          <p:cNvPr id="11" name="Shape 6"/>
          <p:cNvSpPr/>
          <p:nvPr/>
        </p:nvSpPr>
        <p:spPr>
          <a:xfrm>
            <a:off x="6622832" y="2614903"/>
            <a:ext cx="1719634" cy="1719634"/>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7069937" y="3062008"/>
            <a:ext cx="825424" cy="825424"/>
          </a:xfrm>
          <a:prstGeom prst="rect">
            <a:avLst/>
          </a:prstGeom>
        </p:spPr>
      </p:pic>
      <p:sp>
        <p:nvSpPr>
          <p:cNvPr id="13" name="Text 7"/>
          <p:cNvSpPr txBox="1"/>
          <p:nvPr/>
        </p:nvSpPr>
        <p:spPr>
          <a:xfrm>
            <a:off x="6141568"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Audio</a:t>
            </a:r>
            <a:endParaRPr lang="en-US" sz="1800" dirty="0"/>
          </a:p>
        </p:txBody>
      </p:sp>
      <p:sp>
        <p:nvSpPr>
          <p:cNvPr id="14" name="Shape 8"/>
          <p:cNvSpPr/>
          <p:nvPr/>
        </p:nvSpPr>
        <p:spPr>
          <a:xfrm>
            <a:off x="9396436" y="2614903"/>
            <a:ext cx="1719634" cy="1719634"/>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9843541" y="3062008"/>
            <a:ext cx="825424" cy="825424"/>
          </a:xfrm>
          <a:prstGeom prst="rect">
            <a:avLst/>
          </a:prstGeom>
        </p:spPr>
      </p:pic>
      <p:sp>
        <p:nvSpPr>
          <p:cNvPr id="16" name="Text 9"/>
          <p:cNvSpPr txBox="1"/>
          <p:nvPr/>
        </p:nvSpPr>
        <p:spPr>
          <a:xfrm>
            <a:off x="8915171"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Graphic</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4</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2–3 platforms, one focus</a:t>
            </a:r>
            <a:endParaRPr lang="en-US" sz="3000" dirty="0"/>
          </a:p>
        </p:txBody>
      </p:sp>
      <p:sp>
        <p:nvSpPr>
          <p:cNvPr id="5" name="Shape 2"/>
          <p:cNvSpPr/>
          <p:nvPr/>
        </p:nvSpPr>
        <p:spPr>
          <a:xfrm>
            <a:off x="4815688" y="2468880"/>
            <a:ext cx="2560320" cy="2560320"/>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5481371" y="3134563"/>
            <a:ext cx="1228954" cy="1228954"/>
          </a:xfrm>
          <a:prstGeom prst="rect">
            <a:avLst/>
          </a:prstGeom>
        </p:spPr>
      </p:pic>
      <p:sp>
        <p:nvSpPr>
          <p:cNvPr id="7" name="Shape 3"/>
          <p:cNvSpPr/>
          <p:nvPr/>
        </p:nvSpPr>
        <p:spPr>
          <a:xfrm>
            <a:off x="1965960" y="2514600"/>
            <a:ext cx="4129888" cy="1234440"/>
          </a:xfrm>
          <a:prstGeom prst="line">
            <a:avLst/>
          </a:prstGeom>
          <a:noFill/>
          <a:ln w="25400">
            <a:solidFill>
              <a:srgbClr val="C9C9D6"/>
            </a:solidFill>
            <a:prstDash val="dash"/>
          </a:ln>
        </p:spPr>
      </p:sp>
      <p:sp>
        <p:nvSpPr>
          <p:cNvPr id="8" name="Shape 4"/>
          <p:cNvSpPr/>
          <p:nvPr/>
        </p:nvSpPr>
        <p:spPr>
          <a:xfrm>
            <a:off x="1280160" y="1828800"/>
            <a:ext cx="1371600" cy="1371600"/>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1636776" y="2185416"/>
            <a:ext cx="658368" cy="658368"/>
          </a:xfrm>
          <a:prstGeom prst="rect">
            <a:avLst/>
          </a:prstGeom>
        </p:spPr>
      </p:pic>
      <p:sp>
        <p:nvSpPr>
          <p:cNvPr id="10" name="Shape 5"/>
          <p:cNvSpPr/>
          <p:nvPr/>
        </p:nvSpPr>
        <p:spPr>
          <a:xfrm flipH="1">
            <a:off x="3429000" y="3749040"/>
            <a:ext cx="2666848" cy="1143000"/>
          </a:xfrm>
          <a:prstGeom prst="line">
            <a:avLst/>
          </a:prstGeom>
          <a:noFill/>
          <a:ln w="25400">
            <a:solidFill>
              <a:srgbClr val="C9C9D6"/>
            </a:solidFill>
            <a:prstDash val="dash"/>
          </a:ln>
        </p:spPr>
      </p:sp>
      <p:sp>
        <p:nvSpPr>
          <p:cNvPr id="11" name="Shape 6"/>
          <p:cNvSpPr/>
          <p:nvPr/>
        </p:nvSpPr>
        <p:spPr>
          <a:xfrm>
            <a:off x="2743200" y="4206240"/>
            <a:ext cx="1371600" cy="1371600"/>
          </a:xfrm>
          <a:prstGeom prst="ellipse">
            <a:avLst/>
          </a:prstGeom>
          <a:solidFill>
            <a:srgbClr val="14141F"/>
          </a:solidFill>
          <a:ln/>
        </p:spPr>
      </p:sp>
      <p:pic>
        <p:nvPicPr>
          <p:cNvPr id="12" name="Image 2" descr="preencoded.png">    </p:cNvPr>
          <p:cNvPicPr>
            <a:picLocks noChangeAspect="1"/>
          </p:cNvPicPr>
          <p:nvPr/>
        </p:nvPicPr>
        <p:blipFill>
          <a:blip r:embed="rId3"/>
          <a:stretch>
            <a:fillRect/>
          </a:stretch>
        </p:blipFill>
        <p:spPr>
          <a:xfrm>
            <a:off x="3099816" y="4562856"/>
            <a:ext cx="658368" cy="658368"/>
          </a:xfrm>
          <a:prstGeom prst="rect">
            <a:avLst/>
          </a:prstGeom>
        </p:spPr>
      </p:pic>
      <p:sp>
        <p:nvSpPr>
          <p:cNvPr id="13" name="Shape 7"/>
          <p:cNvSpPr/>
          <p:nvPr/>
        </p:nvSpPr>
        <p:spPr>
          <a:xfrm>
            <a:off x="6095848" y="3749040"/>
            <a:ext cx="2819552" cy="1143000"/>
          </a:xfrm>
          <a:prstGeom prst="line">
            <a:avLst/>
          </a:prstGeom>
          <a:noFill/>
          <a:ln w="25400">
            <a:solidFill>
              <a:srgbClr val="C9C9D6"/>
            </a:solidFill>
            <a:prstDash val="dash"/>
          </a:ln>
        </p:spPr>
      </p:sp>
      <p:sp>
        <p:nvSpPr>
          <p:cNvPr id="14" name="Shape 8"/>
          <p:cNvSpPr/>
          <p:nvPr/>
        </p:nvSpPr>
        <p:spPr>
          <a:xfrm>
            <a:off x="8229600" y="4206240"/>
            <a:ext cx="1371600" cy="1371600"/>
          </a:xfrm>
          <a:prstGeom prst="ellipse">
            <a:avLst/>
          </a:prstGeom>
          <a:solidFill>
            <a:srgbClr val="14141F"/>
          </a:solidFill>
          <a:ln/>
        </p:spPr>
      </p:sp>
      <p:pic>
        <p:nvPicPr>
          <p:cNvPr id="15" name="Image 3" descr="preencoded.png">    </p:cNvPr>
          <p:cNvPicPr>
            <a:picLocks noChangeAspect="1"/>
          </p:cNvPicPr>
          <p:nvPr/>
        </p:nvPicPr>
        <p:blipFill>
          <a:blip r:embed="rId4"/>
          <a:stretch>
            <a:fillRect/>
          </a:stretch>
        </p:blipFill>
        <p:spPr>
          <a:xfrm>
            <a:off x="8586216" y="4562856"/>
            <a:ext cx="658368" cy="658368"/>
          </a:xfrm>
          <a:prstGeom prst="rect">
            <a:avLst/>
          </a:prstGeom>
        </p:spPr>
      </p:pic>
      <p:sp>
        <p:nvSpPr>
          <p:cNvPr id="16" name="Shape 9"/>
          <p:cNvSpPr/>
          <p:nvPr/>
        </p:nvSpPr>
        <p:spPr>
          <a:xfrm flipH="1">
            <a:off x="6095848" y="2514600"/>
            <a:ext cx="4282592" cy="1234440"/>
          </a:xfrm>
          <a:prstGeom prst="line">
            <a:avLst/>
          </a:prstGeom>
          <a:noFill/>
          <a:ln w="25400">
            <a:solidFill>
              <a:srgbClr val="C9C9D6"/>
            </a:solidFill>
            <a:prstDash val="dash"/>
          </a:ln>
        </p:spPr>
      </p:sp>
      <p:sp>
        <p:nvSpPr>
          <p:cNvPr id="17" name="Shape 10"/>
          <p:cNvSpPr/>
          <p:nvPr/>
        </p:nvSpPr>
        <p:spPr>
          <a:xfrm>
            <a:off x="9692640" y="1828800"/>
            <a:ext cx="1371600" cy="1371600"/>
          </a:xfrm>
          <a:prstGeom prst="ellipse">
            <a:avLst/>
          </a:prstGeom>
          <a:solidFill>
            <a:srgbClr val="14141F"/>
          </a:solidFill>
          <a:ln/>
        </p:spPr>
      </p:sp>
      <p:pic>
        <p:nvPicPr>
          <p:cNvPr id="18" name="Image 4" descr="preencoded.png">    </p:cNvPr>
          <p:cNvPicPr>
            <a:picLocks noChangeAspect="1"/>
          </p:cNvPicPr>
          <p:nvPr/>
        </p:nvPicPr>
        <p:blipFill>
          <a:blip r:embed="rId5"/>
          <a:stretch>
            <a:fillRect/>
          </a:stretch>
        </p:blipFill>
        <p:spPr>
          <a:xfrm>
            <a:off x="10049256" y="2185416"/>
            <a:ext cx="658368" cy="65836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4</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accordion</a:t>
            </a:r>
            <a:endParaRPr lang="en-US" sz="3000" dirty="0"/>
          </a:p>
        </p:txBody>
      </p:sp>
      <p:sp>
        <p:nvSpPr>
          <p:cNvPr id="5" name="Shape 2"/>
          <p:cNvSpPr/>
          <p:nvPr/>
        </p:nvSpPr>
        <p:spPr>
          <a:xfrm>
            <a:off x="914400" y="4023360"/>
            <a:ext cx="640080" cy="1828800"/>
          </a:xfrm>
          <a:prstGeom prst="roundRect">
            <a:avLst>
              <a:gd name="adj" fmla="val 11429"/>
            </a:avLst>
          </a:prstGeom>
          <a:solidFill>
            <a:srgbClr val="14141F"/>
          </a:solidFill>
          <a:ln/>
        </p:spPr>
      </p:sp>
      <p:sp>
        <p:nvSpPr>
          <p:cNvPr id="6" name="Shape 3"/>
          <p:cNvSpPr/>
          <p:nvPr/>
        </p:nvSpPr>
        <p:spPr>
          <a:xfrm>
            <a:off x="1828800" y="4023360"/>
            <a:ext cx="640080" cy="1828800"/>
          </a:xfrm>
          <a:prstGeom prst="roundRect">
            <a:avLst>
              <a:gd name="adj" fmla="val 11429"/>
            </a:avLst>
          </a:prstGeom>
          <a:solidFill>
            <a:srgbClr val="14141F"/>
          </a:solidFill>
          <a:ln/>
        </p:spPr>
      </p:sp>
      <p:sp>
        <p:nvSpPr>
          <p:cNvPr id="7" name="Shape 4"/>
          <p:cNvSpPr/>
          <p:nvPr/>
        </p:nvSpPr>
        <p:spPr>
          <a:xfrm>
            <a:off x="2743200" y="4023360"/>
            <a:ext cx="640080" cy="1828800"/>
          </a:xfrm>
          <a:prstGeom prst="roundRect">
            <a:avLst>
              <a:gd name="adj" fmla="val 11429"/>
            </a:avLst>
          </a:prstGeom>
          <a:solidFill>
            <a:srgbClr val="14141F"/>
          </a:solidFill>
          <a:ln/>
        </p:spPr>
      </p:sp>
      <p:sp>
        <p:nvSpPr>
          <p:cNvPr id="8" name="Shape 5"/>
          <p:cNvSpPr/>
          <p:nvPr/>
        </p:nvSpPr>
        <p:spPr>
          <a:xfrm>
            <a:off x="3657600" y="4023360"/>
            <a:ext cx="640080" cy="1828800"/>
          </a:xfrm>
          <a:prstGeom prst="roundRect">
            <a:avLst>
              <a:gd name="adj" fmla="val 11429"/>
            </a:avLst>
          </a:prstGeom>
          <a:solidFill>
            <a:srgbClr val="14141F"/>
          </a:solidFill>
          <a:ln/>
        </p:spPr>
      </p:sp>
      <p:sp>
        <p:nvSpPr>
          <p:cNvPr id="9" name="Shape 6"/>
          <p:cNvSpPr/>
          <p:nvPr/>
        </p:nvSpPr>
        <p:spPr>
          <a:xfrm>
            <a:off x="4572000" y="4023360"/>
            <a:ext cx="640080" cy="1828800"/>
          </a:xfrm>
          <a:prstGeom prst="roundRect">
            <a:avLst>
              <a:gd name="adj" fmla="val 11429"/>
            </a:avLst>
          </a:prstGeom>
          <a:solidFill>
            <a:srgbClr val="14141F"/>
          </a:solidFill>
          <a:ln/>
        </p:spPr>
      </p:sp>
      <p:pic>
        <p:nvPicPr>
          <p:cNvPr id="10" name="Image 0" descr="preencoded.png">    </p:cNvPr>
          <p:cNvPicPr>
            <a:picLocks noChangeAspect="1"/>
          </p:cNvPicPr>
          <p:nvPr/>
        </p:nvPicPr>
        <p:blipFill>
          <a:blip r:embed="rId1"/>
          <a:stretch>
            <a:fillRect/>
          </a:stretch>
        </p:blipFill>
        <p:spPr>
          <a:xfrm>
            <a:off x="5577840" y="3566160"/>
            <a:ext cx="1005840" cy="1005840"/>
          </a:xfrm>
          <a:prstGeom prst="rect">
            <a:avLst/>
          </a:prstGeom>
        </p:spPr>
      </p:pic>
      <p:sp>
        <p:nvSpPr>
          <p:cNvPr id="11" name="Shape 7"/>
          <p:cNvSpPr/>
          <p:nvPr/>
        </p:nvSpPr>
        <p:spPr>
          <a:xfrm>
            <a:off x="6949440" y="3063240"/>
            <a:ext cx="1280160" cy="2788920"/>
          </a:xfrm>
          <a:prstGeom prst="roundRect">
            <a:avLst>
              <a:gd name="adj" fmla="val 5714"/>
            </a:avLst>
          </a:prstGeom>
          <a:solidFill>
            <a:srgbClr val="FF4D3D"/>
          </a:solidFill>
          <a:ln/>
        </p:spPr>
      </p:sp>
      <p:sp>
        <p:nvSpPr>
          <p:cNvPr id="12" name="Shape 8"/>
          <p:cNvSpPr/>
          <p:nvPr/>
        </p:nvSpPr>
        <p:spPr>
          <a:xfrm>
            <a:off x="8503920" y="3817620"/>
            <a:ext cx="2194560" cy="2034540"/>
          </a:xfrm>
          <a:prstGeom prst="roundRect">
            <a:avLst>
              <a:gd name="adj" fmla="val 3596"/>
            </a:avLst>
          </a:prstGeom>
          <a:solidFill>
            <a:srgbClr val="FF4D3D"/>
          </a:solidFill>
          <a:ln/>
        </p:spPr>
      </p:sp>
      <p:sp>
        <p:nvSpPr>
          <p:cNvPr id="13" name="Text 9"/>
          <p:cNvSpPr txBox="1"/>
          <p:nvPr/>
        </p:nvSpPr>
        <p:spPr>
          <a:xfrm>
            <a:off x="914400" y="5943600"/>
            <a:ext cx="4572000" cy="365760"/>
          </a:xfrm>
          <a:prstGeom prst="rect">
            <a:avLst/>
          </a:prstGeom>
          <a:noFill/>
          <a:ln/>
        </p:spPr>
        <p:txBody>
          <a:bodyPr wrap="square" lIns="0" tIns="0" rIns="0" bIns="0" rtlCol="0" anchor="t"/>
          <a:lstStyle/>
          <a:p>
            <a:pPr indent="0" marL="0">
              <a:buNone/>
            </a:pPr>
            <a:r>
              <a:rPr lang="en-US" sz="1800" b="1" dirty="0">
                <a:solidFill>
                  <a:srgbClr val="14141F"/>
                </a:solidFill>
                <a:latin typeface="Arial" pitchFamily="34" charset="0"/>
                <a:ea typeface="Arial" pitchFamily="34" charset="-122"/>
                <a:cs typeface="Arial" pitchFamily="34" charset="-120"/>
              </a:rPr>
              <a:t>Volume</a:t>
            </a:r>
            <a:endParaRPr lang="en-US" sz="1800" dirty="0"/>
          </a:p>
        </p:txBody>
      </p:sp>
      <p:sp>
        <p:nvSpPr>
          <p:cNvPr id="14" name="Text 10"/>
          <p:cNvSpPr txBox="1"/>
          <p:nvPr/>
        </p:nvSpPr>
        <p:spPr>
          <a:xfrm>
            <a:off x="8138160" y="5943600"/>
            <a:ext cx="2743200" cy="365760"/>
          </a:xfrm>
          <a:prstGeom prst="rect">
            <a:avLst/>
          </a:prstGeom>
          <a:noFill/>
          <a:ln/>
        </p:spPr>
        <p:txBody>
          <a:bodyPr wrap="square" lIns="0" tIns="0" rIns="0" bIns="0" rtlCol="0" anchor="t"/>
          <a:lstStyle/>
          <a:p>
            <a:pPr indent="0" marL="0">
              <a:buNone/>
            </a:pPr>
            <a:r>
              <a:rPr lang="en-US" sz="1800" b="1" dirty="0">
                <a:solidFill>
                  <a:srgbClr val="FF4D3D"/>
                </a:solidFill>
                <a:latin typeface="Arial" pitchFamily="34" charset="0"/>
                <a:ea typeface="Arial" pitchFamily="34" charset="-122"/>
                <a:cs typeface="Arial" pitchFamily="34" charset="-120"/>
              </a:rPr>
              <a:t>Effort</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05</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Short-form craft</a:t>
            </a:r>
            <a:endParaRPr lang="en-US" sz="4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5</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7 Lego bricks</a:t>
            </a:r>
            <a:endParaRPr lang="en-US" sz="3000" dirty="0"/>
          </a:p>
        </p:txBody>
      </p:sp>
      <p:sp>
        <p:nvSpPr>
          <p:cNvPr id="5" name="Shape 2"/>
          <p:cNvSpPr/>
          <p:nvPr/>
        </p:nvSpPr>
        <p:spPr>
          <a:xfrm>
            <a:off x="548640" y="1828800"/>
            <a:ext cx="1443838" cy="3108960"/>
          </a:xfrm>
          <a:prstGeom prst="roundRect">
            <a:avLst>
              <a:gd name="adj" fmla="val 7600"/>
            </a:avLst>
          </a:prstGeom>
          <a:solidFill>
            <a:srgbClr val="FF4D3D"/>
          </a:solidFill>
          <a:ln/>
        </p:spPr>
      </p:sp>
      <p:sp>
        <p:nvSpPr>
          <p:cNvPr id="6" name="Shape 3"/>
          <p:cNvSpPr/>
          <p:nvPr/>
        </p:nvSpPr>
        <p:spPr>
          <a:xfrm>
            <a:off x="767639" y="1508760"/>
            <a:ext cx="640080" cy="640080"/>
          </a:xfrm>
          <a:prstGeom prst="ellipse">
            <a:avLst/>
          </a:prstGeom>
          <a:solidFill>
            <a:srgbClr val="FF4D3D"/>
          </a:solidFill>
          <a:ln/>
        </p:spPr>
      </p:sp>
      <p:pic>
        <p:nvPicPr>
          <p:cNvPr id="7" name="Image 0" descr="preencoded.png">    </p:cNvPr>
          <p:cNvPicPr>
            <a:picLocks noChangeAspect="1"/>
          </p:cNvPicPr>
          <p:nvPr/>
        </p:nvPicPr>
        <p:blipFill>
          <a:blip r:embed="rId1"/>
          <a:stretch>
            <a:fillRect/>
          </a:stretch>
        </p:blipFill>
        <p:spPr>
          <a:xfrm>
            <a:off x="767639" y="2377440"/>
            <a:ext cx="1005840" cy="1005840"/>
          </a:xfrm>
          <a:prstGeom prst="rect">
            <a:avLst/>
          </a:prstGeom>
        </p:spPr>
      </p:pic>
      <p:sp>
        <p:nvSpPr>
          <p:cNvPr id="8" name="Text 4"/>
          <p:cNvSpPr txBox="1"/>
          <p:nvPr/>
        </p:nvSpPr>
        <p:spPr>
          <a:xfrm>
            <a:off x="594360" y="3840480"/>
            <a:ext cx="1352398" cy="54864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Topic</a:t>
            </a:r>
            <a:endParaRPr lang="en-US" sz="1800" dirty="0"/>
          </a:p>
        </p:txBody>
      </p:sp>
      <p:sp>
        <p:nvSpPr>
          <p:cNvPr id="9" name="Shape 5"/>
          <p:cNvSpPr/>
          <p:nvPr/>
        </p:nvSpPr>
        <p:spPr>
          <a:xfrm>
            <a:off x="2157070" y="2377440"/>
            <a:ext cx="1443838" cy="3108960"/>
          </a:xfrm>
          <a:prstGeom prst="roundRect">
            <a:avLst>
              <a:gd name="adj" fmla="val 7600"/>
            </a:avLst>
          </a:prstGeom>
          <a:solidFill>
            <a:srgbClr val="14141F"/>
          </a:solidFill>
          <a:ln/>
        </p:spPr>
      </p:sp>
      <p:sp>
        <p:nvSpPr>
          <p:cNvPr id="10" name="Shape 6"/>
          <p:cNvSpPr/>
          <p:nvPr/>
        </p:nvSpPr>
        <p:spPr>
          <a:xfrm>
            <a:off x="2376068" y="2057400"/>
            <a:ext cx="640080" cy="640080"/>
          </a:xfrm>
          <a:prstGeom prst="ellipse">
            <a:avLst/>
          </a:prstGeom>
          <a:solidFill>
            <a:srgbClr val="14141F"/>
          </a:solidFill>
          <a:ln/>
        </p:spPr>
      </p:sp>
      <p:pic>
        <p:nvPicPr>
          <p:cNvPr id="11" name="Image 1" descr="preencoded.png">    </p:cNvPr>
          <p:cNvPicPr>
            <a:picLocks noChangeAspect="1"/>
          </p:cNvPicPr>
          <p:nvPr/>
        </p:nvPicPr>
        <p:blipFill>
          <a:blip r:embed="rId2"/>
          <a:stretch>
            <a:fillRect/>
          </a:stretch>
        </p:blipFill>
        <p:spPr>
          <a:xfrm>
            <a:off x="2376068" y="2926080"/>
            <a:ext cx="1005840" cy="1005840"/>
          </a:xfrm>
          <a:prstGeom prst="rect">
            <a:avLst/>
          </a:prstGeom>
        </p:spPr>
      </p:pic>
      <p:sp>
        <p:nvSpPr>
          <p:cNvPr id="12" name="Text 7"/>
          <p:cNvSpPr txBox="1"/>
          <p:nvPr/>
        </p:nvSpPr>
        <p:spPr>
          <a:xfrm>
            <a:off x="2202790" y="4389120"/>
            <a:ext cx="1352398" cy="54864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Angle</a:t>
            </a:r>
            <a:endParaRPr lang="en-US" sz="1800" dirty="0"/>
          </a:p>
        </p:txBody>
      </p:sp>
      <p:sp>
        <p:nvSpPr>
          <p:cNvPr id="13" name="Shape 8"/>
          <p:cNvSpPr/>
          <p:nvPr/>
        </p:nvSpPr>
        <p:spPr>
          <a:xfrm>
            <a:off x="3765499" y="1828800"/>
            <a:ext cx="1443838" cy="3108960"/>
          </a:xfrm>
          <a:prstGeom prst="roundRect">
            <a:avLst>
              <a:gd name="adj" fmla="val 7600"/>
            </a:avLst>
          </a:prstGeom>
          <a:solidFill>
            <a:srgbClr val="FFC93C"/>
          </a:solidFill>
          <a:ln/>
        </p:spPr>
      </p:sp>
      <p:sp>
        <p:nvSpPr>
          <p:cNvPr id="14" name="Shape 9"/>
          <p:cNvSpPr/>
          <p:nvPr/>
        </p:nvSpPr>
        <p:spPr>
          <a:xfrm>
            <a:off x="3984498" y="1508760"/>
            <a:ext cx="640080" cy="640080"/>
          </a:xfrm>
          <a:prstGeom prst="ellipse">
            <a:avLst/>
          </a:prstGeom>
          <a:solidFill>
            <a:srgbClr val="FFC93C"/>
          </a:solidFill>
          <a:ln/>
        </p:spPr>
      </p:sp>
      <p:pic>
        <p:nvPicPr>
          <p:cNvPr id="15" name="Image 2" descr="preencoded.png">    </p:cNvPr>
          <p:cNvPicPr>
            <a:picLocks noChangeAspect="1"/>
          </p:cNvPicPr>
          <p:nvPr/>
        </p:nvPicPr>
        <p:blipFill>
          <a:blip r:embed="rId3"/>
          <a:stretch>
            <a:fillRect/>
          </a:stretch>
        </p:blipFill>
        <p:spPr>
          <a:xfrm>
            <a:off x="3984498" y="2377440"/>
            <a:ext cx="1005840" cy="1005840"/>
          </a:xfrm>
          <a:prstGeom prst="rect">
            <a:avLst/>
          </a:prstGeom>
        </p:spPr>
      </p:pic>
      <p:sp>
        <p:nvSpPr>
          <p:cNvPr id="16" name="Text 10"/>
          <p:cNvSpPr txBox="1"/>
          <p:nvPr/>
        </p:nvSpPr>
        <p:spPr>
          <a:xfrm>
            <a:off x="3811219" y="3840480"/>
            <a:ext cx="1352398" cy="54864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Hook</a:t>
            </a:r>
            <a:endParaRPr lang="en-US" sz="1800" dirty="0"/>
          </a:p>
        </p:txBody>
      </p:sp>
      <p:sp>
        <p:nvSpPr>
          <p:cNvPr id="17" name="Shape 11"/>
          <p:cNvSpPr/>
          <p:nvPr/>
        </p:nvSpPr>
        <p:spPr>
          <a:xfrm>
            <a:off x="5373929" y="2377440"/>
            <a:ext cx="1443838" cy="3108960"/>
          </a:xfrm>
          <a:prstGeom prst="roundRect">
            <a:avLst>
              <a:gd name="adj" fmla="val 7600"/>
            </a:avLst>
          </a:prstGeom>
          <a:solidFill>
            <a:srgbClr val="FF4D3D"/>
          </a:solidFill>
          <a:ln/>
        </p:spPr>
      </p:sp>
      <p:sp>
        <p:nvSpPr>
          <p:cNvPr id="18" name="Shape 12"/>
          <p:cNvSpPr/>
          <p:nvPr/>
        </p:nvSpPr>
        <p:spPr>
          <a:xfrm>
            <a:off x="5592928" y="2057400"/>
            <a:ext cx="640080" cy="640080"/>
          </a:xfrm>
          <a:prstGeom prst="ellipse">
            <a:avLst/>
          </a:prstGeom>
          <a:solidFill>
            <a:srgbClr val="FF4D3D"/>
          </a:solidFill>
          <a:ln/>
        </p:spPr>
      </p:sp>
      <p:pic>
        <p:nvPicPr>
          <p:cNvPr id="19" name="Image 3" descr="preencoded.png">    </p:cNvPr>
          <p:cNvPicPr>
            <a:picLocks noChangeAspect="1"/>
          </p:cNvPicPr>
          <p:nvPr/>
        </p:nvPicPr>
        <p:blipFill>
          <a:blip r:embed="rId4"/>
          <a:stretch>
            <a:fillRect/>
          </a:stretch>
        </p:blipFill>
        <p:spPr>
          <a:xfrm>
            <a:off x="5592928" y="2926080"/>
            <a:ext cx="1005840" cy="1005840"/>
          </a:xfrm>
          <a:prstGeom prst="rect">
            <a:avLst/>
          </a:prstGeom>
        </p:spPr>
      </p:pic>
      <p:sp>
        <p:nvSpPr>
          <p:cNvPr id="20" name="Text 13"/>
          <p:cNvSpPr txBox="1"/>
          <p:nvPr/>
        </p:nvSpPr>
        <p:spPr>
          <a:xfrm>
            <a:off x="5419649" y="4389120"/>
            <a:ext cx="1352398" cy="54864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Story</a:t>
            </a:r>
            <a:endParaRPr lang="en-US" sz="1800" dirty="0"/>
          </a:p>
        </p:txBody>
      </p:sp>
      <p:sp>
        <p:nvSpPr>
          <p:cNvPr id="21" name="Shape 14"/>
          <p:cNvSpPr/>
          <p:nvPr/>
        </p:nvSpPr>
        <p:spPr>
          <a:xfrm>
            <a:off x="6982358" y="1828800"/>
            <a:ext cx="1443838" cy="3108960"/>
          </a:xfrm>
          <a:prstGeom prst="roundRect">
            <a:avLst>
              <a:gd name="adj" fmla="val 7600"/>
            </a:avLst>
          </a:prstGeom>
          <a:solidFill>
            <a:srgbClr val="14141F"/>
          </a:solidFill>
          <a:ln/>
        </p:spPr>
      </p:sp>
      <p:sp>
        <p:nvSpPr>
          <p:cNvPr id="22" name="Shape 15"/>
          <p:cNvSpPr/>
          <p:nvPr/>
        </p:nvSpPr>
        <p:spPr>
          <a:xfrm>
            <a:off x="7201357" y="1508760"/>
            <a:ext cx="640080" cy="640080"/>
          </a:xfrm>
          <a:prstGeom prst="ellipse">
            <a:avLst/>
          </a:prstGeom>
          <a:solidFill>
            <a:srgbClr val="14141F"/>
          </a:solidFill>
          <a:ln/>
        </p:spPr>
      </p:sp>
      <p:pic>
        <p:nvPicPr>
          <p:cNvPr id="23" name="Image 4" descr="preencoded.png">    </p:cNvPr>
          <p:cNvPicPr>
            <a:picLocks noChangeAspect="1"/>
          </p:cNvPicPr>
          <p:nvPr/>
        </p:nvPicPr>
        <p:blipFill>
          <a:blip r:embed="rId5"/>
          <a:stretch>
            <a:fillRect/>
          </a:stretch>
        </p:blipFill>
        <p:spPr>
          <a:xfrm>
            <a:off x="7201357" y="2377440"/>
            <a:ext cx="1005840" cy="1005840"/>
          </a:xfrm>
          <a:prstGeom prst="rect">
            <a:avLst/>
          </a:prstGeom>
        </p:spPr>
      </p:pic>
      <p:sp>
        <p:nvSpPr>
          <p:cNvPr id="24" name="Text 16"/>
          <p:cNvSpPr txBox="1"/>
          <p:nvPr/>
        </p:nvSpPr>
        <p:spPr>
          <a:xfrm>
            <a:off x="7028078" y="3840480"/>
            <a:ext cx="1352398" cy="54864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Format</a:t>
            </a:r>
            <a:endParaRPr lang="en-US" sz="1800" dirty="0"/>
          </a:p>
        </p:txBody>
      </p:sp>
      <p:sp>
        <p:nvSpPr>
          <p:cNvPr id="25" name="Shape 17"/>
          <p:cNvSpPr/>
          <p:nvPr/>
        </p:nvSpPr>
        <p:spPr>
          <a:xfrm>
            <a:off x="8590788" y="2377440"/>
            <a:ext cx="1443838" cy="3108960"/>
          </a:xfrm>
          <a:prstGeom prst="roundRect">
            <a:avLst>
              <a:gd name="adj" fmla="val 7600"/>
            </a:avLst>
          </a:prstGeom>
          <a:solidFill>
            <a:srgbClr val="FFC93C"/>
          </a:solidFill>
          <a:ln/>
        </p:spPr>
      </p:sp>
      <p:sp>
        <p:nvSpPr>
          <p:cNvPr id="26" name="Shape 18"/>
          <p:cNvSpPr/>
          <p:nvPr/>
        </p:nvSpPr>
        <p:spPr>
          <a:xfrm>
            <a:off x="8809787" y="2057400"/>
            <a:ext cx="640080" cy="640080"/>
          </a:xfrm>
          <a:prstGeom prst="ellipse">
            <a:avLst/>
          </a:prstGeom>
          <a:solidFill>
            <a:srgbClr val="FFC93C"/>
          </a:solidFill>
          <a:ln/>
        </p:spPr>
      </p:sp>
      <p:pic>
        <p:nvPicPr>
          <p:cNvPr id="27" name="Image 5" descr="preencoded.png">    </p:cNvPr>
          <p:cNvPicPr>
            <a:picLocks noChangeAspect="1"/>
          </p:cNvPicPr>
          <p:nvPr/>
        </p:nvPicPr>
        <p:blipFill>
          <a:blip r:embed="rId6"/>
          <a:stretch>
            <a:fillRect/>
          </a:stretch>
        </p:blipFill>
        <p:spPr>
          <a:xfrm>
            <a:off x="8809787" y="2926080"/>
            <a:ext cx="1005840" cy="1005840"/>
          </a:xfrm>
          <a:prstGeom prst="rect">
            <a:avLst/>
          </a:prstGeom>
        </p:spPr>
      </p:pic>
      <p:sp>
        <p:nvSpPr>
          <p:cNvPr id="28" name="Text 19"/>
          <p:cNvSpPr txBox="1"/>
          <p:nvPr/>
        </p:nvSpPr>
        <p:spPr>
          <a:xfrm>
            <a:off x="8636508" y="4389120"/>
            <a:ext cx="1352398" cy="54864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Visuals</a:t>
            </a:r>
            <a:endParaRPr lang="en-US" sz="1800" dirty="0"/>
          </a:p>
        </p:txBody>
      </p:sp>
      <p:sp>
        <p:nvSpPr>
          <p:cNvPr id="29" name="Shape 20"/>
          <p:cNvSpPr/>
          <p:nvPr/>
        </p:nvSpPr>
        <p:spPr>
          <a:xfrm>
            <a:off x="10199218" y="1828800"/>
            <a:ext cx="1443838" cy="3108960"/>
          </a:xfrm>
          <a:prstGeom prst="roundRect">
            <a:avLst>
              <a:gd name="adj" fmla="val 7600"/>
            </a:avLst>
          </a:prstGeom>
          <a:solidFill>
            <a:srgbClr val="FF4D3D"/>
          </a:solidFill>
          <a:ln/>
        </p:spPr>
      </p:sp>
      <p:sp>
        <p:nvSpPr>
          <p:cNvPr id="30" name="Shape 21"/>
          <p:cNvSpPr/>
          <p:nvPr/>
        </p:nvSpPr>
        <p:spPr>
          <a:xfrm>
            <a:off x="10418216" y="1508760"/>
            <a:ext cx="640080" cy="640080"/>
          </a:xfrm>
          <a:prstGeom prst="ellipse">
            <a:avLst/>
          </a:prstGeom>
          <a:solidFill>
            <a:srgbClr val="FF4D3D"/>
          </a:solidFill>
          <a:ln/>
        </p:spPr>
      </p:sp>
      <p:pic>
        <p:nvPicPr>
          <p:cNvPr id="31" name="Image 6" descr="preencoded.png">    </p:cNvPr>
          <p:cNvPicPr>
            <a:picLocks noChangeAspect="1"/>
          </p:cNvPicPr>
          <p:nvPr/>
        </p:nvPicPr>
        <p:blipFill>
          <a:blip r:embed="rId7"/>
          <a:stretch>
            <a:fillRect/>
          </a:stretch>
        </p:blipFill>
        <p:spPr>
          <a:xfrm>
            <a:off x="10418216" y="2377440"/>
            <a:ext cx="1005840" cy="1005840"/>
          </a:xfrm>
          <a:prstGeom prst="rect">
            <a:avLst/>
          </a:prstGeom>
        </p:spPr>
      </p:pic>
      <p:sp>
        <p:nvSpPr>
          <p:cNvPr id="32" name="Text 22"/>
          <p:cNvSpPr txBox="1"/>
          <p:nvPr/>
        </p:nvSpPr>
        <p:spPr>
          <a:xfrm>
            <a:off x="10244938" y="3840480"/>
            <a:ext cx="1352398" cy="54864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Audio</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5</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hook: 3 layers, 3 jobs</a:t>
            </a:r>
            <a:endParaRPr lang="en-US" sz="3000" dirty="0"/>
          </a:p>
        </p:txBody>
      </p:sp>
      <p:sp>
        <p:nvSpPr>
          <p:cNvPr id="5" name="Shape 2"/>
          <p:cNvSpPr/>
          <p:nvPr/>
        </p:nvSpPr>
        <p:spPr>
          <a:xfrm>
            <a:off x="1803349" y="1737360"/>
            <a:ext cx="1188720" cy="1188720"/>
          </a:xfrm>
          <a:prstGeom prst="ellipse">
            <a:avLst/>
          </a:prstGeom>
          <a:solidFill>
            <a:srgbClr val="14141F"/>
          </a:solidFill>
          <a:ln/>
        </p:spPr>
      </p:sp>
      <p:pic>
        <p:nvPicPr>
          <p:cNvPr id="6" name="Image 0" descr="preencoded.png">    </p:cNvPr>
          <p:cNvPicPr>
            <a:picLocks noChangeAspect="1"/>
          </p:cNvPicPr>
          <p:nvPr/>
        </p:nvPicPr>
        <p:blipFill>
          <a:blip r:embed="rId1"/>
          <a:stretch>
            <a:fillRect/>
          </a:stretch>
        </p:blipFill>
        <p:spPr>
          <a:xfrm>
            <a:off x="2112416" y="2046427"/>
            <a:ext cx="570586" cy="570586"/>
          </a:xfrm>
          <a:prstGeom prst="rect">
            <a:avLst/>
          </a:prstGeom>
        </p:spPr>
      </p:pic>
      <p:sp>
        <p:nvSpPr>
          <p:cNvPr id="7" name="Text 3"/>
          <p:cNvSpPr txBox="1"/>
          <p:nvPr/>
        </p:nvSpPr>
        <p:spPr>
          <a:xfrm>
            <a:off x="594360" y="3108960"/>
            <a:ext cx="3606698"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Visual</a:t>
            </a:r>
            <a:endParaRPr lang="en-US" sz="1600" dirty="0"/>
          </a:p>
        </p:txBody>
      </p:sp>
      <p:sp>
        <p:nvSpPr>
          <p:cNvPr id="8" name="Shape 4"/>
          <p:cNvSpPr/>
          <p:nvPr/>
        </p:nvSpPr>
        <p:spPr>
          <a:xfrm>
            <a:off x="5501488" y="1737360"/>
            <a:ext cx="1188720" cy="1188720"/>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5810555" y="2046427"/>
            <a:ext cx="570586" cy="570586"/>
          </a:xfrm>
          <a:prstGeom prst="rect">
            <a:avLst/>
          </a:prstGeom>
        </p:spPr>
      </p:pic>
      <p:sp>
        <p:nvSpPr>
          <p:cNvPr id="10" name="Text 5"/>
          <p:cNvSpPr txBox="1"/>
          <p:nvPr/>
        </p:nvSpPr>
        <p:spPr>
          <a:xfrm>
            <a:off x="4292498" y="3108960"/>
            <a:ext cx="3606698"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Text</a:t>
            </a:r>
            <a:endParaRPr lang="en-US" sz="1600" dirty="0"/>
          </a:p>
        </p:txBody>
      </p:sp>
      <p:sp>
        <p:nvSpPr>
          <p:cNvPr id="11" name="Shape 6"/>
          <p:cNvSpPr/>
          <p:nvPr/>
        </p:nvSpPr>
        <p:spPr>
          <a:xfrm>
            <a:off x="9199626" y="1737360"/>
            <a:ext cx="1188720" cy="1188720"/>
          </a:xfrm>
          <a:prstGeom prst="ellipse">
            <a:avLst/>
          </a:prstGeom>
          <a:solidFill>
            <a:srgbClr val="14141F"/>
          </a:solidFill>
          <a:ln/>
        </p:spPr>
      </p:sp>
      <p:pic>
        <p:nvPicPr>
          <p:cNvPr id="12" name="Image 2" descr="preencoded.png">    </p:cNvPr>
          <p:cNvPicPr>
            <a:picLocks noChangeAspect="1"/>
          </p:cNvPicPr>
          <p:nvPr/>
        </p:nvPicPr>
        <p:blipFill>
          <a:blip r:embed="rId3"/>
          <a:stretch>
            <a:fillRect/>
          </a:stretch>
        </p:blipFill>
        <p:spPr>
          <a:xfrm>
            <a:off x="9508693" y="2046427"/>
            <a:ext cx="570586" cy="570586"/>
          </a:xfrm>
          <a:prstGeom prst="rect">
            <a:avLst/>
          </a:prstGeom>
        </p:spPr>
      </p:pic>
      <p:sp>
        <p:nvSpPr>
          <p:cNvPr id="13" name="Text 7"/>
          <p:cNvSpPr txBox="1"/>
          <p:nvPr/>
        </p:nvSpPr>
        <p:spPr>
          <a:xfrm>
            <a:off x="7990637" y="3108960"/>
            <a:ext cx="3606698"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Spoken</a:t>
            </a:r>
            <a:endParaRPr lang="en-US" sz="1600" dirty="0"/>
          </a:p>
        </p:txBody>
      </p:sp>
      <p:sp>
        <p:nvSpPr>
          <p:cNvPr id="14" name="Shape 8"/>
          <p:cNvSpPr/>
          <p:nvPr/>
        </p:nvSpPr>
        <p:spPr>
          <a:xfrm>
            <a:off x="3129229" y="4663440"/>
            <a:ext cx="2235098" cy="0"/>
          </a:xfrm>
          <a:prstGeom prst="line">
            <a:avLst/>
          </a:prstGeom>
          <a:noFill/>
          <a:ln w="38100">
            <a:solidFill>
              <a:srgbClr val="C9C9D6"/>
            </a:solidFill>
            <a:prstDash val="solid"/>
            <a:tailEnd type="triangle"/>
          </a:ln>
        </p:spPr>
      </p:sp>
      <p:sp>
        <p:nvSpPr>
          <p:cNvPr id="15" name="Shape 9"/>
          <p:cNvSpPr/>
          <p:nvPr/>
        </p:nvSpPr>
        <p:spPr>
          <a:xfrm>
            <a:off x="6827368" y="4663440"/>
            <a:ext cx="2235098" cy="0"/>
          </a:xfrm>
          <a:prstGeom prst="line">
            <a:avLst/>
          </a:prstGeom>
          <a:noFill/>
          <a:ln w="38100">
            <a:solidFill>
              <a:srgbClr val="C9C9D6"/>
            </a:solidFill>
            <a:prstDash val="solid"/>
            <a:tailEnd type="triangle"/>
          </a:ln>
        </p:spPr>
      </p:sp>
      <p:sp>
        <p:nvSpPr>
          <p:cNvPr id="16" name="Shape 10"/>
          <p:cNvSpPr/>
          <p:nvPr/>
        </p:nvSpPr>
        <p:spPr>
          <a:xfrm>
            <a:off x="1757629" y="4023360"/>
            <a:ext cx="1280160" cy="1280160"/>
          </a:xfrm>
          <a:prstGeom prst="ellipse">
            <a:avLst/>
          </a:prstGeom>
          <a:solidFill>
            <a:srgbClr val="FF4D3D"/>
          </a:solidFill>
          <a:ln/>
        </p:spPr>
      </p:sp>
      <p:pic>
        <p:nvPicPr>
          <p:cNvPr id="17" name="Image 3" descr="preencoded.png">    </p:cNvPr>
          <p:cNvPicPr>
            <a:picLocks noChangeAspect="1"/>
          </p:cNvPicPr>
          <p:nvPr/>
        </p:nvPicPr>
        <p:blipFill>
          <a:blip r:embed="rId4"/>
          <a:stretch>
            <a:fillRect/>
          </a:stretch>
        </p:blipFill>
        <p:spPr>
          <a:xfrm>
            <a:off x="2090471" y="4356202"/>
            <a:ext cx="614477" cy="614477"/>
          </a:xfrm>
          <a:prstGeom prst="rect">
            <a:avLst/>
          </a:prstGeom>
        </p:spPr>
      </p:pic>
      <p:sp>
        <p:nvSpPr>
          <p:cNvPr id="18" name="Text 11"/>
          <p:cNvSpPr txBox="1"/>
          <p:nvPr/>
        </p:nvSpPr>
        <p:spPr>
          <a:xfrm>
            <a:off x="594360" y="5486400"/>
            <a:ext cx="3606698"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Stop</a:t>
            </a:r>
            <a:endParaRPr lang="en-US" sz="1800" dirty="0"/>
          </a:p>
        </p:txBody>
      </p:sp>
      <p:sp>
        <p:nvSpPr>
          <p:cNvPr id="19" name="Shape 12"/>
          <p:cNvSpPr/>
          <p:nvPr/>
        </p:nvSpPr>
        <p:spPr>
          <a:xfrm>
            <a:off x="5455768" y="4023360"/>
            <a:ext cx="1280160" cy="1280160"/>
          </a:xfrm>
          <a:prstGeom prst="ellipse">
            <a:avLst/>
          </a:prstGeom>
          <a:solidFill>
            <a:srgbClr val="14141F"/>
          </a:solidFill>
          <a:ln/>
        </p:spPr>
      </p:sp>
      <p:pic>
        <p:nvPicPr>
          <p:cNvPr id="20" name="Image 4" descr="preencoded.png">    </p:cNvPr>
          <p:cNvPicPr>
            <a:picLocks noChangeAspect="1"/>
          </p:cNvPicPr>
          <p:nvPr/>
        </p:nvPicPr>
        <p:blipFill>
          <a:blip r:embed="rId5"/>
          <a:stretch>
            <a:fillRect/>
          </a:stretch>
        </p:blipFill>
        <p:spPr>
          <a:xfrm>
            <a:off x="5788609" y="4356202"/>
            <a:ext cx="614477" cy="614477"/>
          </a:xfrm>
          <a:prstGeom prst="rect">
            <a:avLst/>
          </a:prstGeom>
        </p:spPr>
      </p:pic>
      <p:sp>
        <p:nvSpPr>
          <p:cNvPr id="21" name="Text 13"/>
          <p:cNvSpPr txBox="1"/>
          <p:nvPr/>
        </p:nvSpPr>
        <p:spPr>
          <a:xfrm>
            <a:off x="4292498" y="5486400"/>
            <a:ext cx="3606698"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Context</a:t>
            </a:r>
            <a:endParaRPr lang="en-US" sz="1800" dirty="0"/>
          </a:p>
        </p:txBody>
      </p:sp>
      <p:sp>
        <p:nvSpPr>
          <p:cNvPr id="22" name="Shape 14"/>
          <p:cNvSpPr/>
          <p:nvPr/>
        </p:nvSpPr>
        <p:spPr>
          <a:xfrm>
            <a:off x="9153906" y="4023360"/>
            <a:ext cx="1280160" cy="1280160"/>
          </a:xfrm>
          <a:prstGeom prst="ellipse">
            <a:avLst/>
          </a:prstGeom>
          <a:solidFill>
            <a:srgbClr val="FFC93C"/>
          </a:solidFill>
          <a:ln/>
        </p:spPr>
      </p:sp>
      <p:pic>
        <p:nvPicPr>
          <p:cNvPr id="23" name="Image 5" descr="preencoded.png">    </p:cNvPr>
          <p:cNvPicPr>
            <a:picLocks noChangeAspect="1"/>
          </p:cNvPicPr>
          <p:nvPr/>
        </p:nvPicPr>
        <p:blipFill>
          <a:blip r:embed="rId6"/>
          <a:stretch>
            <a:fillRect/>
          </a:stretch>
        </p:blipFill>
        <p:spPr>
          <a:xfrm>
            <a:off x="9486748" y="4356202"/>
            <a:ext cx="614477" cy="614477"/>
          </a:xfrm>
          <a:prstGeom prst="rect">
            <a:avLst/>
          </a:prstGeom>
        </p:spPr>
      </p:pic>
      <p:sp>
        <p:nvSpPr>
          <p:cNvPr id="24" name="Text 15"/>
          <p:cNvSpPr txBox="1"/>
          <p:nvPr/>
        </p:nvSpPr>
        <p:spPr>
          <a:xfrm>
            <a:off x="7990637" y="5486400"/>
            <a:ext cx="3606698"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Contrast</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5</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Direct vs. implied contrast</a:t>
            </a:r>
            <a:endParaRPr lang="en-US" sz="3000" dirty="0"/>
          </a:p>
        </p:txBody>
      </p:sp>
      <p:sp>
        <p:nvSpPr>
          <p:cNvPr id="5" name="Shape 2"/>
          <p:cNvSpPr/>
          <p:nvPr/>
        </p:nvSpPr>
        <p:spPr>
          <a:xfrm>
            <a:off x="1463040" y="5120640"/>
            <a:ext cx="9265615" cy="0"/>
          </a:xfrm>
          <a:prstGeom prst="line">
            <a:avLst/>
          </a:prstGeom>
          <a:noFill/>
          <a:ln w="38100">
            <a:solidFill>
              <a:srgbClr val="C9C9D6"/>
            </a:solidFill>
            <a:prstDash val="solid"/>
          </a:ln>
        </p:spPr>
      </p:sp>
      <p:sp>
        <p:nvSpPr>
          <p:cNvPr id="6" name="Text 3"/>
          <p:cNvSpPr txBox="1"/>
          <p:nvPr/>
        </p:nvSpPr>
        <p:spPr>
          <a:xfrm>
            <a:off x="914400" y="5303520"/>
            <a:ext cx="1097280" cy="457200"/>
          </a:xfrm>
          <a:prstGeom prst="rect">
            <a:avLst/>
          </a:prstGeom>
          <a:noFill/>
          <a:ln/>
        </p:spPr>
        <p:txBody>
          <a:bodyPr wrap="square" lIns="0" tIns="0" rIns="0" bIns="0" rtlCol="0" anchor="t"/>
          <a:lstStyle/>
          <a:p>
            <a:pPr algn="ctr" indent="0" marL="0">
              <a:buNone/>
            </a:pPr>
            <a:r>
              <a:rPr lang="en-US" sz="2000" b="1" dirty="0">
                <a:solidFill>
                  <a:srgbClr val="5B5B6B"/>
                </a:solidFill>
                <a:latin typeface="Arial" pitchFamily="34" charset="0"/>
                <a:ea typeface="Arial" pitchFamily="34" charset="-122"/>
                <a:cs typeface="Arial" pitchFamily="34" charset="-120"/>
              </a:rPr>
              <a:t>−100</a:t>
            </a:r>
            <a:endParaRPr lang="en-US" sz="2000" dirty="0"/>
          </a:p>
        </p:txBody>
      </p:sp>
      <p:sp>
        <p:nvSpPr>
          <p:cNvPr id="7" name="Text 4"/>
          <p:cNvSpPr txBox="1"/>
          <p:nvPr/>
        </p:nvSpPr>
        <p:spPr>
          <a:xfrm>
            <a:off x="5547208" y="5303520"/>
            <a:ext cx="1097280" cy="457200"/>
          </a:xfrm>
          <a:prstGeom prst="rect">
            <a:avLst/>
          </a:prstGeom>
          <a:noFill/>
          <a:ln/>
        </p:spPr>
        <p:txBody>
          <a:bodyPr wrap="square" lIns="0" tIns="0" rIns="0" bIns="0" rtlCol="0" anchor="t"/>
          <a:lstStyle/>
          <a:p>
            <a:pPr algn="ctr" indent="0" marL="0">
              <a:buNone/>
            </a:pPr>
            <a:r>
              <a:rPr lang="en-US" sz="2000" b="1" dirty="0">
                <a:solidFill>
                  <a:srgbClr val="5B5B6B"/>
                </a:solidFill>
                <a:latin typeface="Arial" pitchFamily="34" charset="0"/>
                <a:ea typeface="Arial" pitchFamily="34" charset="-122"/>
                <a:cs typeface="Arial" pitchFamily="34" charset="-120"/>
              </a:rPr>
              <a:t>0</a:t>
            </a:r>
            <a:endParaRPr lang="en-US" sz="2000" dirty="0"/>
          </a:p>
        </p:txBody>
      </p:sp>
      <p:sp>
        <p:nvSpPr>
          <p:cNvPr id="8" name="Text 5"/>
          <p:cNvSpPr txBox="1"/>
          <p:nvPr/>
        </p:nvSpPr>
        <p:spPr>
          <a:xfrm>
            <a:off x="10180015" y="5303520"/>
            <a:ext cx="1097280" cy="457200"/>
          </a:xfrm>
          <a:prstGeom prst="rect">
            <a:avLst/>
          </a:prstGeom>
          <a:noFill/>
          <a:ln/>
        </p:spPr>
        <p:txBody>
          <a:bodyPr wrap="square" lIns="0" tIns="0" rIns="0" bIns="0" rtlCol="0" anchor="t"/>
          <a:lstStyle/>
          <a:p>
            <a:pPr algn="ctr" indent="0" marL="0">
              <a:buNone/>
            </a:pPr>
            <a:r>
              <a:rPr lang="en-US" sz="2000" b="1" dirty="0">
                <a:solidFill>
                  <a:srgbClr val="5B5B6B"/>
                </a:solidFill>
                <a:latin typeface="Arial" pitchFamily="34" charset="0"/>
                <a:ea typeface="Arial" pitchFamily="34" charset="-122"/>
                <a:cs typeface="Arial" pitchFamily="34" charset="-120"/>
              </a:rPr>
              <a:t>+100</a:t>
            </a:r>
            <a:endParaRPr lang="en-US" sz="2000" dirty="0"/>
          </a:p>
        </p:txBody>
      </p:sp>
      <p:sp>
        <p:nvSpPr>
          <p:cNvPr id="9" name="Shape 6"/>
          <p:cNvSpPr/>
          <p:nvPr/>
        </p:nvSpPr>
        <p:spPr>
          <a:xfrm>
            <a:off x="1463040" y="3840480"/>
            <a:ext cx="4632808" cy="640080"/>
          </a:xfrm>
          <a:prstGeom prst="roundRect">
            <a:avLst>
              <a:gd name="adj" fmla="val 14286"/>
            </a:avLst>
          </a:prstGeom>
          <a:solidFill>
            <a:srgbClr val="14141F"/>
          </a:solidFill>
          <a:ln/>
        </p:spPr>
      </p:sp>
      <p:sp>
        <p:nvSpPr>
          <p:cNvPr id="10" name="Shape 7"/>
          <p:cNvSpPr/>
          <p:nvPr/>
        </p:nvSpPr>
        <p:spPr>
          <a:xfrm>
            <a:off x="1463040" y="2377440"/>
            <a:ext cx="9265615" cy="640080"/>
          </a:xfrm>
          <a:prstGeom prst="roundRect">
            <a:avLst>
              <a:gd name="adj" fmla="val 14286"/>
            </a:avLst>
          </a:prstGeom>
          <a:solidFill>
            <a:srgbClr val="FF4D3D"/>
          </a:solidFill>
          <a:ln/>
        </p:spPr>
      </p:sp>
      <p:sp>
        <p:nvSpPr>
          <p:cNvPr id="11" name="Text 8"/>
          <p:cNvSpPr txBox="1"/>
          <p:nvPr/>
        </p:nvSpPr>
        <p:spPr>
          <a:xfrm>
            <a:off x="1645920" y="3840480"/>
            <a:ext cx="3657600" cy="6400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Implied · 100</a:t>
            </a:r>
            <a:endParaRPr lang="en-US" sz="1800" dirty="0"/>
          </a:p>
        </p:txBody>
      </p:sp>
      <p:sp>
        <p:nvSpPr>
          <p:cNvPr id="12" name="Text 9"/>
          <p:cNvSpPr txBox="1"/>
          <p:nvPr/>
        </p:nvSpPr>
        <p:spPr>
          <a:xfrm>
            <a:off x="1645920" y="2377440"/>
            <a:ext cx="3657600" cy="6400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Direct · 200</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5</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Write for 100% absorption</a:t>
            </a:r>
            <a:endParaRPr lang="en-US" sz="3000" dirty="0"/>
          </a:p>
        </p:txBody>
      </p:sp>
      <p:sp>
        <p:nvSpPr>
          <p:cNvPr id="5" name="Shape 2"/>
          <p:cNvSpPr/>
          <p:nvPr/>
        </p:nvSpPr>
        <p:spPr>
          <a:xfrm>
            <a:off x="1075625" y="2614903"/>
            <a:ext cx="1719634" cy="1719634"/>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522730" y="3062008"/>
            <a:ext cx="825424" cy="825424"/>
          </a:xfrm>
          <a:prstGeom prst="rect">
            <a:avLst/>
          </a:prstGeom>
        </p:spPr>
      </p:pic>
      <p:sp>
        <p:nvSpPr>
          <p:cNvPr id="7" name="Text 3"/>
          <p:cNvSpPr txBox="1"/>
          <p:nvPr/>
        </p:nvSpPr>
        <p:spPr>
          <a:xfrm>
            <a:off x="594360"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Absorb</a:t>
            </a:r>
            <a:endParaRPr lang="en-US" sz="1800" dirty="0"/>
          </a:p>
        </p:txBody>
      </p:sp>
      <p:sp>
        <p:nvSpPr>
          <p:cNvPr id="8" name="Shape 4"/>
          <p:cNvSpPr/>
          <p:nvPr/>
        </p:nvSpPr>
        <p:spPr>
          <a:xfrm>
            <a:off x="3849229" y="2614903"/>
            <a:ext cx="1719634" cy="1719634"/>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4296333" y="3062008"/>
            <a:ext cx="825424" cy="825424"/>
          </a:xfrm>
          <a:prstGeom prst="rect">
            <a:avLst/>
          </a:prstGeom>
        </p:spPr>
      </p:pic>
      <p:sp>
        <p:nvSpPr>
          <p:cNvPr id="10" name="Text 5"/>
          <p:cNvSpPr txBox="1"/>
          <p:nvPr/>
        </p:nvSpPr>
        <p:spPr>
          <a:xfrm>
            <a:off x="3367964"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Question chain</a:t>
            </a:r>
            <a:endParaRPr lang="en-US" sz="1800" dirty="0"/>
          </a:p>
        </p:txBody>
      </p:sp>
      <p:sp>
        <p:nvSpPr>
          <p:cNvPr id="11" name="Shape 6"/>
          <p:cNvSpPr/>
          <p:nvPr/>
        </p:nvSpPr>
        <p:spPr>
          <a:xfrm>
            <a:off x="6622832" y="2614903"/>
            <a:ext cx="1719634" cy="1719634"/>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7069937" y="3062008"/>
            <a:ext cx="825424" cy="825424"/>
          </a:xfrm>
          <a:prstGeom prst="rect">
            <a:avLst/>
          </a:prstGeom>
        </p:spPr>
      </p:pic>
      <p:sp>
        <p:nvSpPr>
          <p:cNvPr id="13" name="Text 7"/>
          <p:cNvSpPr txBox="1"/>
          <p:nvPr/>
        </p:nvSpPr>
        <p:spPr>
          <a:xfrm>
            <a:off x="6141568"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Objections</a:t>
            </a:r>
            <a:endParaRPr lang="en-US" sz="1800" dirty="0"/>
          </a:p>
        </p:txBody>
      </p:sp>
      <p:sp>
        <p:nvSpPr>
          <p:cNvPr id="14" name="Shape 8"/>
          <p:cNvSpPr/>
          <p:nvPr/>
        </p:nvSpPr>
        <p:spPr>
          <a:xfrm>
            <a:off x="9396436" y="2614903"/>
            <a:ext cx="1719634" cy="1719634"/>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9843541" y="3062008"/>
            <a:ext cx="825424" cy="825424"/>
          </a:xfrm>
          <a:prstGeom prst="rect">
            <a:avLst/>
          </a:prstGeom>
        </p:spPr>
      </p:pic>
      <p:sp>
        <p:nvSpPr>
          <p:cNvPr id="16" name="Text 9"/>
          <p:cNvSpPr txBox="1"/>
          <p:nvPr/>
        </p:nvSpPr>
        <p:spPr>
          <a:xfrm>
            <a:off x="8915171"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2 dopamine hits</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5</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Grab the eye</a:t>
            </a:r>
            <a:endParaRPr lang="en-US" sz="3000" dirty="0"/>
          </a:p>
        </p:txBody>
      </p:sp>
      <p:sp>
        <p:nvSpPr>
          <p:cNvPr id="5" name="Shape 2"/>
          <p:cNvSpPr/>
          <p:nvPr/>
        </p:nvSpPr>
        <p:spPr>
          <a:xfrm>
            <a:off x="1437589" y="2514600"/>
            <a:ext cx="1920240" cy="1920240"/>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936852" y="3013862"/>
            <a:ext cx="921715" cy="921715"/>
          </a:xfrm>
          <a:prstGeom prst="rect">
            <a:avLst/>
          </a:prstGeom>
        </p:spPr>
      </p:pic>
      <p:sp>
        <p:nvSpPr>
          <p:cNvPr id="7" name="Text 3"/>
          <p:cNvSpPr txBox="1"/>
          <p:nvPr/>
        </p:nvSpPr>
        <p:spPr>
          <a:xfrm>
            <a:off x="594360" y="461772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Motion</a:t>
            </a:r>
            <a:endParaRPr lang="en-US" sz="2200" dirty="0"/>
          </a:p>
        </p:txBody>
      </p:sp>
      <p:sp>
        <p:nvSpPr>
          <p:cNvPr id="8" name="Shape 4"/>
          <p:cNvSpPr/>
          <p:nvPr/>
        </p:nvSpPr>
        <p:spPr>
          <a:xfrm>
            <a:off x="5135728" y="2514600"/>
            <a:ext cx="1920240" cy="1920240"/>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5634990" y="3013862"/>
            <a:ext cx="921715" cy="921715"/>
          </a:xfrm>
          <a:prstGeom prst="rect">
            <a:avLst/>
          </a:prstGeom>
        </p:spPr>
      </p:pic>
      <p:sp>
        <p:nvSpPr>
          <p:cNvPr id="10" name="Text 5"/>
          <p:cNvSpPr txBox="1"/>
          <p:nvPr/>
        </p:nvSpPr>
        <p:spPr>
          <a:xfrm>
            <a:off x="4292498" y="461772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Color</a:t>
            </a:r>
            <a:endParaRPr lang="en-US" sz="2200" dirty="0"/>
          </a:p>
        </p:txBody>
      </p:sp>
      <p:sp>
        <p:nvSpPr>
          <p:cNvPr id="11" name="Shape 6"/>
          <p:cNvSpPr/>
          <p:nvPr/>
        </p:nvSpPr>
        <p:spPr>
          <a:xfrm>
            <a:off x="8833866" y="2514600"/>
            <a:ext cx="1920240" cy="1920240"/>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9333128" y="3013862"/>
            <a:ext cx="921715" cy="921715"/>
          </a:xfrm>
          <a:prstGeom prst="rect">
            <a:avLst/>
          </a:prstGeom>
        </p:spPr>
      </p:pic>
      <p:sp>
        <p:nvSpPr>
          <p:cNvPr id="13" name="Text 7"/>
          <p:cNvSpPr txBox="1"/>
          <p:nvPr/>
        </p:nvSpPr>
        <p:spPr>
          <a:xfrm>
            <a:off x="7990637" y="461772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Contrast</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5</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Comprehension only falls</a:t>
            </a:r>
            <a:endParaRPr lang="en-US" sz="3000" dirty="0"/>
          </a:p>
        </p:txBody>
      </p:sp>
      <p:graphicFrame>
        <p:nvGraphicFramePr>
          <p:cNvPr id="5" name="Chart 0" descr=""/>
          <p:cNvGraphicFramePr/>
          <p:nvPr/>
        </p:nvGraphicFramePr>
        <p:xfrm>
          <a:off x="548640" y="1463040"/>
          <a:ext cx="7863840" cy="4754880"/>
        </p:xfrm>
        <a:graphic xmlns:a="http://schemas.openxmlformats.org/drawingml/2006/main">
          <a:graphicData uri="http://schemas.openxmlformats.org/drawingml/2006/chart">
            <c:chart xmlns:c="http://schemas.openxmlformats.org/drawingml/2006/chart" r:id="rId1"/>
          </a:graphicData>
        </a:graphic>
      </p:graphicFrame>
      <p:pic>
        <p:nvPicPr>
          <p:cNvPr id="6" name="Image 0" descr="preencoded.png">    </p:cNvPr>
          <p:cNvPicPr>
            <a:picLocks noChangeAspect="1"/>
          </p:cNvPicPr>
          <p:nvPr/>
        </p:nvPicPr>
        <p:blipFill>
          <a:blip r:embed="rId2"/>
          <a:stretch>
            <a:fillRect/>
          </a:stretch>
        </p:blipFill>
        <p:spPr>
          <a:xfrm>
            <a:off x="5303520" y="2011680"/>
            <a:ext cx="731520" cy="731520"/>
          </a:xfrm>
          <a:prstGeom prst="rect">
            <a:avLst/>
          </a:prstGeom>
        </p:spPr>
      </p:pic>
      <p:sp>
        <p:nvSpPr>
          <p:cNvPr id="7" name="Shape 2"/>
          <p:cNvSpPr/>
          <p:nvPr/>
        </p:nvSpPr>
        <p:spPr>
          <a:xfrm>
            <a:off x="9052560" y="2194560"/>
            <a:ext cx="2377440" cy="2377440"/>
          </a:xfrm>
          <a:prstGeom prst="ellipse">
            <a:avLst/>
          </a:prstGeom>
          <a:solidFill>
            <a:srgbClr val="14141F"/>
          </a:solidFill>
          <a:ln/>
        </p:spPr>
      </p:sp>
      <p:pic>
        <p:nvPicPr>
          <p:cNvPr id="8" name="Image 1" descr="preencoded.png">    </p:cNvPr>
          <p:cNvPicPr>
            <a:picLocks noChangeAspect="1"/>
          </p:cNvPicPr>
          <p:nvPr/>
        </p:nvPicPr>
        <p:blipFill>
          <a:blip r:embed="rId3"/>
          <a:stretch>
            <a:fillRect/>
          </a:stretch>
        </p:blipFill>
        <p:spPr>
          <a:xfrm>
            <a:off x="9670694" y="2812694"/>
            <a:ext cx="1141171" cy="1141171"/>
          </a:xfrm>
          <a:prstGeom prst="rect">
            <a:avLst/>
          </a:prstGeom>
        </p:spPr>
      </p:pic>
      <p:sp>
        <p:nvSpPr>
          <p:cNvPr id="9" name="Text 3"/>
          <p:cNvSpPr txBox="1"/>
          <p:nvPr/>
        </p:nvSpPr>
        <p:spPr>
          <a:xfrm>
            <a:off x="8686800" y="4754880"/>
            <a:ext cx="3108960" cy="548640"/>
          </a:xfrm>
          <a:prstGeom prst="rect">
            <a:avLst/>
          </a:prstGeom>
          <a:noFill/>
          <a:ln/>
        </p:spPr>
        <p:txBody>
          <a:bodyPr wrap="square" lIns="0" tIns="0" rIns="0" bIns="0" rtlCol="0" anchor="t"/>
          <a:lstStyle/>
          <a:p>
            <a:pPr algn="ctr" indent="0" marL="0">
              <a:buNone/>
            </a:pPr>
            <a:r>
              <a:rPr lang="en-US" sz="2000" b="1" dirty="0">
                <a:solidFill>
                  <a:srgbClr val="14141F"/>
                </a:solidFill>
                <a:latin typeface="Arial" pitchFamily="34" charset="0"/>
                <a:ea typeface="Arial" pitchFamily="34" charset="-122"/>
                <a:cs typeface="Arial" pitchFamily="34" charset="-120"/>
              </a:rPr>
              <a:t>Eyes closed</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5</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Format seasons</a:t>
            </a:r>
            <a:endParaRPr lang="en-US" sz="3000" dirty="0"/>
          </a:p>
        </p:txBody>
      </p:sp>
      <p:sp>
        <p:nvSpPr>
          <p:cNvPr id="5" name="Shape 2"/>
          <p:cNvSpPr/>
          <p:nvPr/>
        </p:nvSpPr>
        <p:spPr>
          <a:xfrm>
            <a:off x="3403549" y="3474720"/>
            <a:ext cx="1686458" cy="0"/>
          </a:xfrm>
          <a:prstGeom prst="line">
            <a:avLst/>
          </a:prstGeom>
          <a:noFill/>
          <a:ln w="38100">
            <a:solidFill>
              <a:srgbClr val="C9C9D6"/>
            </a:solidFill>
            <a:prstDash val="solid"/>
            <a:tailEnd type="triangle"/>
          </a:ln>
        </p:spPr>
      </p:sp>
      <p:sp>
        <p:nvSpPr>
          <p:cNvPr id="6" name="Shape 3"/>
          <p:cNvSpPr/>
          <p:nvPr/>
        </p:nvSpPr>
        <p:spPr>
          <a:xfrm>
            <a:off x="7101688" y="3474720"/>
            <a:ext cx="1686458" cy="0"/>
          </a:xfrm>
          <a:prstGeom prst="line">
            <a:avLst/>
          </a:prstGeom>
          <a:noFill/>
          <a:ln w="38100">
            <a:solidFill>
              <a:srgbClr val="C9C9D6"/>
            </a:solidFill>
            <a:prstDash val="solid"/>
            <a:tailEnd type="triangle"/>
          </a:ln>
        </p:spPr>
      </p:sp>
      <p:sp>
        <p:nvSpPr>
          <p:cNvPr id="7" name="Shape 4"/>
          <p:cNvSpPr/>
          <p:nvPr/>
        </p:nvSpPr>
        <p:spPr>
          <a:xfrm>
            <a:off x="1483309" y="2560320"/>
            <a:ext cx="1828800" cy="1828800"/>
          </a:xfrm>
          <a:prstGeom prst="ellipse">
            <a:avLst/>
          </a:prstGeom>
          <a:solidFill>
            <a:srgbClr val="FF4D3D"/>
          </a:solidFill>
          <a:ln/>
        </p:spPr>
      </p:sp>
      <p:pic>
        <p:nvPicPr>
          <p:cNvPr id="8" name="Image 0" descr="preencoded.png">    </p:cNvPr>
          <p:cNvPicPr>
            <a:picLocks noChangeAspect="1"/>
          </p:cNvPicPr>
          <p:nvPr/>
        </p:nvPicPr>
        <p:blipFill>
          <a:blip r:embed="rId1"/>
          <a:stretch>
            <a:fillRect/>
          </a:stretch>
        </p:blipFill>
        <p:spPr>
          <a:xfrm>
            <a:off x="1958797" y="3035808"/>
            <a:ext cx="877824" cy="877824"/>
          </a:xfrm>
          <a:prstGeom prst="rect">
            <a:avLst/>
          </a:prstGeom>
        </p:spPr>
      </p:pic>
      <p:sp>
        <p:nvSpPr>
          <p:cNvPr id="9" name="Text 5"/>
          <p:cNvSpPr txBox="1"/>
          <p:nvPr/>
        </p:nvSpPr>
        <p:spPr>
          <a:xfrm>
            <a:off x="594360"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Listicles</a:t>
            </a:r>
            <a:endParaRPr lang="en-US" sz="2200" dirty="0"/>
          </a:p>
        </p:txBody>
      </p:sp>
      <p:sp>
        <p:nvSpPr>
          <p:cNvPr id="10" name="Shape 6"/>
          <p:cNvSpPr/>
          <p:nvPr/>
        </p:nvSpPr>
        <p:spPr>
          <a:xfrm>
            <a:off x="5181448" y="2560320"/>
            <a:ext cx="1828800" cy="1828800"/>
          </a:xfrm>
          <a:prstGeom prst="ellipse">
            <a:avLst/>
          </a:prstGeom>
          <a:solidFill>
            <a:srgbClr val="14141F"/>
          </a:solidFill>
          <a:ln/>
        </p:spPr>
      </p:sp>
      <p:pic>
        <p:nvPicPr>
          <p:cNvPr id="11" name="Image 1" descr="preencoded.png">    </p:cNvPr>
          <p:cNvPicPr>
            <a:picLocks noChangeAspect="1"/>
          </p:cNvPicPr>
          <p:nvPr/>
        </p:nvPicPr>
        <p:blipFill>
          <a:blip r:embed="rId2"/>
          <a:stretch>
            <a:fillRect/>
          </a:stretch>
        </p:blipFill>
        <p:spPr>
          <a:xfrm>
            <a:off x="5656936" y="3035808"/>
            <a:ext cx="877824" cy="877824"/>
          </a:xfrm>
          <a:prstGeom prst="rect">
            <a:avLst/>
          </a:prstGeom>
        </p:spPr>
      </p:pic>
      <p:sp>
        <p:nvSpPr>
          <p:cNvPr id="12" name="Text 7"/>
          <p:cNvSpPr txBox="1"/>
          <p:nvPr/>
        </p:nvSpPr>
        <p:spPr>
          <a:xfrm>
            <a:off x="4292498"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Case studies</a:t>
            </a:r>
            <a:endParaRPr lang="en-US" sz="2200" dirty="0"/>
          </a:p>
        </p:txBody>
      </p:sp>
      <p:sp>
        <p:nvSpPr>
          <p:cNvPr id="13" name="Shape 8"/>
          <p:cNvSpPr/>
          <p:nvPr/>
        </p:nvSpPr>
        <p:spPr>
          <a:xfrm>
            <a:off x="8879586" y="2560320"/>
            <a:ext cx="1828800" cy="1828800"/>
          </a:xfrm>
          <a:prstGeom prst="ellipse">
            <a:avLst/>
          </a:prstGeom>
          <a:solidFill>
            <a:srgbClr val="FFC93C"/>
          </a:solidFill>
          <a:ln/>
        </p:spPr>
      </p:sp>
      <p:pic>
        <p:nvPicPr>
          <p:cNvPr id="14" name="Image 2" descr="preencoded.png">    </p:cNvPr>
          <p:cNvPicPr>
            <a:picLocks noChangeAspect="1"/>
          </p:cNvPicPr>
          <p:nvPr/>
        </p:nvPicPr>
        <p:blipFill>
          <a:blip r:embed="rId3"/>
          <a:stretch>
            <a:fillRect/>
          </a:stretch>
        </p:blipFill>
        <p:spPr>
          <a:xfrm>
            <a:off x="9355074" y="3035808"/>
            <a:ext cx="877824" cy="877824"/>
          </a:xfrm>
          <a:prstGeom prst="rect">
            <a:avLst/>
          </a:prstGeom>
        </p:spPr>
      </p:pic>
      <p:sp>
        <p:nvSpPr>
          <p:cNvPr id="15" name="Text 9"/>
          <p:cNvSpPr txBox="1"/>
          <p:nvPr/>
        </p:nvSpPr>
        <p:spPr>
          <a:xfrm>
            <a:off x="7990637"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Your story</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5</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Make them binge</a:t>
            </a:r>
            <a:endParaRPr lang="en-US" sz="3000" dirty="0"/>
          </a:p>
        </p:txBody>
      </p:sp>
      <p:sp>
        <p:nvSpPr>
          <p:cNvPr id="5" name="Shape 2"/>
          <p:cNvSpPr/>
          <p:nvPr/>
        </p:nvSpPr>
        <p:spPr>
          <a:xfrm>
            <a:off x="1437589" y="2514600"/>
            <a:ext cx="1920240" cy="1920240"/>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936852" y="3013862"/>
            <a:ext cx="921715" cy="921715"/>
          </a:xfrm>
          <a:prstGeom prst="rect">
            <a:avLst/>
          </a:prstGeom>
        </p:spPr>
      </p:pic>
      <p:sp>
        <p:nvSpPr>
          <p:cNvPr id="7" name="Text 3"/>
          <p:cNvSpPr txBox="1"/>
          <p:nvPr/>
        </p:nvSpPr>
        <p:spPr>
          <a:xfrm>
            <a:off x="594360" y="461772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Series</a:t>
            </a:r>
            <a:endParaRPr lang="en-US" sz="2200" dirty="0"/>
          </a:p>
        </p:txBody>
      </p:sp>
      <p:sp>
        <p:nvSpPr>
          <p:cNvPr id="8" name="Shape 4"/>
          <p:cNvSpPr/>
          <p:nvPr/>
        </p:nvSpPr>
        <p:spPr>
          <a:xfrm>
            <a:off x="5135728" y="2514600"/>
            <a:ext cx="1920240" cy="1920240"/>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5634990" y="3013862"/>
            <a:ext cx="921715" cy="921715"/>
          </a:xfrm>
          <a:prstGeom prst="rect">
            <a:avLst/>
          </a:prstGeom>
        </p:spPr>
      </p:pic>
      <p:sp>
        <p:nvSpPr>
          <p:cNvPr id="10" name="Text 5"/>
          <p:cNvSpPr txBox="1"/>
          <p:nvPr/>
        </p:nvSpPr>
        <p:spPr>
          <a:xfrm>
            <a:off x="4292498" y="461772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Covers</a:t>
            </a:r>
            <a:endParaRPr lang="en-US" sz="2200" dirty="0"/>
          </a:p>
        </p:txBody>
      </p:sp>
      <p:sp>
        <p:nvSpPr>
          <p:cNvPr id="11" name="Shape 6"/>
          <p:cNvSpPr/>
          <p:nvPr/>
        </p:nvSpPr>
        <p:spPr>
          <a:xfrm>
            <a:off x="8833866" y="2514600"/>
            <a:ext cx="1920240" cy="1920240"/>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9333128" y="3013862"/>
            <a:ext cx="921715" cy="921715"/>
          </a:xfrm>
          <a:prstGeom prst="rect">
            <a:avLst/>
          </a:prstGeom>
        </p:spPr>
      </p:pic>
      <p:sp>
        <p:nvSpPr>
          <p:cNvPr id="13" name="Text 7"/>
          <p:cNvSpPr txBox="1"/>
          <p:nvPr/>
        </p:nvSpPr>
        <p:spPr>
          <a:xfrm>
            <a:off x="7990637" y="461772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DM shares</a:t>
            </a:r>
            <a:endParaRPr lang="en-US"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06</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Iteration &amp; analytics</a:t>
            </a:r>
            <a:endParaRPr lang="en-US" sz="4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6</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Get better every rep</a:t>
            </a:r>
            <a:endParaRPr lang="en-US" sz="3000" dirty="0"/>
          </a:p>
        </p:txBody>
      </p:sp>
      <p:sp>
        <p:nvSpPr>
          <p:cNvPr id="5" name="Shape 2"/>
          <p:cNvSpPr/>
          <p:nvPr/>
        </p:nvSpPr>
        <p:spPr>
          <a:xfrm>
            <a:off x="1075625" y="2614903"/>
            <a:ext cx="1719634" cy="1719634"/>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522730" y="3062008"/>
            <a:ext cx="825424" cy="825424"/>
          </a:xfrm>
          <a:prstGeom prst="rect">
            <a:avLst/>
          </a:prstGeom>
        </p:spPr>
      </p:pic>
      <p:sp>
        <p:nvSpPr>
          <p:cNvPr id="7" name="Text 3"/>
          <p:cNvSpPr txBox="1"/>
          <p:nvPr/>
        </p:nvSpPr>
        <p:spPr>
          <a:xfrm>
            <a:off x="594360"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One at a time</a:t>
            </a:r>
            <a:endParaRPr lang="en-US" sz="1800" dirty="0"/>
          </a:p>
        </p:txBody>
      </p:sp>
      <p:sp>
        <p:nvSpPr>
          <p:cNvPr id="8" name="Shape 4"/>
          <p:cNvSpPr/>
          <p:nvPr/>
        </p:nvSpPr>
        <p:spPr>
          <a:xfrm>
            <a:off x="3849229" y="2614903"/>
            <a:ext cx="1719634" cy="1719634"/>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4296333" y="3062008"/>
            <a:ext cx="825424" cy="825424"/>
          </a:xfrm>
          <a:prstGeom prst="rect">
            <a:avLst/>
          </a:prstGeom>
        </p:spPr>
      </p:pic>
      <p:sp>
        <p:nvSpPr>
          <p:cNvPr id="10" name="Text 5"/>
          <p:cNvSpPr txBox="1"/>
          <p:nvPr/>
        </p:nvSpPr>
        <p:spPr>
          <a:xfrm>
            <a:off x="3367964"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Top 10%</a:t>
            </a:r>
            <a:endParaRPr lang="en-US" sz="1800" dirty="0"/>
          </a:p>
        </p:txBody>
      </p:sp>
      <p:sp>
        <p:nvSpPr>
          <p:cNvPr id="11" name="Shape 6"/>
          <p:cNvSpPr/>
          <p:nvPr/>
        </p:nvSpPr>
        <p:spPr>
          <a:xfrm>
            <a:off x="6622832" y="2614903"/>
            <a:ext cx="1719634" cy="1719634"/>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7069937" y="3062008"/>
            <a:ext cx="825424" cy="825424"/>
          </a:xfrm>
          <a:prstGeom prst="rect">
            <a:avLst/>
          </a:prstGeom>
        </p:spPr>
      </p:pic>
      <p:sp>
        <p:nvSpPr>
          <p:cNvPr id="13" name="Text 7"/>
          <p:cNvSpPr txBox="1"/>
          <p:nvPr/>
        </p:nvSpPr>
        <p:spPr>
          <a:xfrm>
            <a:off x="6141568"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Peer review</a:t>
            </a:r>
            <a:endParaRPr lang="en-US" sz="1800" dirty="0"/>
          </a:p>
        </p:txBody>
      </p:sp>
      <p:sp>
        <p:nvSpPr>
          <p:cNvPr id="14" name="Shape 8"/>
          <p:cNvSpPr/>
          <p:nvPr/>
        </p:nvSpPr>
        <p:spPr>
          <a:xfrm>
            <a:off x="9396436" y="2614903"/>
            <a:ext cx="1719634" cy="1719634"/>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9843541" y="3062008"/>
            <a:ext cx="825424" cy="825424"/>
          </a:xfrm>
          <a:prstGeom prst="rect">
            <a:avLst/>
          </a:prstGeom>
        </p:spPr>
      </p:pic>
      <p:sp>
        <p:nvSpPr>
          <p:cNvPr id="16" name="Text 9"/>
          <p:cNvSpPr txBox="1"/>
          <p:nvPr/>
        </p:nvSpPr>
        <p:spPr>
          <a:xfrm>
            <a:off x="8915171"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Study winners</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6</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3-second test</a:t>
            </a:r>
            <a:endParaRPr lang="en-US" sz="3000" dirty="0"/>
          </a:p>
        </p:txBody>
      </p:sp>
      <p:graphicFrame>
        <p:nvGraphicFramePr>
          <p:cNvPr id="5" name="Chart 0" descr=""/>
          <p:cNvGraphicFramePr/>
          <p:nvPr/>
        </p:nvGraphicFramePr>
        <p:xfrm>
          <a:off x="2926080" y="1371600"/>
          <a:ext cx="4937760" cy="4937760"/>
        </p:xfrm>
        <a:graphic xmlns:a="http://schemas.openxmlformats.org/drawingml/2006/main">
          <a:graphicData uri="http://schemas.openxmlformats.org/drawingml/2006/chart">
            <c:chart xmlns:c="http://schemas.openxmlformats.org/drawingml/2006/chart" r:id="rId1"/>
          </a:graphicData>
        </a:graphic>
      </p:graphicFrame>
      <p:pic>
        <p:nvPicPr>
          <p:cNvPr id="6" name="Image 0" descr="preencoded.png">    </p:cNvPr>
          <p:cNvPicPr>
            <a:picLocks noChangeAspect="1"/>
          </p:cNvPicPr>
          <p:nvPr/>
        </p:nvPicPr>
        <p:blipFill>
          <a:blip r:embed="rId2"/>
          <a:stretch>
            <a:fillRect/>
          </a:stretch>
        </p:blipFill>
        <p:spPr>
          <a:xfrm>
            <a:off x="8412480" y="2743200"/>
            <a:ext cx="1737360" cy="173736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6</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multiplier sheet</a:t>
            </a:r>
            <a:endParaRPr lang="en-US" sz="3000" dirty="0"/>
          </a:p>
        </p:txBody>
      </p:sp>
      <p:graphicFrame>
        <p:nvGraphicFramePr>
          <p:cNvPr id="5" name="Chart 0" descr=""/>
          <p:cNvGraphicFramePr/>
          <p:nvPr/>
        </p:nvGraphicFramePr>
        <p:xfrm>
          <a:off x="548640" y="1463040"/>
          <a:ext cx="5852160" cy="47548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766560" y="2194560"/>
            <a:ext cx="4846320" cy="2560320"/>
          </a:xfrm>
          <a:prstGeom prst="rect">
            <a:avLst/>
          </a:prstGeom>
          <a:noFill/>
          <a:ln/>
        </p:spPr>
        <p:txBody>
          <a:bodyPr wrap="square" lIns="0" tIns="0" rIns="0" bIns="0" rtlCol="0" anchor="ctr"/>
          <a:lstStyle/>
          <a:p>
            <a:pPr algn="ctr" indent="0" marL="0">
              <a:buNone/>
            </a:pPr>
            <a:r>
              <a:rPr lang="en-US" sz="13000" b="1" dirty="0">
                <a:solidFill>
                  <a:srgbClr val="FF4D3D"/>
                </a:solidFill>
                <a:latin typeface="Arial" pitchFamily="34" charset="0"/>
                <a:ea typeface="Arial" pitchFamily="34" charset="-122"/>
                <a:cs typeface="Arial" pitchFamily="34" charset="-120"/>
              </a:rPr>
              <a:t>1.5x</a:t>
            </a:r>
            <a:endParaRPr lang="en-US" sz="13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07</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YouTube: the trust engine</a:t>
            </a:r>
            <a:endParaRPr lang="en-US" sz="4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7</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Why long form</a:t>
            </a:r>
            <a:endParaRPr lang="en-US" sz="3000" dirty="0"/>
          </a:p>
        </p:txBody>
      </p:sp>
      <p:graphicFrame>
        <p:nvGraphicFramePr>
          <p:cNvPr id="5" name="Chart 0" descr=""/>
          <p:cNvGraphicFramePr/>
          <p:nvPr/>
        </p:nvGraphicFramePr>
        <p:xfrm>
          <a:off x="1920240" y="1463040"/>
          <a:ext cx="8229600" cy="4754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7</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click journey</a:t>
            </a:r>
            <a:endParaRPr lang="en-US" sz="3000" dirty="0"/>
          </a:p>
        </p:txBody>
      </p:sp>
      <p:sp>
        <p:nvSpPr>
          <p:cNvPr id="5" name="Shape 2"/>
          <p:cNvSpPr/>
          <p:nvPr/>
        </p:nvSpPr>
        <p:spPr>
          <a:xfrm>
            <a:off x="2073109" y="3474720"/>
            <a:ext cx="649201" cy="0"/>
          </a:xfrm>
          <a:prstGeom prst="line">
            <a:avLst/>
          </a:prstGeom>
          <a:noFill/>
          <a:ln w="38100">
            <a:solidFill>
              <a:srgbClr val="C9C9D6"/>
            </a:solidFill>
            <a:prstDash val="solid"/>
            <a:tailEnd type="triangle"/>
          </a:ln>
        </p:spPr>
      </p:sp>
      <p:sp>
        <p:nvSpPr>
          <p:cNvPr id="6" name="Shape 3"/>
          <p:cNvSpPr/>
          <p:nvPr/>
        </p:nvSpPr>
        <p:spPr>
          <a:xfrm>
            <a:off x="3922178" y="3474720"/>
            <a:ext cx="649201" cy="0"/>
          </a:xfrm>
          <a:prstGeom prst="line">
            <a:avLst/>
          </a:prstGeom>
          <a:noFill/>
          <a:ln w="38100">
            <a:solidFill>
              <a:srgbClr val="C9C9D6"/>
            </a:solidFill>
            <a:prstDash val="solid"/>
            <a:tailEnd type="triangle"/>
          </a:ln>
        </p:spPr>
      </p:sp>
      <p:sp>
        <p:nvSpPr>
          <p:cNvPr id="7" name="Shape 4"/>
          <p:cNvSpPr/>
          <p:nvPr/>
        </p:nvSpPr>
        <p:spPr>
          <a:xfrm>
            <a:off x="5771247" y="3474720"/>
            <a:ext cx="649201" cy="0"/>
          </a:xfrm>
          <a:prstGeom prst="line">
            <a:avLst/>
          </a:prstGeom>
          <a:noFill/>
          <a:ln w="38100">
            <a:solidFill>
              <a:srgbClr val="C9C9D6"/>
            </a:solidFill>
            <a:prstDash val="solid"/>
            <a:tailEnd type="triangle"/>
          </a:ln>
        </p:spPr>
      </p:sp>
      <p:sp>
        <p:nvSpPr>
          <p:cNvPr id="8" name="Shape 5"/>
          <p:cNvSpPr/>
          <p:nvPr/>
        </p:nvSpPr>
        <p:spPr>
          <a:xfrm>
            <a:off x="7620316" y="3474720"/>
            <a:ext cx="649201" cy="0"/>
          </a:xfrm>
          <a:prstGeom prst="line">
            <a:avLst/>
          </a:prstGeom>
          <a:noFill/>
          <a:ln w="38100">
            <a:solidFill>
              <a:srgbClr val="C9C9D6"/>
            </a:solidFill>
            <a:prstDash val="solid"/>
            <a:tailEnd type="triangle"/>
          </a:ln>
        </p:spPr>
      </p:sp>
      <p:sp>
        <p:nvSpPr>
          <p:cNvPr id="9" name="Shape 6"/>
          <p:cNvSpPr/>
          <p:nvPr/>
        </p:nvSpPr>
        <p:spPr>
          <a:xfrm>
            <a:off x="9469385" y="3474720"/>
            <a:ext cx="649201" cy="0"/>
          </a:xfrm>
          <a:prstGeom prst="line">
            <a:avLst/>
          </a:prstGeom>
          <a:noFill/>
          <a:ln w="38100">
            <a:solidFill>
              <a:srgbClr val="C9C9D6"/>
            </a:solidFill>
            <a:prstDash val="solid"/>
            <a:tailEnd type="triangle"/>
          </a:ln>
        </p:spPr>
      </p:sp>
      <p:sp>
        <p:nvSpPr>
          <p:cNvPr id="10" name="Shape 7"/>
          <p:cNvSpPr/>
          <p:nvPr/>
        </p:nvSpPr>
        <p:spPr>
          <a:xfrm>
            <a:off x="964681" y="2966226"/>
            <a:ext cx="1016988" cy="1016988"/>
          </a:xfrm>
          <a:prstGeom prst="ellipse">
            <a:avLst/>
          </a:prstGeom>
          <a:solidFill>
            <a:srgbClr val="FF4D3D"/>
          </a:solidFill>
          <a:ln/>
        </p:spPr>
      </p:sp>
      <p:pic>
        <p:nvPicPr>
          <p:cNvPr id="11" name="Image 0" descr="preencoded.png">    </p:cNvPr>
          <p:cNvPicPr>
            <a:picLocks noChangeAspect="1"/>
          </p:cNvPicPr>
          <p:nvPr/>
        </p:nvPicPr>
        <p:blipFill>
          <a:blip r:embed="rId1"/>
          <a:stretch>
            <a:fillRect/>
          </a:stretch>
        </p:blipFill>
        <p:spPr>
          <a:xfrm>
            <a:off x="1229097" y="3230643"/>
            <a:ext cx="488154" cy="488154"/>
          </a:xfrm>
          <a:prstGeom prst="rect">
            <a:avLst/>
          </a:prstGeom>
        </p:spPr>
      </p:pic>
      <p:sp>
        <p:nvSpPr>
          <p:cNvPr id="12" name="Text 8"/>
          <p:cNvSpPr txBox="1"/>
          <p:nvPr/>
        </p:nvSpPr>
        <p:spPr>
          <a:xfrm>
            <a:off x="594360"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Thumb</a:t>
            </a:r>
            <a:endParaRPr lang="en-US" sz="1600" dirty="0"/>
          </a:p>
        </p:txBody>
      </p:sp>
      <p:sp>
        <p:nvSpPr>
          <p:cNvPr id="13" name="Shape 9"/>
          <p:cNvSpPr/>
          <p:nvPr/>
        </p:nvSpPr>
        <p:spPr>
          <a:xfrm>
            <a:off x="2813750" y="2966226"/>
            <a:ext cx="1016988" cy="1016988"/>
          </a:xfrm>
          <a:prstGeom prst="ellipse">
            <a:avLst/>
          </a:prstGeom>
          <a:solidFill>
            <a:srgbClr val="14141F"/>
          </a:solidFill>
          <a:ln/>
        </p:spPr>
      </p:sp>
      <p:pic>
        <p:nvPicPr>
          <p:cNvPr id="14" name="Image 1" descr="preencoded.png">    </p:cNvPr>
          <p:cNvPicPr>
            <a:picLocks noChangeAspect="1"/>
          </p:cNvPicPr>
          <p:nvPr/>
        </p:nvPicPr>
        <p:blipFill>
          <a:blip r:embed="rId2"/>
          <a:stretch>
            <a:fillRect/>
          </a:stretch>
        </p:blipFill>
        <p:spPr>
          <a:xfrm>
            <a:off x="3078167" y="3230643"/>
            <a:ext cx="488154" cy="488154"/>
          </a:xfrm>
          <a:prstGeom prst="rect">
            <a:avLst/>
          </a:prstGeom>
        </p:spPr>
      </p:pic>
      <p:sp>
        <p:nvSpPr>
          <p:cNvPr id="15" name="Text 10"/>
          <p:cNvSpPr txBox="1"/>
          <p:nvPr/>
        </p:nvSpPr>
        <p:spPr>
          <a:xfrm>
            <a:off x="2443429"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Title</a:t>
            </a:r>
            <a:endParaRPr lang="en-US" sz="1600" dirty="0"/>
          </a:p>
        </p:txBody>
      </p:sp>
      <p:sp>
        <p:nvSpPr>
          <p:cNvPr id="16" name="Shape 11"/>
          <p:cNvSpPr/>
          <p:nvPr/>
        </p:nvSpPr>
        <p:spPr>
          <a:xfrm>
            <a:off x="4662819" y="2966226"/>
            <a:ext cx="1016988" cy="1016988"/>
          </a:xfrm>
          <a:prstGeom prst="ellipse">
            <a:avLst/>
          </a:prstGeom>
          <a:solidFill>
            <a:srgbClr val="FFC93C"/>
          </a:solidFill>
          <a:ln/>
        </p:spPr>
      </p:sp>
      <p:pic>
        <p:nvPicPr>
          <p:cNvPr id="17" name="Image 2" descr="preencoded.png">    </p:cNvPr>
          <p:cNvPicPr>
            <a:picLocks noChangeAspect="1"/>
          </p:cNvPicPr>
          <p:nvPr/>
        </p:nvPicPr>
        <p:blipFill>
          <a:blip r:embed="rId3"/>
          <a:stretch>
            <a:fillRect/>
          </a:stretch>
        </p:blipFill>
        <p:spPr>
          <a:xfrm>
            <a:off x="4927236" y="3230643"/>
            <a:ext cx="488154" cy="488154"/>
          </a:xfrm>
          <a:prstGeom prst="rect">
            <a:avLst/>
          </a:prstGeom>
        </p:spPr>
      </p:pic>
      <p:sp>
        <p:nvSpPr>
          <p:cNvPr id="18" name="Text 12"/>
          <p:cNvSpPr txBox="1"/>
          <p:nvPr/>
        </p:nvSpPr>
        <p:spPr>
          <a:xfrm>
            <a:off x="4292498"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Thumb</a:t>
            </a:r>
            <a:endParaRPr lang="en-US" sz="1600" dirty="0"/>
          </a:p>
        </p:txBody>
      </p:sp>
      <p:sp>
        <p:nvSpPr>
          <p:cNvPr id="19" name="Shape 13"/>
          <p:cNvSpPr/>
          <p:nvPr/>
        </p:nvSpPr>
        <p:spPr>
          <a:xfrm>
            <a:off x="6511888" y="2966226"/>
            <a:ext cx="1016988" cy="1016988"/>
          </a:xfrm>
          <a:prstGeom prst="ellipse">
            <a:avLst/>
          </a:prstGeom>
          <a:solidFill>
            <a:srgbClr val="FF4D3D"/>
          </a:solidFill>
          <a:ln/>
        </p:spPr>
      </p:sp>
      <p:pic>
        <p:nvPicPr>
          <p:cNvPr id="20" name="Image 3" descr="preencoded.png">    </p:cNvPr>
          <p:cNvPicPr>
            <a:picLocks noChangeAspect="1"/>
          </p:cNvPicPr>
          <p:nvPr/>
        </p:nvPicPr>
        <p:blipFill>
          <a:blip r:embed="rId4"/>
          <a:stretch>
            <a:fillRect/>
          </a:stretch>
        </p:blipFill>
        <p:spPr>
          <a:xfrm>
            <a:off x="6776305" y="3230643"/>
            <a:ext cx="488154" cy="488154"/>
          </a:xfrm>
          <a:prstGeom prst="rect">
            <a:avLst/>
          </a:prstGeom>
        </p:spPr>
      </p:pic>
      <p:sp>
        <p:nvSpPr>
          <p:cNvPr id="21" name="Text 14"/>
          <p:cNvSpPr txBox="1"/>
          <p:nvPr/>
        </p:nvSpPr>
        <p:spPr>
          <a:xfrm>
            <a:off x="6141568"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Intro</a:t>
            </a:r>
            <a:endParaRPr lang="en-US" sz="1600" dirty="0"/>
          </a:p>
        </p:txBody>
      </p:sp>
      <p:sp>
        <p:nvSpPr>
          <p:cNvPr id="22" name="Shape 15"/>
          <p:cNvSpPr/>
          <p:nvPr/>
        </p:nvSpPr>
        <p:spPr>
          <a:xfrm>
            <a:off x="8360957" y="2966226"/>
            <a:ext cx="1016988" cy="1016988"/>
          </a:xfrm>
          <a:prstGeom prst="ellipse">
            <a:avLst/>
          </a:prstGeom>
          <a:solidFill>
            <a:srgbClr val="14141F"/>
          </a:solidFill>
          <a:ln/>
        </p:spPr>
      </p:sp>
      <p:pic>
        <p:nvPicPr>
          <p:cNvPr id="23" name="Image 4" descr="preencoded.png">    </p:cNvPr>
          <p:cNvPicPr>
            <a:picLocks noChangeAspect="1"/>
          </p:cNvPicPr>
          <p:nvPr/>
        </p:nvPicPr>
        <p:blipFill>
          <a:blip r:embed="rId5"/>
          <a:stretch>
            <a:fillRect/>
          </a:stretch>
        </p:blipFill>
        <p:spPr>
          <a:xfrm>
            <a:off x="8625374" y="3230643"/>
            <a:ext cx="488154" cy="488154"/>
          </a:xfrm>
          <a:prstGeom prst="rect">
            <a:avLst/>
          </a:prstGeom>
        </p:spPr>
      </p:pic>
      <p:sp>
        <p:nvSpPr>
          <p:cNvPr id="24" name="Text 16"/>
          <p:cNvSpPr txBox="1"/>
          <p:nvPr/>
        </p:nvSpPr>
        <p:spPr>
          <a:xfrm>
            <a:off x="7990637"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Payoff</a:t>
            </a:r>
            <a:endParaRPr lang="en-US" sz="1600" dirty="0"/>
          </a:p>
        </p:txBody>
      </p:sp>
      <p:sp>
        <p:nvSpPr>
          <p:cNvPr id="25" name="Shape 17"/>
          <p:cNvSpPr/>
          <p:nvPr/>
        </p:nvSpPr>
        <p:spPr>
          <a:xfrm>
            <a:off x="10210027" y="2966226"/>
            <a:ext cx="1016988" cy="1016988"/>
          </a:xfrm>
          <a:prstGeom prst="ellipse">
            <a:avLst/>
          </a:prstGeom>
          <a:solidFill>
            <a:srgbClr val="FFC93C"/>
          </a:solidFill>
          <a:ln/>
        </p:spPr>
      </p:sp>
      <p:pic>
        <p:nvPicPr>
          <p:cNvPr id="26" name="Image 5" descr="preencoded.png">    </p:cNvPr>
          <p:cNvPicPr>
            <a:picLocks noChangeAspect="1"/>
          </p:cNvPicPr>
          <p:nvPr/>
        </p:nvPicPr>
        <p:blipFill>
          <a:blip r:embed="rId6"/>
          <a:stretch>
            <a:fillRect/>
          </a:stretch>
        </p:blipFill>
        <p:spPr>
          <a:xfrm>
            <a:off x="10474443" y="3230643"/>
            <a:ext cx="488154" cy="488154"/>
          </a:xfrm>
          <a:prstGeom prst="rect">
            <a:avLst/>
          </a:prstGeom>
        </p:spPr>
      </p:pic>
      <p:sp>
        <p:nvSpPr>
          <p:cNvPr id="27" name="Text 18"/>
          <p:cNvSpPr txBox="1"/>
          <p:nvPr/>
        </p:nvSpPr>
        <p:spPr>
          <a:xfrm>
            <a:off x="9839706"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Booster</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7</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1 of 10</a:t>
            </a:r>
            <a:endParaRPr lang="en-US" sz="3000" dirty="0"/>
          </a:p>
        </p:txBody>
      </p:sp>
      <p:sp>
        <p:nvSpPr>
          <p:cNvPr id="5" name="Shape 2"/>
          <p:cNvSpPr/>
          <p:nvPr/>
        </p:nvSpPr>
        <p:spPr>
          <a:xfrm>
            <a:off x="548640" y="1828800"/>
            <a:ext cx="944850" cy="944850"/>
          </a:xfrm>
          <a:prstGeom prst="roundRect">
            <a:avLst>
              <a:gd name="adj" fmla="val 9678"/>
            </a:avLst>
          </a:prstGeom>
          <a:solidFill>
            <a:srgbClr val="FFC93C"/>
          </a:solidFill>
          <a:ln/>
        </p:spPr>
      </p:sp>
      <p:sp>
        <p:nvSpPr>
          <p:cNvPr id="6" name="Text 3"/>
          <p:cNvSpPr txBox="1"/>
          <p:nvPr/>
        </p:nvSpPr>
        <p:spPr>
          <a:xfrm>
            <a:off x="548640" y="1828800"/>
            <a:ext cx="944850" cy="944850"/>
          </a:xfrm>
          <a:prstGeom prst="rect">
            <a:avLst/>
          </a:prstGeom>
          <a:noFill/>
          <a:ln/>
        </p:spPr>
        <p:txBody>
          <a:bodyPr wrap="square" lIns="0" tIns="0" rIns="0" bIns="0" rtlCol="0" anchor="ctr"/>
          <a:lstStyle/>
          <a:p>
            <a:pPr algn="ctr" indent="0" marL="0">
              <a:buNone/>
            </a:pPr>
            <a:r>
              <a:rPr lang="en-US" sz="3000" b="1" dirty="0">
                <a:solidFill>
                  <a:srgbClr val="14141F"/>
                </a:solidFill>
                <a:latin typeface="Arial" pitchFamily="34" charset="0"/>
                <a:ea typeface="Arial" pitchFamily="34" charset="-122"/>
                <a:cs typeface="Arial" pitchFamily="34" charset="-120"/>
              </a:rPr>
              <a:t>1</a:t>
            </a:r>
            <a:endParaRPr lang="en-US" sz="3000" dirty="0"/>
          </a:p>
        </p:txBody>
      </p:sp>
      <p:sp>
        <p:nvSpPr>
          <p:cNvPr id="7" name="Shape 4"/>
          <p:cNvSpPr/>
          <p:nvPr/>
        </p:nvSpPr>
        <p:spPr>
          <a:xfrm>
            <a:off x="1676370" y="1828800"/>
            <a:ext cx="944850" cy="944850"/>
          </a:xfrm>
          <a:prstGeom prst="roundRect">
            <a:avLst>
              <a:gd name="adj" fmla="val 9678"/>
            </a:avLst>
          </a:prstGeom>
          <a:solidFill>
            <a:srgbClr val="FFC93C"/>
          </a:solidFill>
          <a:ln/>
        </p:spPr>
      </p:sp>
      <p:sp>
        <p:nvSpPr>
          <p:cNvPr id="8" name="Text 5"/>
          <p:cNvSpPr txBox="1"/>
          <p:nvPr/>
        </p:nvSpPr>
        <p:spPr>
          <a:xfrm>
            <a:off x="1676370" y="1828800"/>
            <a:ext cx="944850" cy="944850"/>
          </a:xfrm>
          <a:prstGeom prst="rect">
            <a:avLst/>
          </a:prstGeom>
          <a:noFill/>
          <a:ln/>
        </p:spPr>
        <p:txBody>
          <a:bodyPr wrap="square" lIns="0" tIns="0" rIns="0" bIns="0" rtlCol="0" anchor="ctr"/>
          <a:lstStyle/>
          <a:p>
            <a:pPr algn="ctr" indent="0" marL="0">
              <a:buNone/>
            </a:pPr>
            <a:r>
              <a:rPr lang="en-US" sz="3000" b="1" dirty="0">
                <a:solidFill>
                  <a:srgbClr val="14141F"/>
                </a:solidFill>
                <a:latin typeface="Arial" pitchFamily="34" charset="0"/>
                <a:ea typeface="Arial" pitchFamily="34" charset="-122"/>
                <a:cs typeface="Arial" pitchFamily="34" charset="-120"/>
              </a:rPr>
              <a:t>2</a:t>
            </a:r>
            <a:endParaRPr lang="en-US" sz="3000" dirty="0"/>
          </a:p>
        </p:txBody>
      </p:sp>
      <p:sp>
        <p:nvSpPr>
          <p:cNvPr id="9" name="Shape 6"/>
          <p:cNvSpPr/>
          <p:nvPr/>
        </p:nvSpPr>
        <p:spPr>
          <a:xfrm>
            <a:off x="2804099" y="1828800"/>
            <a:ext cx="944850" cy="944850"/>
          </a:xfrm>
          <a:prstGeom prst="roundRect">
            <a:avLst>
              <a:gd name="adj" fmla="val 9678"/>
            </a:avLst>
          </a:prstGeom>
          <a:solidFill>
            <a:srgbClr val="FFC93C"/>
          </a:solidFill>
          <a:ln/>
        </p:spPr>
      </p:sp>
      <p:sp>
        <p:nvSpPr>
          <p:cNvPr id="10" name="Text 7"/>
          <p:cNvSpPr txBox="1"/>
          <p:nvPr/>
        </p:nvSpPr>
        <p:spPr>
          <a:xfrm>
            <a:off x="2804099" y="1828800"/>
            <a:ext cx="944850" cy="944850"/>
          </a:xfrm>
          <a:prstGeom prst="rect">
            <a:avLst/>
          </a:prstGeom>
          <a:noFill/>
          <a:ln/>
        </p:spPr>
        <p:txBody>
          <a:bodyPr wrap="square" lIns="0" tIns="0" rIns="0" bIns="0" rtlCol="0" anchor="ctr"/>
          <a:lstStyle/>
          <a:p>
            <a:pPr algn="ctr" indent="0" marL="0">
              <a:buNone/>
            </a:pPr>
            <a:r>
              <a:rPr lang="en-US" sz="3000" b="1" dirty="0">
                <a:solidFill>
                  <a:srgbClr val="14141F"/>
                </a:solidFill>
                <a:latin typeface="Arial" pitchFamily="34" charset="0"/>
                <a:ea typeface="Arial" pitchFamily="34" charset="-122"/>
                <a:cs typeface="Arial" pitchFamily="34" charset="-120"/>
              </a:rPr>
              <a:t>3</a:t>
            </a:r>
            <a:endParaRPr lang="en-US" sz="3000" dirty="0"/>
          </a:p>
        </p:txBody>
      </p:sp>
      <p:sp>
        <p:nvSpPr>
          <p:cNvPr id="11" name="Shape 8"/>
          <p:cNvSpPr/>
          <p:nvPr/>
        </p:nvSpPr>
        <p:spPr>
          <a:xfrm>
            <a:off x="3931829" y="1828800"/>
            <a:ext cx="944850" cy="944850"/>
          </a:xfrm>
          <a:prstGeom prst="roundRect">
            <a:avLst>
              <a:gd name="adj" fmla="val 9678"/>
            </a:avLst>
          </a:prstGeom>
          <a:solidFill>
            <a:srgbClr val="F4F4F8"/>
          </a:solidFill>
          <a:ln/>
        </p:spPr>
      </p:sp>
      <p:sp>
        <p:nvSpPr>
          <p:cNvPr id="12" name="Text 9"/>
          <p:cNvSpPr txBox="1"/>
          <p:nvPr/>
        </p:nvSpPr>
        <p:spPr>
          <a:xfrm>
            <a:off x="3931829" y="1828800"/>
            <a:ext cx="944850" cy="944850"/>
          </a:xfrm>
          <a:prstGeom prst="rect">
            <a:avLst/>
          </a:prstGeom>
          <a:noFill/>
          <a:ln/>
        </p:spPr>
        <p:txBody>
          <a:bodyPr wrap="square" lIns="0" tIns="0" rIns="0" bIns="0" rtlCol="0" anchor="ctr"/>
          <a:lstStyle/>
          <a:p>
            <a:pPr algn="ctr" indent="0" marL="0">
              <a:buNone/>
            </a:pPr>
            <a:r>
              <a:rPr lang="en-US" sz="3000" b="1" dirty="0">
                <a:solidFill>
                  <a:srgbClr val="14141F"/>
                </a:solidFill>
                <a:latin typeface="Arial" pitchFamily="34" charset="0"/>
                <a:ea typeface="Arial" pitchFamily="34" charset="-122"/>
                <a:cs typeface="Arial" pitchFamily="34" charset="-120"/>
              </a:rPr>
              <a:t>4</a:t>
            </a:r>
            <a:endParaRPr lang="en-US" sz="3000" dirty="0"/>
          </a:p>
        </p:txBody>
      </p:sp>
      <p:sp>
        <p:nvSpPr>
          <p:cNvPr id="13" name="Shape 10"/>
          <p:cNvSpPr/>
          <p:nvPr/>
        </p:nvSpPr>
        <p:spPr>
          <a:xfrm>
            <a:off x="5059558" y="1828800"/>
            <a:ext cx="944850" cy="944850"/>
          </a:xfrm>
          <a:prstGeom prst="roundRect">
            <a:avLst>
              <a:gd name="adj" fmla="val 9678"/>
            </a:avLst>
          </a:prstGeom>
          <a:solidFill>
            <a:srgbClr val="F4F4F8"/>
          </a:solidFill>
          <a:ln/>
        </p:spPr>
      </p:sp>
      <p:sp>
        <p:nvSpPr>
          <p:cNvPr id="14" name="Text 11"/>
          <p:cNvSpPr txBox="1"/>
          <p:nvPr/>
        </p:nvSpPr>
        <p:spPr>
          <a:xfrm>
            <a:off x="5059558" y="1828800"/>
            <a:ext cx="944850" cy="944850"/>
          </a:xfrm>
          <a:prstGeom prst="rect">
            <a:avLst/>
          </a:prstGeom>
          <a:noFill/>
          <a:ln/>
        </p:spPr>
        <p:txBody>
          <a:bodyPr wrap="square" lIns="0" tIns="0" rIns="0" bIns="0" rtlCol="0" anchor="ctr"/>
          <a:lstStyle/>
          <a:p>
            <a:pPr algn="ctr" indent="0" marL="0">
              <a:buNone/>
            </a:pPr>
            <a:r>
              <a:rPr lang="en-US" sz="3000" b="1" dirty="0">
                <a:solidFill>
                  <a:srgbClr val="14141F"/>
                </a:solidFill>
                <a:latin typeface="Arial" pitchFamily="34" charset="0"/>
                <a:ea typeface="Arial" pitchFamily="34" charset="-122"/>
                <a:cs typeface="Arial" pitchFamily="34" charset="-120"/>
              </a:rPr>
              <a:t>5</a:t>
            </a:r>
            <a:endParaRPr lang="en-US" sz="3000" dirty="0"/>
          </a:p>
        </p:txBody>
      </p:sp>
      <p:sp>
        <p:nvSpPr>
          <p:cNvPr id="15" name="Shape 12"/>
          <p:cNvSpPr/>
          <p:nvPr/>
        </p:nvSpPr>
        <p:spPr>
          <a:xfrm>
            <a:off x="6187288" y="1828800"/>
            <a:ext cx="944850" cy="944850"/>
          </a:xfrm>
          <a:prstGeom prst="roundRect">
            <a:avLst>
              <a:gd name="adj" fmla="val 9678"/>
            </a:avLst>
          </a:prstGeom>
          <a:solidFill>
            <a:srgbClr val="F4F4F8"/>
          </a:solidFill>
          <a:ln/>
        </p:spPr>
      </p:sp>
      <p:sp>
        <p:nvSpPr>
          <p:cNvPr id="16" name="Text 13"/>
          <p:cNvSpPr txBox="1"/>
          <p:nvPr/>
        </p:nvSpPr>
        <p:spPr>
          <a:xfrm>
            <a:off x="6187288" y="1828800"/>
            <a:ext cx="944850" cy="944850"/>
          </a:xfrm>
          <a:prstGeom prst="rect">
            <a:avLst/>
          </a:prstGeom>
          <a:noFill/>
          <a:ln/>
        </p:spPr>
        <p:txBody>
          <a:bodyPr wrap="square" lIns="0" tIns="0" rIns="0" bIns="0" rtlCol="0" anchor="ctr"/>
          <a:lstStyle/>
          <a:p>
            <a:pPr algn="ctr" indent="0" marL="0">
              <a:buNone/>
            </a:pPr>
            <a:r>
              <a:rPr lang="en-US" sz="3000" b="1" dirty="0">
                <a:solidFill>
                  <a:srgbClr val="14141F"/>
                </a:solidFill>
                <a:latin typeface="Arial" pitchFamily="34" charset="0"/>
                <a:ea typeface="Arial" pitchFamily="34" charset="-122"/>
                <a:cs typeface="Arial" pitchFamily="34" charset="-120"/>
              </a:rPr>
              <a:t>6</a:t>
            </a:r>
            <a:endParaRPr lang="en-US" sz="3000" dirty="0"/>
          </a:p>
        </p:txBody>
      </p:sp>
      <p:sp>
        <p:nvSpPr>
          <p:cNvPr id="17" name="Shape 14"/>
          <p:cNvSpPr/>
          <p:nvPr/>
        </p:nvSpPr>
        <p:spPr>
          <a:xfrm>
            <a:off x="7315017" y="1828800"/>
            <a:ext cx="944850" cy="944850"/>
          </a:xfrm>
          <a:prstGeom prst="roundRect">
            <a:avLst>
              <a:gd name="adj" fmla="val 9678"/>
            </a:avLst>
          </a:prstGeom>
          <a:solidFill>
            <a:srgbClr val="FF4D3D"/>
          </a:solidFill>
          <a:ln/>
        </p:spPr>
      </p:sp>
      <p:sp>
        <p:nvSpPr>
          <p:cNvPr id="18" name="Text 15"/>
          <p:cNvSpPr txBox="1"/>
          <p:nvPr/>
        </p:nvSpPr>
        <p:spPr>
          <a:xfrm>
            <a:off x="7315017" y="1828800"/>
            <a:ext cx="944850" cy="94485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19" name="Shape 16"/>
          <p:cNvSpPr/>
          <p:nvPr/>
        </p:nvSpPr>
        <p:spPr>
          <a:xfrm>
            <a:off x="8442747" y="1828800"/>
            <a:ext cx="944850" cy="944850"/>
          </a:xfrm>
          <a:prstGeom prst="roundRect">
            <a:avLst>
              <a:gd name="adj" fmla="val 9678"/>
            </a:avLst>
          </a:prstGeom>
          <a:solidFill>
            <a:srgbClr val="FF4D3D"/>
          </a:solidFill>
          <a:ln/>
        </p:spPr>
      </p:sp>
      <p:sp>
        <p:nvSpPr>
          <p:cNvPr id="20" name="Text 17"/>
          <p:cNvSpPr txBox="1"/>
          <p:nvPr/>
        </p:nvSpPr>
        <p:spPr>
          <a:xfrm>
            <a:off x="8442747" y="1828800"/>
            <a:ext cx="944850" cy="94485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21" name="Shape 18"/>
          <p:cNvSpPr/>
          <p:nvPr/>
        </p:nvSpPr>
        <p:spPr>
          <a:xfrm>
            <a:off x="9570476" y="1828800"/>
            <a:ext cx="944850" cy="944850"/>
          </a:xfrm>
          <a:prstGeom prst="roundRect">
            <a:avLst>
              <a:gd name="adj" fmla="val 9678"/>
            </a:avLst>
          </a:prstGeom>
          <a:solidFill>
            <a:srgbClr val="FF4D3D"/>
          </a:solidFill>
          <a:ln/>
        </p:spPr>
      </p:sp>
      <p:sp>
        <p:nvSpPr>
          <p:cNvPr id="22" name="Text 19"/>
          <p:cNvSpPr txBox="1"/>
          <p:nvPr/>
        </p:nvSpPr>
        <p:spPr>
          <a:xfrm>
            <a:off x="9570476" y="1828800"/>
            <a:ext cx="944850" cy="94485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a:t>
            </a:r>
            <a:endParaRPr lang="en-US" sz="3000" dirty="0"/>
          </a:p>
        </p:txBody>
      </p:sp>
      <p:sp>
        <p:nvSpPr>
          <p:cNvPr id="23" name="Shape 20"/>
          <p:cNvSpPr/>
          <p:nvPr/>
        </p:nvSpPr>
        <p:spPr>
          <a:xfrm>
            <a:off x="10698206" y="1828800"/>
            <a:ext cx="944850" cy="944850"/>
          </a:xfrm>
          <a:prstGeom prst="roundRect">
            <a:avLst>
              <a:gd name="adj" fmla="val 9678"/>
            </a:avLst>
          </a:prstGeom>
          <a:solidFill>
            <a:srgbClr val="FF4D3D"/>
          </a:solidFill>
          <a:ln/>
        </p:spPr>
      </p:sp>
      <p:sp>
        <p:nvSpPr>
          <p:cNvPr id="24" name="Text 21"/>
          <p:cNvSpPr txBox="1"/>
          <p:nvPr/>
        </p:nvSpPr>
        <p:spPr>
          <a:xfrm>
            <a:off x="10698206" y="1828800"/>
            <a:ext cx="944850" cy="94485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a:t>
            </a:r>
            <a:endParaRPr lang="en-US" sz="3000" dirty="0"/>
          </a:p>
        </p:txBody>
      </p:sp>
      <p:sp>
        <p:nvSpPr>
          <p:cNvPr id="25" name="Shape 22"/>
          <p:cNvSpPr/>
          <p:nvPr/>
        </p:nvSpPr>
        <p:spPr>
          <a:xfrm>
            <a:off x="1417274" y="3657600"/>
            <a:ext cx="1463040" cy="1463040"/>
          </a:xfrm>
          <a:prstGeom prst="ellipse">
            <a:avLst/>
          </a:prstGeom>
          <a:solidFill>
            <a:srgbClr val="FFC93C"/>
          </a:solidFill>
          <a:ln/>
        </p:spPr>
      </p:sp>
      <p:pic>
        <p:nvPicPr>
          <p:cNvPr id="26" name="Image 0" descr="preencoded.png">    </p:cNvPr>
          <p:cNvPicPr>
            <a:picLocks noChangeAspect="1"/>
          </p:cNvPicPr>
          <p:nvPr/>
        </p:nvPicPr>
        <p:blipFill>
          <a:blip r:embed="rId1"/>
          <a:stretch>
            <a:fillRect/>
          </a:stretch>
        </p:blipFill>
        <p:spPr>
          <a:xfrm>
            <a:off x="1797665" y="4037990"/>
            <a:ext cx="702259" cy="702259"/>
          </a:xfrm>
          <a:prstGeom prst="rect">
            <a:avLst/>
          </a:prstGeom>
        </p:spPr>
      </p:pic>
      <p:sp>
        <p:nvSpPr>
          <p:cNvPr id="27" name="Shape 23"/>
          <p:cNvSpPr/>
          <p:nvPr/>
        </p:nvSpPr>
        <p:spPr>
          <a:xfrm>
            <a:off x="4800463" y="3657600"/>
            <a:ext cx="1463040" cy="1463040"/>
          </a:xfrm>
          <a:prstGeom prst="ellipse">
            <a:avLst/>
          </a:prstGeom>
          <a:solidFill>
            <a:srgbClr val="14141F"/>
          </a:solidFill>
          <a:ln/>
        </p:spPr>
      </p:sp>
      <p:pic>
        <p:nvPicPr>
          <p:cNvPr id="28" name="Image 1" descr="preencoded.png">    </p:cNvPr>
          <p:cNvPicPr>
            <a:picLocks noChangeAspect="1"/>
          </p:cNvPicPr>
          <p:nvPr/>
        </p:nvPicPr>
        <p:blipFill>
          <a:blip r:embed="rId2"/>
          <a:stretch>
            <a:fillRect/>
          </a:stretch>
        </p:blipFill>
        <p:spPr>
          <a:xfrm>
            <a:off x="5180853" y="4037990"/>
            <a:ext cx="702259" cy="702259"/>
          </a:xfrm>
          <a:prstGeom prst="rect">
            <a:avLst/>
          </a:prstGeom>
        </p:spPr>
      </p:pic>
      <p:sp>
        <p:nvSpPr>
          <p:cNvPr id="29" name="Shape 24"/>
          <p:cNvSpPr/>
          <p:nvPr/>
        </p:nvSpPr>
        <p:spPr>
          <a:xfrm>
            <a:off x="8747516" y="3657600"/>
            <a:ext cx="1463040" cy="1463040"/>
          </a:xfrm>
          <a:prstGeom prst="ellipse">
            <a:avLst/>
          </a:prstGeom>
          <a:solidFill>
            <a:srgbClr val="FF4D3D"/>
          </a:solidFill>
          <a:ln/>
        </p:spPr>
      </p:sp>
      <p:pic>
        <p:nvPicPr>
          <p:cNvPr id="30" name="Image 2" descr="preencoded.png">    </p:cNvPr>
          <p:cNvPicPr>
            <a:picLocks noChangeAspect="1"/>
          </p:cNvPicPr>
          <p:nvPr/>
        </p:nvPicPr>
        <p:blipFill>
          <a:blip r:embed="rId3"/>
          <a:stretch>
            <a:fillRect/>
          </a:stretch>
        </p:blipFill>
        <p:spPr>
          <a:xfrm>
            <a:off x="9127907" y="4037990"/>
            <a:ext cx="702259" cy="70225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7</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New eyeballs win</a:t>
            </a:r>
            <a:endParaRPr lang="en-US" sz="3000" dirty="0"/>
          </a:p>
        </p:txBody>
      </p:sp>
      <p:sp>
        <p:nvSpPr>
          <p:cNvPr id="5" name="Shape 2"/>
          <p:cNvSpPr/>
          <p:nvPr/>
        </p:nvSpPr>
        <p:spPr>
          <a:xfrm>
            <a:off x="1463040" y="4709160"/>
            <a:ext cx="822960" cy="1143000"/>
          </a:xfrm>
          <a:prstGeom prst="roundRect">
            <a:avLst>
              <a:gd name="adj" fmla="val 8889"/>
            </a:avLst>
          </a:prstGeom>
          <a:solidFill>
            <a:srgbClr val="14141F"/>
          </a:solidFill>
          <a:ln/>
        </p:spPr>
      </p:sp>
      <p:sp>
        <p:nvSpPr>
          <p:cNvPr id="6" name="Shape 3"/>
          <p:cNvSpPr/>
          <p:nvPr/>
        </p:nvSpPr>
        <p:spPr>
          <a:xfrm>
            <a:off x="2514600" y="4709160"/>
            <a:ext cx="822960" cy="1143000"/>
          </a:xfrm>
          <a:prstGeom prst="roundRect">
            <a:avLst>
              <a:gd name="adj" fmla="val 8889"/>
            </a:avLst>
          </a:prstGeom>
          <a:solidFill>
            <a:srgbClr val="14141F"/>
          </a:solidFill>
          <a:ln/>
        </p:spPr>
      </p:sp>
      <p:sp>
        <p:nvSpPr>
          <p:cNvPr id="7" name="Shape 4"/>
          <p:cNvSpPr/>
          <p:nvPr/>
        </p:nvSpPr>
        <p:spPr>
          <a:xfrm>
            <a:off x="3566160" y="4709160"/>
            <a:ext cx="822960" cy="1143000"/>
          </a:xfrm>
          <a:prstGeom prst="roundRect">
            <a:avLst>
              <a:gd name="adj" fmla="val 8889"/>
            </a:avLst>
          </a:prstGeom>
          <a:solidFill>
            <a:srgbClr val="14141F"/>
          </a:solidFill>
          <a:ln/>
        </p:spPr>
      </p:sp>
      <p:sp>
        <p:nvSpPr>
          <p:cNvPr id="8" name="Shape 5"/>
          <p:cNvSpPr/>
          <p:nvPr/>
        </p:nvSpPr>
        <p:spPr>
          <a:xfrm>
            <a:off x="4617720" y="4709160"/>
            <a:ext cx="822960" cy="1143000"/>
          </a:xfrm>
          <a:prstGeom prst="roundRect">
            <a:avLst>
              <a:gd name="adj" fmla="val 8889"/>
            </a:avLst>
          </a:prstGeom>
          <a:solidFill>
            <a:srgbClr val="14141F"/>
          </a:solidFill>
          <a:ln/>
        </p:spPr>
      </p:sp>
      <p:sp>
        <p:nvSpPr>
          <p:cNvPr id="9" name="Shape 6"/>
          <p:cNvSpPr/>
          <p:nvPr/>
        </p:nvSpPr>
        <p:spPr>
          <a:xfrm>
            <a:off x="7680960" y="1828800"/>
            <a:ext cx="2377440" cy="4023360"/>
          </a:xfrm>
          <a:prstGeom prst="roundRect">
            <a:avLst>
              <a:gd name="adj" fmla="val 3846"/>
            </a:avLst>
          </a:prstGeom>
          <a:solidFill>
            <a:srgbClr val="FF4D3D"/>
          </a:solidFill>
          <a:ln/>
        </p:spPr>
      </p:sp>
      <p:sp>
        <p:nvSpPr>
          <p:cNvPr id="10" name="Text 7"/>
          <p:cNvSpPr txBox="1"/>
          <p:nvPr/>
        </p:nvSpPr>
        <p:spPr>
          <a:xfrm>
            <a:off x="1280160" y="3931920"/>
            <a:ext cx="4389120" cy="548640"/>
          </a:xfrm>
          <a:prstGeom prst="rect">
            <a:avLst/>
          </a:prstGeom>
          <a:noFill/>
          <a:ln/>
        </p:spPr>
        <p:txBody>
          <a:bodyPr wrap="square" lIns="0" tIns="0" rIns="0" bIns="0" rtlCol="0" anchor="t"/>
          <a:lstStyle/>
          <a:p>
            <a:pPr algn="ctr" indent="0" marL="0">
              <a:buNone/>
            </a:pPr>
            <a:r>
              <a:rPr lang="en-US" sz="2400" b="1" dirty="0">
                <a:solidFill>
                  <a:srgbClr val="14141F"/>
                </a:solidFill>
                <a:latin typeface="Arial" pitchFamily="34" charset="0"/>
                <a:ea typeface="Arial" pitchFamily="34" charset="-122"/>
                <a:cs typeface="Arial" pitchFamily="34" charset="-120"/>
              </a:rPr>
              <a:t>4 × 250k</a:t>
            </a:r>
            <a:endParaRPr lang="en-US" sz="2400" dirty="0"/>
          </a:p>
        </p:txBody>
      </p:sp>
      <p:sp>
        <p:nvSpPr>
          <p:cNvPr id="11" name="Text 8"/>
          <p:cNvSpPr txBox="1"/>
          <p:nvPr/>
        </p:nvSpPr>
        <p:spPr>
          <a:xfrm>
            <a:off x="7680960" y="2103120"/>
            <a:ext cx="237744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1 × 1M</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08</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Storytelling</a:t>
            </a:r>
            <a:endParaRPr lang="en-US" sz="4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8</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Hook · Problem · Journey · Lesson · CTA</a:t>
            </a:r>
            <a:endParaRPr lang="en-US" sz="3000" dirty="0"/>
          </a:p>
        </p:txBody>
      </p:sp>
      <p:sp>
        <p:nvSpPr>
          <p:cNvPr id="5" name="Shape 2"/>
          <p:cNvSpPr/>
          <p:nvPr/>
        </p:nvSpPr>
        <p:spPr>
          <a:xfrm>
            <a:off x="2359714" y="3474720"/>
            <a:ext cx="815617" cy="0"/>
          </a:xfrm>
          <a:prstGeom prst="line">
            <a:avLst/>
          </a:prstGeom>
          <a:noFill/>
          <a:ln w="38100">
            <a:solidFill>
              <a:srgbClr val="C9C9D6"/>
            </a:solidFill>
            <a:prstDash val="solid"/>
            <a:tailEnd type="triangle"/>
          </a:ln>
        </p:spPr>
      </p:sp>
      <p:sp>
        <p:nvSpPr>
          <p:cNvPr id="6" name="Shape 3"/>
          <p:cNvSpPr/>
          <p:nvPr/>
        </p:nvSpPr>
        <p:spPr>
          <a:xfrm>
            <a:off x="4578597" y="3474720"/>
            <a:ext cx="815617" cy="0"/>
          </a:xfrm>
          <a:prstGeom prst="line">
            <a:avLst/>
          </a:prstGeom>
          <a:noFill/>
          <a:ln w="38100">
            <a:solidFill>
              <a:srgbClr val="C9C9D6"/>
            </a:solidFill>
            <a:prstDash val="solid"/>
            <a:tailEnd type="triangle"/>
          </a:ln>
        </p:spPr>
      </p:sp>
      <p:sp>
        <p:nvSpPr>
          <p:cNvPr id="7" name="Shape 4"/>
          <p:cNvSpPr/>
          <p:nvPr/>
        </p:nvSpPr>
        <p:spPr>
          <a:xfrm>
            <a:off x="6797480" y="3474720"/>
            <a:ext cx="815617" cy="0"/>
          </a:xfrm>
          <a:prstGeom prst="line">
            <a:avLst/>
          </a:prstGeom>
          <a:noFill/>
          <a:ln w="38100">
            <a:solidFill>
              <a:srgbClr val="C9C9D6"/>
            </a:solidFill>
            <a:prstDash val="solid"/>
            <a:tailEnd type="triangle"/>
          </a:ln>
        </p:spPr>
      </p:sp>
      <p:sp>
        <p:nvSpPr>
          <p:cNvPr id="8" name="Shape 5"/>
          <p:cNvSpPr/>
          <p:nvPr/>
        </p:nvSpPr>
        <p:spPr>
          <a:xfrm>
            <a:off x="9016363" y="3474720"/>
            <a:ext cx="815617" cy="0"/>
          </a:xfrm>
          <a:prstGeom prst="line">
            <a:avLst/>
          </a:prstGeom>
          <a:noFill/>
          <a:ln w="38100">
            <a:solidFill>
              <a:srgbClr val="C9C9D6"/>
            </a:solidFill>
            <a:prstDash val="solid"/>
            <a:tailEnd type="triangle"/>
          </a:ln>
        </p:spPr>
      </p:sp>
      <p:sp>
        <p:nvSpPr>
          <p:cNvPr id="9" name="Shape 6"/>
          <p:cNvSpPr/>
          <p:nvPr/>
        </p:nvSpPr>
        <p:spPr>
          <a:xfrm>
            <a:off x="1047889" y="2864527"/>
            <a:ext cx="1220386" cy="1220386"/>
          </a:xfrm>
          <a:prstGeom prst="ellipse">
            <a:avLst/>
          </a:prstGeom>
          <a:solidFill>
            <a:srgbClr val="FF4D3D"/>
          </a:solidFill>
          <a:ln/>
        </p:spPr>
      </p:sp>
      <p:pic>
        <p:nvPicPr>
          <p:cNvPr id="10" name="Image 0" descr="preencoded.png">    </p:cNvPr>
          <p:cNvPicPr>
            <a:picLocks noChangeAspect="1"/>
          </p:cNvPicPr>
          <p:nvPr/>
        </p:nvPicPr>
        <p:blipFill>
          <a:blip r:embed="rId1"/>
          <a:stretch>
            <a:fillRect/>
          </a:stretch>
        </p:blipFill>
        <p:spPr>
          <a:xfrm>
            <a:off x="1365189" y="3181827"/>
            <a:ext cx="585785" cy="585785"/>
          </a:xfrm>
          <a:prstGeom prst="rect">
            <a:avLst/>
          </a:prstGeom>
        </p:spPr>
      </p:pic>
      <p:sp>
        <p:nvSpPr>
          <p:cNvPr id="11" name="Text 7"/>
          <p:cNvSpPr txBox="1"/>
          <p:nvPr/>
        </p:nvSpPr>
        <p:spPr>
          <a:xfrm>
            <a:off x="594360"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Hook</a:t>
            </a:r>
            <a:endParaRPr lang="en-US" sz="1800" dirty="0"/>
          </a:p>
        </p:txBody>
      </p:sp>
      <p:sp>
        <p:nvSpPr>
          <p:cNvPr id="12" name="Shape 8"/>
          <p:cNvSpPr/>
          <p:nvPr/>
        </p:nvSpPr>
        <p:spPr>
          <a:xfrm>
            <a:off x="3266772" y="2864527"/>
            <a:ext cx="1220386" cy="1220386"/>
          </a:xfrm>
          <a:prstGeom prst="ellipse">
            <a:avLst/>
          </a:prstGeom>
          <a:solidFill>
            <a:srgbClr val="14141F"/>
          </a:solidFill>
          <a:ln/>
        </p:spPr>
      </p:sp>
      <p:pic>
        <p:nvPicPr>
          <p:cNvPr id="13" name="Image 1" descr="preencoded.png">    </p:cNvPr>
          <p:cNvPicPr>
            <a:picLocks noChangeAspect="1"/>
          </p:cNvPicPr>
          <p:nvPr/>
        </p:nvPicPr>
        <p:blipFill>
          <a:blip r:embed="rId2"/>
          <a:stretch>
            <a:fillRect/>
          </a:stretch>
        </p:blipFill>
        <p:spPr>
          <a:xfrm>
            <a:off x="3584072" y="3181827"/>
            <a:ext cx="585785" cy="585785"/>
          </a:xfrm>
          <a:prstGeom prst="rect">
            <a:avLst/>
          </a:prstGeom>
        </p:spPr>
      </p:pic>
      <p:sp>
        <p:nvSpPr>
          <p:cNvPr id="14" name="Text 9"/>
          <p:cNvSpPr txBox="1"/>
          <p:nvPr/>
        </p:nvSpPr>
        <p:spPr>
          <a:xfrm>
            <a:off x="2813243"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Problem</a:t>
            </a:r>
            <a:endParaRPr lang="en-US" sz="1800" dirty="0"/>
          </a:p>
        </p:txBody>
      </p:sp>
      <p:sp>
        <p:nvSpPr>
          <p:cNvPr id="15" name="Shape 10"/>
          <p:cNvSpPr/>
          <p:nvPr/>
        </p:nvSpPr>
        <p:spPr>
          <a:xfrm>
            <a:off x="5485655" y="2864527"/>
            <a:ext cx="1220386" cy="1220386"/>
          </a:xfrm>
          <a:prstGeom prst="ellipse">
            <a:avLst/>
          </a:prstGeom>
          <a:solidFill>
            <a:srgbClr val="FFC93C"/>
          </a:solidFill>
          <a:ln/>
        </p:spPr>
      </p:sp>
      <p:pic>
        <p:nvPicPr>
          <p:cNvPr id="16" name="Image 2" descr="preencoded.png">    </p:cNvPr>
          <p:cNvPicPr>
            <a:picLocks noChangeAspect="1"/>
          </p:cNvPicPr>
          <p:nvPr/>
        </p:nvPicPr>
        <p:blipFill>
          <a:blip r:embed="rId3"/>
          <a:stretch>
            <a:fillRect/>
          </a:stretch>
        </p:blipFill>
        <p:spPr>
          <a:xfrm>
            <a:off x="5802955" y="3181827"/>
            <a:ext cx="585785" cy="585785"/>
          </a:xfrm>
          <a:prstGeom prst="rect">
            <a:avLst/>
          </a:prstGeom>
        </p:spPr>
      </p:pic>
      <p:sp>
        <p:nvSpPr>
          <p:cNvPr id="17" name="Text 11"/>
          <p:cNvSpPr txBox="1"/>
          <p:nvPr/>
        </p:nvSpPr>
        <p:spPr>
          <a:xfrm>
            <a:off x="5032126"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Journey</a:t>
            </a:r>
            <a:endParaRPr lang="en-US" sz="1800" dirty="0"/>
          </a:p>
        </p:txBody>
      </p:sp>
      <p:sp>
        <p:nvSpPr>
          <p:cNvPr id="18" name="Shape 12"/>
          <p:cNvSpPr/>
          <p:nvPr/>
        </p:nvSpPr>
        <p:spPr>
          <a:xfrm>
            <a:off x="7704538" y="2864527"/>
            <a:ext cx="1220386" cy="1220386"/>
          </a:xfrm>
          <a:prstGeom prst="ellipse">
            <a:avLst/>
          </a:prstGeom>
          <a:solidFill>
            <a:srgbClr val="FF4D3D"/>
          </a:solidFill>
          <a:ln/>
        </p:spPr>
      </p:sp>
      <p:pic>
        <p:nvPicPr>
          <p:cNvPr id="19" name="Image 3" descr="preencoded.png">    </p:cNvPr>
          <p:cNvPicPr>
            <a:picLocks noChangeAspect="1"/>
          </p:cNvPicPr>
          <p:nvPr/>
        </p:nvPicPr>
        <p:blipFill>
          <a:blip r:embed="rId4"/>
          <a:stretch>
            <a:fillRect/>
          </a:stretch>
        </p:blipFill>
        <p:spPr>
          <a:xfrm>
            <a:off x="8021838" y="3181827"/>
            <a:ext cx="585785" cy="585785"/>
          </a:xfrm>
          <a:prstGeom prst="rect">
            <a:avLst/>
          </a:prstGeom>
        </p:spPr>
      </p:pic>
      <p:sp>
        <p:nvSpPr>
          <p:cNvPr id="20" name="Text 13"/>
          <p:cNvSpPr txBox="1"/>
          <p:nvPr/>
        </p:nvSpPr>
        <p:spPr>
          <a:xfrm>
            <a:off x="7251009"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Lesson</a:t>
            </a:r>
            <a:endParaRPr lang="en-US" sz="1800" dirty="0"/>
          </a:p>
        </p:txBody>
      </p:sp>
      <p:sp>
        <p:nvSpPr>
          <p:cNvPr id="21" name="Shape 14"/>
          <p:cNvSpPr/>
          <p:nvPr/>
        </p:nvSpPr>
        <p:spPr>
          <a:xfrm>
            <a:off x="9923421" y="2864527"/>
            <a:ext cx="1220386" cy="1220386"/>
          </a:xfrm>
          <a:prstGeom prst="ellipse">
            <a:avLst/>
          </a:prstGeom>
          <a:solidFill>
            <a:srgbClr val="14141F"/>
          </a:solidFill>
          <a:ln/>
        </p:spPr>
      </p:sp>
      <p:pic>
        <p:nvPicPr>
          <p:cNvPr id="22" name="Image 4" descr="preencoded.png">    </p:cNvPr>
          <p:cNvPicPr>
            <a:picLocks noChangeAspect="1"/>
          </p:cNvPicPr>
          <p:nvPr/>
        </p:nvPicPr>
        <p:blipFill>
          <a:blip r:embed="rId5"/>
          <a:stretch>
            <a:fillRect/>
          </a:stretch>
        </p:blipFill>
        <p:spPr>
          <a:xfrm>
            <a:off x="10240721" y="3181827"/>
            <a:ext cx="585785" cy="585785"/>
          </a:xfrm>
          <a:prstGeom prst="rect">
            <a:avLst/>
          </a:prstGeom>
        </p:spPr>
      </p:pic>
      <p:sp>
        <p:nvSpPr>
          <p:cNvPr id="23" name="Text 15"/>
          <p:cNvSpPr txBox="1"/>
          <p:nvPr/>
        </p:nvSpPr>
        <p:spPr>
          <a:xfrm>
            <a:off x="9469892"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CTA</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8</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5 stories that build trust</a:t>
            </a:r>
            <a:endParaRPr lang="en-US" sz="3000" dirty="0"/>
          </a:p>
        </p:txBody>
      </p:sp>
      <p:sp>
        <p:nvSpPr>
          <p:cNvPr id="5" name="Shape 2"/>
          <p:cNvSpPr/>
          <p:nvPr/>
        </p:nvSpPr>
        <p:spPr>
          <a:xfrm>
            <a:off x="970228" y="2786866"/>
            <a:ext cx="1375707" cy="1375707"/>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327912" y="3144550"/>
            <a:ext cx="660340" cy="660340"/>
          </a:xfrm>
          <a:prstGeom prst="rect">
            <a:avLst/>
          </a:prstGeom>
        </p:spPr>
      </p:pic>
      <p:sp>
        <p:nvSpPr>
          <p:cNvPr id="7" name="Text 3"/>
          <p:cNvSpPr txBox="1"/>
          <p:nvPr/>
        </p:nvSpPr>
        <p:spPr>
          <a:xfrm>
            <a:off x="594360"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Origin</a:t>
            </a:r>
            <a:endParaRPr lang="en-US" sz="1800" dirty="0"/>
          </a:p>
        </p:txBody>
      </p:sp>
      <p:sp>
        <p:nvSpPr>
          <p:cNvPr id="8" name="Shape 4"/>
          <p:cNvSpPr/>
          <p:nvPr/>
        </p:nvSpPr>
        <p:spPr>
          <a:xfrm>
            <a:off x="3189111" y="2786866"/>
            <a:ext cx="1375707" cy="1375707"/>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3546795" y="3144550"/>
            <a:ext cx="660340" cy="660340"/>
          </a:xfrm>
          <a:prstGeom prst="rect">
            <a:avLst/>
          </a:prstGeom>
        </p:spPr>
      </p:pic>
      <p:sp>
        <p:nvSpPr>
          <p:cNvPr id="10" name="Text 5"/>
          <p:cNvSpPr txBox="1"/>
          <p:nvPr/>
        </p:nvSpPr>
        <p:spPr>
          <a:xfrm>
            <a:off x="2813243"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Failure</a:t>
            </a:r>
            <a:endParaRPr lang="en-US" sz="1800" dirty="0"/>
          </a:p>
        </p:txBody>
      </p:sp>
      <p:sp>
        <p:nvSpPr>
          <p:cNvPr id="11" name="Shape 6"/>
          <p:cNvSpPr/>
          <p:nvPr/>
        </p:nvSpPr>
        <p:spPr>
          <a:xfrm>
            <a:off x="5407994" y="2786866"/>
            <a:ext cx="1375707" cy="1375707"/>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5765678" y="3144550"/>
            <a:ext cx="660340" cy="660340"/>
          </a:xfrm>
          <a:prstGeom prst="rect">
            <a:avLst/>
          </a:prstGeom>
        </p:spPr>
      </p:pic>
      <p:sp>
        <p:nvSpPr>
          <p:cNvPr id="13" name="Text 7"/>
          <p:cNvSpPr txBox="1"/>
          <p:nvPr/>
        </p:nvSpPr>
        <p:spPr>
          <a:xfrm>
            <a:off x="5032126"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Success</a:t>
            </a:r>
            <a:endParaRPr lang="en-US" sz="1800" dirty="0"/>
          </a:p>
        </p:txBody>
      </p:sp>
      <p:sp>
        <p:nvSpPr>
          <p:cNvPr id="14" name="Shape 8"/>
          <p:cNvSpPr/>
          <p:nvPr/>
        </p:nvSpPr>
        <p:spPr>
          <a:xfrm>
            <a:off x="7626877" y="2786866"/>
            <a:ext cx="1375707" cy="1375707"/>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7984561" y="3144550"/>
            <a:ext cx="660340" cy="660340"/>
          </a:xfrm>
          <a:prstGeom prst="rect">
            <a:avLst/>
          </a:prstGeom>
        </p:spPr>
      </p:pic>
      <p:sp>
        <p:nvSpPr>
          <p:cNvPr id="16" name="Text 9"/>
          <p:cNvSpPr txBox="1"/>
          <p:nvPr/>
        </p:nvSpPr>
        <p:spPr>
          <a:xfrm>
            <a:off x="7251009"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Client win</a:t>
            </a:r>
            <a:endParaRPr lang="en-US" sz="1800" dirty="0"/>
          </a:p>
        </p:txBody>
      </p:sp>
      <p:sp>
        <p:nvSpPr>
          <p:cNvPr id="17" name="Shape 10"/>
          <p:cNvSpPr/>
          <p:nvPr/>
        </p:nvSpPr>
        <p:spPr>
          <a:xfrm>
            <a:off x="9845760" y="2786866"/>
            <a:ext cx="1375707" cy="1375707"/>
          </a:xfrm>
          <a:prstGeom prst="ellipse">
            <a:avLst/>
          </a:prstGeom>
          <a:solidFill>
            <a:srgbClr val="14141F"/>
          </a:solidFill>
          <a:ln/>
        </p:spPr>
      </p:sp>
      <p:pic>
        <p:nvPicPr>
          <p:cNvPr id="18" name="Image 4" descr="preencoded.png">    </p:cNvPr>
          <p:cNvPicPr>
            <a:picLocks noChangeAspect="1"/>
          </p:cNvPicPr>
          <p:nvPr/>
        </p:nvPicPr>
        <p:blipFill>
          <a:blip r:embed="rId5"/>
          <a:stretch>
            <a:fillRect/>
          </a:stretch>
        </p:blipFill>
        <p:spPr>
          <a:xfrm>
            <a:off x="10203444" y="3144550"/>
            <a:ext cx="660340" cy="660340"/>
          </a:xfrm>
          <a:prstGeom prst="rect">
            <a:avLst/>
          </a:prstGeom>
        </p:spPr>
      </p:pic>
      <p:sp>
        <p:nvSpPr>
          <p:cNvPr id="19" name="Text 11"/>
          <p:cNvSpPr txBox="1"/>
          <p:nvPr/>
        </p:nvSpPr>
        <p:spPr>
          <a:xfrm>
            <a:off x="9469892"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Contrarian</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8</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Education = scaled trust</a:t>
            </a:r>
            <a:endParaRPr lang="en-US" sz="3000" dirty="0"/>
          </a:p>
        </p:txBody>
      </p:sp>
      <p:sp>
        <p:nvSpPr>
          <p:cNvPr id="5" name="Shape 2"/>
          <p:cNvSpPr/>
          <p:nvPr/>
        </p:nvSpPr>
        <p:spPr>
          <a:xfrm>
            <a:off x="2359714" y="3474720"/>
            <a:ext cx="815617" cy="0"/>
          </a:xfrm>
          <a:prstGeom prst="line">
            <a:avLst/>
          </a:prstGeom>
          <a:noFill/>
          <a:ln w="38100">
            <a:solidFill>
              <a:srgbClr val="C9C9D6"/>
            </a:solidFill>
            <a:prstDash val="solid"/>
            <a:tailEnd type="triangle"/>
          </a:ln>
        </p:spPr>
      </p:sp>
      <p:sp>
        <p:nvSpPr>
          <p:cNvPr id="6" name="Shape 3"/>
          <p:cNvSpPr/>
          <p:nvPr/>
        </p:nvSpPr>
        <p:spPr>
          <a:xfrm>
            <a:off x="4578597" y="3474720"/>
            <a:ext cx="815617" cy="0"/>
          </a:xfrm>
          <a:prstGeom prst="line">
            <a:avLst/>
          </a:prstGeom>
          <a:noFill/>
          <a:ln w="38100">
            <a:solidFill>
              <a:srgbClr val="C9C9D6"/>
            </a:solidFill>
            <a:prstDash val="solid"/>
            <a:tailEnd type="triangle"/>
          </a:ln>
        </p:spPr>
      </p:sp>
      <p:sp>
        <p:nvSpPr>
          <p:cNvPr id="7" name="Shape 4"/>
          <p:cNvSpPr/>
          <p:nvPr/>
        </p:nvSpPr>
        <p:spPr>
          <a:xfrm>
            <a:off x="6797480" y="3474720"/>
            <a:ext cx="815617" cy="0"/>
          </a:xfrm>
          <a:prstGeom prst="line">
            <a:avLst/>
          </a:prstGeom>
          <a:noFill/>
          <a:ln w="38100">
            <a:solidFill>
              <a:srgbClr val="C9C9D6"/>
            </a:solidFill>
            <a:prstDash val="solid"/>
            <a:tailEnd type="triangle"/>
          </a:ln>
        </p:spPr>
      </p:sp>
      <p:sp>
        <p:nvSpPr>
          <p:cNvPr id="8" name="Shape 5"/>
          <p:cNvSpPr/>
          <p:nvPr/>
        </p:nvSpPr>
        <p:spPr>
          <a:xfrm>
            <a:off x="9016363" y="3474720"/>
            <a:ext cx="815617" cy="0"/>
          </a:xfrm>
          <a:prstGeom prst="line">
            <a:avLst/>
          </a:prstGeom>
          <a:noFill/>
          <a:ln w="38100">
            <a:solidFill>
              <a:srgbClr val="C9C9D6"/>
            </a:solidFill>
            <a:prstDash val="solid"/>
            <a:tailEnd type="triangle"/>
          </a:ln>
        </p:spPr>
      </p:sp>
      <p:sp>
        <p:nvSpPr>
          <p:cNvPr id="9" name="Shape 6"/>
          <p:cNvSpPr/>
          <p:nvPr/>
        </p:nvSpPr>
        <p:spPr>
          <a:xfrm>
            <a:off x="1047889" y="2864527"/>
            <a:ext cx="1220386" cy="1220386"/>
          </a:xfrm>
          <a:prstGeom prst="ellipse">
            <a:avLst/>
          </a:prstGeom>
          <a:solidFill>
            <a:srgbClr val="FF4D3D"/>
          </a:solidFill>
          <a:ln/>
        </p:spPr>
      </p:sp>
      <p:pic>
        <p:nvPicPr>
          <p:cNvPr id="10" name="Image 0" descr="preencoded.png">    </p:cNvPr>
          <p:cNvPicPr>
            <a:picLocks noChangeAspect="1"/>
          </p:cNvPicPr>
          <p:nvPr/>
        </p:nvPicPr>
        <p:blipFill>
          <a:blip r:embed="rId1"/>
          <a:stretch>
            <a:fillRect/>
          </a:stretch>
        </p:blipFill>
        <p:spPr>
          <a:xfrm>
            <a:off x="1365189" y="3181827"/>
            <a:ext cx="585785" cy="585785"/>
          </a:xfrm>
          <a:prstGeom prst="rect">
            <a:avLst/>
          </a:prstGeom>
        </p:spPr>
      </p:pic>
      <p:sp>
        <p:nvSpPr>
          <p:cNvPr id="11" name="Text 7"/>
          <p:cNvSpPr txBox="1"/>
          <p:nvPr/>
        </p:nvSpPr>
        <p:spPr>
          <a:xfrm>
            <a:off x="594360"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Stories</a:t>
            </a:r>
            <a:endParaRPr lang="en-US" sz="1800" dirty="0"/>
          </a:p>
        </p:txBody>
      </p:sp>
      <p:sp>
        <p:nvSpPr>
          <p:cNvPr id="12" name="Shape 8"/>
          <p:cNvSpPr/>
          <p:nvPr/>
        </p:nvSpPr>
        <p:spPr>
          <a:xfrm>
            <a:off x="3266772" y="2864527"/>
            <a:ext cx="1220386" cy="1220386"/>
          </a:xfrm>
          <a:prstGeom prst="ellipse">
            <a:avLst/>
          </a:prstGeom>
          <a:solidFill>
            <a:srgbClr val="14141F"/>
          </a:solidFill>
          <a:ln/>
        </p:spPr>
      </p:sp>
      <p:pic>
        <p:nvPicPr>
          <p:cNvPr id="13" name="Image 1" descr="preencoded.png">    </p:cNvPr>
          <p:cNvPicPr>
            <a:picLocks noChangeAspect="1"/>
          </p:cNvPicPr>
          <p:nvPr/>
        </p:nvPicPr>
        <p:blipFill>
          <a:blip r:embed="rId2"/>
          <a:stretch>
            <a:fillRect/>
          </a:stretch>
        </p:blipFill>
        <p:spPr>
          <a:xfrm>
            <a:off x="3584072" y="3181827"/>
            <a:ext cx="585785" cy="585785"/>
          </a:xfrm>
          <a:prstGeom prst="rect">
            <a:avLst/>
          </a:prstGeom>
        </p:spPr>
      </p:pic>
      <p:sp>
        <p:nvSpPr>
          <p:cNvPr id="14" name="Text 9"/>
          <p:cNvSpPr txBox="1"/>
          <p:nvPr/>
        </p:nvSpPr>
        <p:spPr>
          <a:xfrm>
            <a:off x="2813243"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Trust</a:t>
            </a:r>
            <a:endParaRPr lang="en-US" sz="1800" dirty="0"/>
          </a:p>
        </p:txBody>
      </p:sp>
      <p:sp>
        <p:nvSpPr>
          <p:cNvPr id="15" name="Shape 10"/>
          <p:cNvSpPr/>
          <p:nvPr/>
        </p:nvSpPr>
        <p:spPr>
          <a:xfrm>
            <a:off x="5485655" y="2864527"/>
            <a:ext cx="1220386" cy="1220386"/>
          </a:xfrm>
          <a:prstGeom prst="ellipse">
            <a:avLst/>
          </a:prstGeom>
          <a:solidFill>
            <a:srgbClr val="FFC93C"/>
          </a:solidFill>
          <a:ln/>
        </p:spPr>
      </p:sp>
      <p:pic>
        <p:nvPicPr>
          <p:cNvPr id="16" name="Image 2" descr="preencoded.png">    </p:cNvPr>
          <p:cNvPicPr>
            <a:picLocks noChangeAspect="1"/>
          </p:cNvPicPr>
          <p:nvPr/>
        </p:nvPicPr>
        <p:blipFill>
          <a:blip r:embed="rId3"/>
          <a:stretch>
            <a:fillRect/>
          </a:stretch>
        </p:blipFill>
        <p:spPr>
          <a:xfrm>
            <a:off x="5802955" y="3181827"/>
            <a:ext cx="585785" cy="585785"/>
          </a:xfrm>
          <a:prstGeom prst="rect">
            <a:avLst/>
          </a:prstGeom>
        </p:spPr>
      </p:pic>
      <p:sp>
        <p:nvSpPr>
          <p:cNvPr id="17" name="Text 11"/>
          <p:cNvSpPr txBox="1"/>
          <p:nvPr/>
        </p:nvSpPr>
        <p:spPr>
          <a:xfrm>
            <a:off x="5032126"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Action</a:t>
            </a:r>
            <a:endParaRPr lang="en-US" sz="1800" dirty="0"/>
          </a:p>
        </p:txBody>
      </p:sp>
      <p:sp>
        <p:nvSpPr>
          <p:cNvPr id="18" name="Shape 12"/>
          <p:cNvSpPr/>
          <p:nvPr/>
        </p:nvSpPr>
        <p:spPr>
          <a:xfrm>
            <a:off x="7704538" y="2864527"/>
            <a:ext cx="1220386" cy="1220386"/>
          </a:xfrm>
          <a:prstGeom prst="ellipse">
            <a:avLst/>
          </a:prstGeom>
          <a:solidFill>
            <a:srgbClr val="FF4D3D"/>
          </a:solidFill>
          <a:ln/>
        </p:spPr>
      </p:sp>
      <p:pic>
        <p:nvPicPr>
          <p:cNvPr id="19" name="Image 3" descr="preencoded.png">    </p:cNvPr>
          <p:cNvPicPr>
            <a:picLocks noChangeAspect="1"/>
          </p:cNvPicPr>
          <p:nvPr/>
        </p:nvPicPr>
        <p:blipFill>
          <a:blip r:embed="rId4"/>
          <a:stretch>
            <a:fillRect/>
          </a:stretch>
        </p:blipFill>
        <p:spPr>
          <a:xfrm>
            <a:off x="8021838" y="3181827"/>
            <a:ext cx="585785" cy="585785"/>
          </a:xfrm>
          <a:prstGeom prst="rect">
            <a:avLst/>
          </a:prstGeom>
        </p:spPr>
      </p:pic>
      <p:sp>
        <p:nvSpPr>
          <p:cNvPr id="20" name="Text 13"/>
          <p:cNvSpPr txBox="1"/>
          <p:nvPr/>
        </p:nvSpPr>
        <p:spPr>
          <a:xfrm>
            <a:off x="7251009"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Results</a:t>
            </a:r>
            <a:endParaRPr lang="en-US" sz="1800" dirty="0"/>
          </a:p>
        </p:txBody>
      </p:sp>
      <p:sp>
        <p:nvSpPr>
          <p:cNvPr id="21" name="Shape 14"/>
          <p:cNvSpPr/>
          <p:nvPr/>
        </p:nvSpPr>
        <p:spPr>
          <a:xfrm>
            <a:off x="9923421" y="2864527"/>
            <a:ext cx="1220386" cy="1220386"/>
          </a:xfrm>
          <a:prstGeom prst="ellipse">
            <a:avLst/>
          </a:prstGeom>
          <a:solidFill>
            <a:srgbClr val="14141F"/>
          </a:solidFill>
          <a:ln/>
        </p:spPr>
      </p:sp>
      <p:pic>
        <p:nvPicPr>
          <p:cNvPr id="22" name="Image 4" descr="preencoded.png">    </p:cNvPr>
          <p:cNvPicPr>
            <a:picLocks noChangeAspect="1"/>
          </p:cNvPicPr>
          <p:nvPr/>
        </p:nvPicPr>
        <p:blipFill>
          <a:blip r:embed="rId5"/>
          <a:stretch>
            <a:fillRect/>
          </a:stretch>
        </p:blipFill>
        <p:spPr>
          <a:xfrm>
            <a:off x="10240721" y="3181827"/>
            <a:ext cx="585785" cy="585785"/>
          </a:xfrm>
          <a:prstGeom prst="rect">
            <a:avLst/>
          </a:prstGeom>
        </p:spPr>
      </p:pic>
      <p:sp>
        <p:nvSpPr>
          <p:cNvPr id="23" name="Text 15"/>
          <p:cNvSpPr txBox="1"/>
          <p:nvPr/>
        </p:nvSpPr>
        <p:spPr>
          <a:xfrm>
            <a:off x="9469892"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Loyalty</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09</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Community</a:t>
            </a:r>
            <a:endParaRPr lang="en-US" sz="4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9</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Community-first</a:t>
            </a:r>
            <a:endParaRPr lang="en-US" sz="3000" dirty="0"/>
          </a:p>
        </p:txBody>
      </p:sp>
      <p:sp>
        <p:nvSpPr>
          <p:cNvPr id="5" name="Shape 2"/>
          <p:cNvSpPr/>
          <p:nvPr/>
        </p:nvSpPr>
        <p:spPr>
          <a:xfrm>
            <a:off x="970228" y="2786866"/>
            <a:ext cx="1375707" cy="1375707"/>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327912" y="3144550"/>
            <a:ext cx="660340" cy="660340"/>
          </a:xfrm>
          <a:prstGeom prst="rect">
            <a:avLst/>
          </a:prstGeom>
        </p:spPr>
      </p:pic>
      <p:sp>
        <p:nvSpPr>
          <p:cNvPr id="7" name="Text 3"/>
          <p:cNvSpPr txBox="1"/>
          <p:nvPr/>
        </p:nvSpPr>
        <p:spPr>
          <a:xfrm>
            <a:off x="594360"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Co-create</a:t>
            </a:r>
            <a:endParaRPr lang="en-US" sz="1800" dirty="0"/>
          </a:p>
        </p:txBody>
      </p:sp>
      <p:sp>
        <p:nvSpPr>
          <p:cNvPr id="8" name="Shape 4"/>
          <p:cNvSpPr/>
          <p:nvPr/>
        </p:nvSpPr>
        <p:spPr>
          <a:xfrm>
            <a:off x="3189111" y="2786866"/>
            <a:ext cx="1375707" cy="1375707"/>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3546795" y="3144550"/>
            <a:ext cx="660340" cy="660340"/>
          </a:xfrm>
          <a:prstGeom prst="rect">
            <a:avLst/>
          </a:prstGeom>
        </p:spPr>
      </p:pic>
      <p:sp>
        <p:nvSpPr>
          <p:cNvPr id="10" name="Text 5"/>
          <p:cNvSpPr txBox="1"/>
          <p:nvPr/>
        </p:nvSpPr>
        <p:spPr>
          <a:xfrm>
            <a:off x="2813243"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Listen</a:t>
            </a:r>
            <a:endParaRPr lang="en-US" sz="1800" dirty="0"/>
          </a:p>
        </p:txBody>
      </p:sp>
      <p:sp>
        <p:nvSpPr>
          <p:cNvPr id="11" name="Shape 6"/>
          <p:cNvSpPr/>
          <p:nvPr/>
        </p:nvSpPr>
        <p:spPr>
          <a:xfrm>
            <a:off x="5407994" y="2786866"/>
            <a:ext cx="1375707" cy="1375707"/>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5765678" y="3144550"/>
            <a:ext cx="660340" cy="660340"/>
          </a:xfrm>
          <a:prstGeom prst="rect">
            <a:avLst/>
          </a:prstGeom>
        </p:spPr>
      </p:pic>
      <p:sp>
        <p:nvSpPr>
          <p:cNvPr id="13" name="Text 7"/>
          <p:cNvSpPr txBox="1"/>
          <p:nvPr/>
        </p:nvSpPr>
        <p:spPr>
          <a:xfrm>
            <a:off x="5032126"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Fan = hero</a:t>
            </a:r>
            <a:endParaRPr lang="en-US" sz="1800" dirty="0"/>
          </a:p>
        </p:txBody>
      </p:sp>
      <p:sp>
        <p:nvSpPr>
          <p:cNvPr id="14" name="Shape 8"/>
          <p:cNvSpPr/>
          <p:nvPr/>
        </p:nvSpPr>
        <p:spPr>
          <a:xfrm>
            <a:off x="7626877" y="2786866"/>
            <a:ext cx="1375707" cy="1375707"/>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7984561" y="3144550"/>
            <a:ext cx="660340" cy="660340"/>
          </a:xfrm>
          <a:prstGeom prst="rect">
            <a:avLst/>
          </a:prstGeom>
        </p:spPr>
      </p:pic>
      <p:sp>
        <p:nvSpPr>
          <p:cNvPr id="16" name="Text 9"/>
          <p:cNvSpPr txBox="1"/>
          <p:nvPr/>
        </p:nvSpPr>
        <p:spPr>
          <a:xfrm>
            <a:off x="7251009"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Reply</a:t>
            </a:r>
            <a:endParaRPr lang="en-US" sz="1800" dirty="0"/>
          </a:p>
        </p:txBody>
      </p:sp>
      <p:sp>
        <p:nvSpPr>
          <p:cNvPr id="17" name="Shape 10"/>
          <p:cNvSpPr/>
          <p:nvPr/>
        </p:nvSpPr>
        <p:spPr>
          <a:xfrm>
            <a:off x="9845760" y="2786866"/>
            <a:ext cx="1375707" cy="1375707"/>
          </a:xfrm>
          <a:prstGeom prst="ellipse">
            <a:avLst/>
          </a:prstGeom>
          <a:solidFill>
            <a:srgbClr val="14141F"/>
          </a:solidFill>
          <a:ln/>
        </p:spPr>
      </p:sp>
      <p:pic>
        <p:nvPicPr>
          <p:cNvPr id="18" name="Image 4" descr="preencoded.png">    </p:cNvPr>
          <p:cNvPicPr>
            <a:picLocks noChangeAspect="1"/>
          </p:cNvPicPr>
          <p:nvPr/>
        </p:nvPicPr>
        <p:blipFill>
          <a:blip r:embed="rId5"/>
          <a:stretch>
            <a:fillRect/>
          </a:stretch>
        </p:blipFill>
        <p:spPr>
          <a:xfrm>
            <a:off x="10203444" y="3144550"/>
            <a:ext cx="660340" cy="660340"/>
          </a:xfrm>
          <a:prstGeom prst="rect">
            <a:avLst/>
          </a:prstGeom>
        </p:spPr>
      </p:pic>
      <p:sp>
        <p:nvSpPr>
          <p:cNvPr id="19" name="Text 11"/>
          <p:cNvSpPr txBox="1"/>
          <p:nvPr/>
        </p:nvSpPr>
        <p:spPr>
          <a:xfrm>
            <a:off x="9469892"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Inside jokes</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10</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Monetization</a:t>
            </a:r>
            <a:endParaRPr lang="en-US" sz="4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10</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Trust before transactions</a:t>
            </a:r>
            <a:endParaRPr lang="en-US" sz="3000" dirty="0"/>
          </a:p>
        </p:txBody>
      </p:sp>
      <p:sp>
        <p:nvSpPr>
          <p:cNvPr id="5" name="Shape 2"/>
          <p:cNvSpPr/>
          <p:nvPr/>
        </p:nvSpPr>
        <p:spPr>
          <a:xfrm>
            <a:off x="2789623" y="3474720"/>
            <a:ext cx="1065242" cy="0"/>
          </a:xfrm>
          <a:prstGeom prst="line">
            <a:avLst/>
          </a:prstGeom>
          <a:noFill/>
          <a:ln w="38100">
            <a:solidFill>
              <a:srgbClr val="C9C9D6"/>
            </a:solidFill>
            <a:prstDash val="solid"/>
            <a:tailEnd type="triangle"/>
          </a:ln>
        </p:spPr>
      </p:sp>
      <p:sp>
        <p:nvSpPr>
          <p:cNvPr id="6" name="Shape 3"/>
          <p:cNvSpPr/>
          <p:nvPr/>
        </p:nvSpPr>
        <p:spPr>
          <a:xfrm>
            <a:off x="5563227" y="3474720"/>
            <a:ext cx="1065242" cy="0"/>
          </a:xfrm>
          <a:prstGeom prst="line">
            <a:avLst/>
          </a:prstGeom>
          <a:noFill/>
          <a:ln w="38100">
            <a:solidFill>
              <a:srgbClr val="C9C9D6"/>
            </a:solidFill>
            <a:prstDash val="solid"/>
            <a:tailEnd type="triangle"/>
          </a:ln>
        </p:spPr>
      </p:sp>
      <p:sp>
        <p:nvSpPr>
          <p:cNvPr id="7" name="Shape 4"/>
          <p:cNvSpPr/>
          <p:nvPr/>
        </p:nvSpPr>
        <p:spPr>
          <a:xfrm>
            <a:off x="8336831" y="3474720"/>
            <a:ext cx="1065242" cy="0"/>
          </a:xfrm>
          <a:prstGeom prst="line">
            <a:avLst/>
          </a:prstGeom>
          <a:noFill/>
          <a:ln w="38100">
            <a:solidFill>
              <a:srgbClr val="C9C9D6"/>
            </a:solidFill>
            <a:prstDash val="solid"/>
            <a:tailEnd type="triangle"/>
          </a:ln>
        </p:spPr>
      </p:sp>
      <p:sp>
        <p:nvSpPr>
          <p:cNvPr id="8" name="Shape 5"/>
          <p:cNvSpPr/>
          <p:nvPr/>
        </p:nvSpPr>
        <p:spPr>
          <a:xfrm>
            <a:off x="1172701" y="2711979"/>
            <a:ext cx="1525482" cy="1525482"/>
          </a:xfrm>
          <a:prstGeom prst="ellipse">
            <a:avLst/>
          </a:prstGeom>
          <a:solidFill>
            <a:srgbClr val="FF4D3D"/>
          </a:solidFill>
          <a:ln/>
        </p:spPr>
      </p:sp>
      <p:pic>
        <p:nvPicPr>
          <p:cNvPr id="9" name="Image 0" descr="preencoded.png">    </p:cNvPr>
          <p:cNvPicPr>
            <a:picLocks noChangeAspect="1"/>
          </p:cNvPicPr>
          <p:nvPr/>
        </p:nvPicPr>
        <p:blipFill>
          <a:blip r:embed="rId1"/>
          <a:stretch>
            <a:fillRect/>
          </a:stretch>
        </p:blipFill>
        <p:spPr>
          <a:xfrm>
            <a:off x="1569326" y="3108604"/>
            <a:ext cx="732231" cy="732231"/>
          </a:xfrm>
          <a:prstGeom prst="rect">
            <a:avLst/>
          </a:prstGeom>
        </p:spPr>
      </p:pic>
      <p:sp>
        <p:nvSpPr>
          <p:cNvPr id="10" name="Text 6"/>
          <p:cNvSpPr txBox="1"/>
          <p:nvPr/>
        </p:nvSpPr>
        <p:spPr>
          <a:xfrm>
            <a:off x="594360" y="4420341"/>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Value</a:t>
            </a:r>
            <a:endParaRPr lang="en-US" sz="1800" dirty="0"/>
          </a:p>
        </p:txBody>
      </p:sp>
      <p:sp>
        <p:nvSpPr>
          <p:cNvPr id="11" name="Shape 7"/>
          <p:cNvSpPr/>
          <p:nvPr/>
        </p:nvSpPr>
        <p:spPr>
          <a:xfrm>
            <a:off x="3946305" y="2711979"/>
            <a:ext cx="1525482" cy="1525482"/>
          </a:xfrm>
          <a:prstGeom prst="ellipse">
            <a:avLst/>
          </a:prstGeom>
          <a:solidFill>
            <a:srgbClr val="14141F"/>
          </a:solidFill>
          <a:ln/>
        </p:spPr>
      </p:sp>
      <p:pic>
        <p:nvPicPr>
          <p:cNvPr id="12" name="Image 1" descr="preencoded.png">    </p:cNvPr>
          <p:cNvPicPr>
            <a:picLocks noChangeAspect="1"/>
          </p:cNvPicPr>
          <p:nvPr/>
        </p:nvPicPr>
        <p:blipFill>
          <a:blip r:embed="rId2"/>
          <a:stretch>
            <a:fillRect/>
          </a:stretch>
        </p:blipFill>
        <p:spPr>
          <a:xfrm>
            <a:off x="4342930" y="3108604"/>
            <a:ext cx="732231" cy="732231"/>
          </a:xfrm>
          <a:prstGeom prst="rect">
            <a:avLst/>
          </a:prstGeom>
        </p:spPr>
      </p:pic>
      <p:sp>
        <p:nvSpPr>
          <p:cNvPr id="13" name="Text 8"/>
          <p:cNvSpPr txBox="1"/>
          <p:nvPr/>
        </p:nvSpPr>
        <p:spPr>
          <a:xfrm>
            <a:off x="3367964" y="4420341"/>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Credibility</a:t>
            </a:r>
            <a:endParaRPr lang="en-US" sz="1800" dirty="0"/>
          </a:p>
        </p:txBody>
      </p:sp>
      <p:sp>
        <p:nvSpPr>
          <p:cNvPr id="14" name="Shape 9"/>
          <p:cNvSpPr/>
          <p:nvPr/>
        </p:nvSpPr>
        <p:spPr>
          <a:xfrm>
            <a:off x="6719908" y="2711979"/>
            <a:ext cx="1525482" cy="1525482"/>
          </a:xfrm>
          <a:prstGeom prst="ellipse">
            <a:avLst/>
          </a:prstGeom>
          <a:solidFill>
            <a:srgbClr val="FFC93C"/>
          </a:solidFill>
          <a:ln/>
        </p:spPr>
      </p:sp>
      <p:pic>
        <p:nvPicPr>
          <p:cNvPr id="15" name="Image 2" descr="preencoded.png">    </p:cNvPr>
          <p:cNvPicPr>
            <a:picLocks noChangeAspect="1"/>
          </p:cNvPicPr>
          <p:nvPr/>
        </p:nvPicPr>
        <p:blipFill>
          <a:blip r:embed="rId3"/>
          <a:stretch>
            <a:fillRect/>
          </a:stretch>
        </p:blipFill>
        <p:spPr>
          <a:xfrm>
            <a:off x="7116534" y="3108604"/>
            <a:ext cx="732231" cy="732231"/>
          </a:xfrm>
          <a:prstGeom prst="rect">
            <a:avLst/>
          </a:prstGeom>
        </p:spPr>
      </p:pic>
      <p:sp>
        <p:nvSpPr>
          <p:cNvPr id="16" name="Text 10"/>
          <p:cNvSpPr txBox="1"/>
          <p:nvPr/>
        </p:nvSpPr>
        <p:spPr>
          <a:xfrm>
            <a:off x="6141568" y="4420341"/>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Relationship</a:t>
            </a:r>
            <a:endParaRPr lang="en-US" sz="1800" dirty="0"/>
          </a:p>
        </p:txBody>
      </p:sp>
      <p:sp>
        <p:nvSpPr>
          <p:cNvPr id="17" name="Shape 11"/>
          <p:cNvSpPr/>
          <p:nvPr/>
        </p:nvSpPr>
        <p:spPr>
          <a:xfrm>
            <a:off x="9493512" y="2711979"/>
            <a:ext cx="1525482" cy="1525482"/>
          </a:xfrm>
          <a:prstGeom prst="ellipse">
            <a:avLst/>
          </a:prstGeom>
          <a:solidFill>
            <a:srgbClr val="FFC93C"/>
          </a:solidFill>
          <a:ln/>
        </p:spPr>
      </p:sp>
      <p:pic>
        <p:nvPicPr>
          <p:cNvPr id="18" name="Image 3" descr="preencoded.png">    </p:cNvPr>
          <p:cNvPicPr>
            <a:picLocks noChangeAspect="1"/>
          </p:cNvPicPr>
          <p:nvPr/>
        </p:nvPicPr>
        <p:blipFill>
          <a:blip r:embed="rId4"/>
          <a:stretch>
            <a:fillRect/>
          </a:stretch>
        </p:blipFill>
        <p:spPr>
          <a:xfrm>
            <a:off x="9890138" y="3108604"/>
            <a:ext cx="732231" cy="732231"/>
          </a:xfrm>
          <a:prstGeom prst="rect">
            <a:avLst/>
          </a:prstGeom>
        </p:spPr>
      </p:pic>
      <p:sp>
        <p:nvSpPr>
          <p:cNvPr id="19" name="Text 12"/>
          <p:cNvSpPr txBox="1"/>
          <p:nvPr/>
        </p:nvSpPr>
        <p:spPr>
          <a:xfrm>
            <a:off x="8915171" y="4420341"/>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Sale</a:t>
            </a:r>
            <a:endParaRPr 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10</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5 ways to monetize</a:t>
            </a:r>
            <a:endParaRPr lang="en-US" sz="3000" dirty="0"/>
          </a:p>
        </p:txBody>
      </p:sp>
      <p:sp>
        <p:nvSpPr>
          <p:cNvPr id="5" name="Shape 2"/>
          <p:cNvSpPr/>
          <p:nvPr/>
        </p:nvSpPr>
        <p:spPr>
          <a:xfrm>
            <a:off x="970228" y="2786866"/>
            <a:ext cx="1375707" cy="1375707"/>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327912" y="3144550"/>
            <a:ext cx="660340" cy="660340"/>
          </a:xfrm>
          <a:prstGeom prst="rect">
            <a:avLst/>
          </a:prstGeom>
        </p:spPr>
      </p:pic>
      <p:sp>
        <p:nvSpPr>
          <p:cNvPr id="7" name="Text 3"/>
          <p:cNvSpPr txBox="1"/>
          <p:nvPr/>
        </p:nvSpPr>
        <p:spPr>
          <a:xfrm>
            <a:off x="594360"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Services</a:t>
            </a:r>
            <a:endParaRPr lang="en-US" sz="1800" dirty="0"/>
          </a:p>
        </p:txBody>
      </p:sp>
      <p:sp>
        <p:nvSpPr>
          <p:cNvPr id="8" name="Shape 4"/>
          <p:cNvSpPr/>
          <p:nvPr/>
        </p:nvSpPr>
        <p:spPr>
          <a:xfrm>
            <a:off x="3189111" y="2786866"/>
            <a:ext cx="1375707" cy="1375707"/>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3546795" y="3144550"/>
            <a:ext cx="660340" cy="660340"/>
          </a:xfrm>
          <a:prstGeom prst="rect">
            <a:avLst/>
          </a:prstGeom>
        </p:spPr>
      </p:pic>
      <p:sp>
        <p:nvSpPr>
          <p:cNvPr id="10" name="Text 5"/>
          <p:cNvSpPr txBox="1"/>
          <p:nvPr/>
        </p:nvSpPr>
        <p:spPr>
          <a:xfrm>
            <a:off x="2813243"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Products</a:t>
            </a:r>
            <a:endParaRPr lang="en-US" sz="1800" dirty="0"/>
          </a:p>
        </p:txBody>
      </p:sp>
      <p:sp>
        <p:nvSpPr>
          <p:cNvPr id="11" name="Shape 6"/>
          <p:cNvSpPr/>
          <p:nvPr/>
        </p:nvSpPr>
        <p:spPr>
          <a:xfrm>
            <a:off x="5407994" y="2786866"/>
            <a:ext cx="1375707" cy="1375707"/>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5765678" y="3144550"/>
            <a:ext cx="660340" cy="660340"/>
          </a:xfrm>
          <a:prstGeom prst="rect">
            <a:avLst/>
          </a:prstGeom>
        </p:spPr>
      </p:pic>
      <p:sp>
        <p:nvSpPr>
          <p:cNvPr id="13" name="Text 7"/>
          <p:cNvSpPr txBox="1"/>
          <p:nvPr/>
        </p:nvSpPr>
        <p:spPr>
          <a:xfrm>
            <a:off x="5032126"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Affiliates</a:t>
            </a:r>
            <a:endParaRPr lang="en-US" sz="1800" dirty="0"/>
          </a:p>
        </p:txBody>
      </p:sp>
      <p:sp>
        <p:nvSpPr>
          <p:cNvPr id="14" name="Shape 8"/>
          <p:cNvSpPr/>
          <p:nvPr/>
        </p:nvSpPr>
        <p:spPr>
          <a:xfrm>
            <a:off x="7626877" y="2786866"/>
            <a:ext cx="1375707" cy="1375707"/>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7984561" y="3144550"/>
            <a:ext cx="660340" cy="660340"/>
          </a:xfrm>
          <a:prstGeom prst="rect">
            <a:avLst/>
          </a:prstGeom>
        </p:spPr>
      </p:pic>
      <p:sp>
        <p:nvSpPr>
          <p:cNvPr id="16" name="Text 9"/>
          <p:cNvSpPr txBox="1"/>
          <p:nvPr/>
        </p:nvSpPr>
        <p:spPr>
          <a:xfrm>
            <a:off x="7251009"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Community</a:t>
            </a:r>
            <a:endParaRPr lang="en-US" sz="1800" dirty="0"/>
          </a:p>
        </p:txBody>
      </p:sp>
      <p:sp>
        <p:nvSpPr>
          <p:cNvPr id="17" name="Shape 10"/>
          <p:cNvSpPr/>
          <p:nvPr/>
        </p:nvSpPr>
        <p:spPr>
          <a:xfrm>
            <a:off x="9845760" y="2786866"/>
            <a:ext cx="1375707" cy="1375707"/>
          </a:xfrm>
          <a:prstGeom prst="ellipse">
            <a:avLst/>
          </a:prstGeom>
          <a:solidFill>
            <a:srgbClr val="14141F"/>
          </a:solidFill>
          <a:ln/>
        </p:spPr>
      </p:sp>
      <p:pic>
        <p:nvPicPr>
          <p:cNvPr id="18" name="Image 4" descr="preencoded.png">    </p:cNvPr>
          <p:cNvPicPr>
            <a:picLocks noChangeAspect="1"/>
          </p:cNvPicPr>
          <p:nvPr/>
        </p:nvPicPr>
        <p:blipFill>
          <a:blip r:embed="rId5"/>
          <a:stretch>
            <a:fillRect/>
          </a:stretch>
        </p:blipFill>
        <p:spPr>
          <a:xfrm>
            <a:off x="10203444" y="3144550"/>
            <a:ext cx="660340" cy="660340"/>
          </a:xfrm>
          <a:prstGeom prst="rect">
            <a:avLst/>
          </a:prstGeom>
        </p:spPr>
      </p:pic>
      <p:sp>
        <p:nvSpPr>
          <p:cNvPr id="19" name="Text 11"/>
          <p:cNvSpPr txBox="1"/>
          <p:nvPr/>
        </p:nvSpPr>
        <p:spPr>
          <a:xfrm>
            <a:off x="9469892"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Ads</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10</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offer stack</a:t>
            </a:r>
            <a:endParaRPr lang="en-US" sz="3000" dirty="0"/>
          </a:p>
        </p:txBody>
      </p:sp>
      <p:sp>
        <p:nvSpPr>
          <p:cNvPr id="5" name="Shape 2"/>
          <p:cNvSpPr/>
          <p:nvPr/>
        </p:nvSpPr>
        <p:spPr>
          <a:xfrm>
            <a:off x="960120" y="5394960"/>
            <a:ext cx="1920240" cy="822960"/>
          </a:xfrm>
          <a:prstGeom prst="rect">
            <a:avLst/>
          </a:prstGeom>
          <a:solidFill>
            <a:srgbClr val="F4F4F8"/>
          </a:solidFill>
          <a:ln/>
        </p:spPr>
      </p:sp>
      <p:sp>
        <p:nvSpPr>
          <p:cNvPr id="6" name="Shape 3"/>
          <p:cNvSpPr/>
          <p:nvPr/>
        </p:nvSpPr>
        <p:spPr>
          <a:xfrm>
            <a:off x="1417320" y="4206240"/>
            <a:ext cx="1005840" cy="1005840"/>
          </a:xfrm>
          <a:prstGeom prst="ellipse">
            <a:avLst/>
          </a:prstGeom>
          <a:solidFill>
            <a:srgbClr val="FF4D3D"/>
          </a:solidFill>
          <a:ln/>
        </p:spPr>
      </p:sp>
      <p:pic>
        <p:nvPicPr>
          <p:cNvPr id="7" name="Image 0" descr="preencoded.png">    </p:cNvPr>
          <p:cNvPicPr>
            <a:picLocks noChangeAspect="1"/>
          </p:cNvPicPr>
          <p:nvPr/>
        </p:nvPicPr>
        <p:blipFill>
          <a:blip r:embed="rId1"/>
          <a:stretch>
            <a:fillRect/>
          </a:stretch>
        </p:blipFill>
        <p:spPr>
          <a:xfrm>
            <a:off x="1678838" y="4467758"/>
            <a:ext cx="482803" cy="482803"/>
          </a:xfrm>
          <a:prstGeom prst="rect">
            <a:avLst/>
          </a:prstGeom>
        </p:spPr>
      </p:pic>
      <p:sp>
        <p:nvSpPr>
          <p:cNvPr id="8" name="Text 4"/>
          <p:cNvSpPr txBox="1"/>
          <p:nvPr/>
        </p:nvSpPr>
        <p:spPr>
          <a:xfrm>
            <a:off x="1005840" y="5577840"/>
            <a:ext cx="1828800" cy="45720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Free</a:t>
            </a:r>
            <a:endParaRPr lang="en-US" sz="1800" dirty="0"/>
          </a:p>
        </p:txBody>
      </p:sp>
      <p:sp>
        <p:nvSpPr>
          <p:cNvPr id="9" name="Shape 5"/>
          <p:cNvSpPr/>
          <p:nvPr/>
        </p:nvSpPr>
        <p:spPr>
          <a:xfrm>
            <a:off x="3044952" y="4736592"/>
            <a:ext cx="1920240" cy="1481328"/>
          </a:xfrm>
          <a:prstGeom prst="rect">
            <a:avLst/>
          </a:prstGeom>
          <a:solidFill>
            <a:srgbClr val="14141F"/>
          </a:solidFill>
          <a:ln/>
        </p:spPr>
      </p:sp>
      <p:sp>
        <p:nvSpPr>
          <p:cNvPr id="10" name="Shape 6"/>
          <p:cNvSpPr/>
          <p:nvPr/>
        </p:nvSpPr>
        <p:spPr>
          <a:xfrm>
            <a:off x="3502152" y="3547872"/>
            <a:ext cx="1005840" cy="1005840"/>
          </a:xfrm>
          <a:prstGeom prst="ellipse">
            <a:avLst/>
          </a:prstGeom>
          <a:solidFill>
            <a:srgbClr val="FF4D3D"/>
          </a:solidFill>
          <a:ln/>
        </p:spPr>
      </p:sp>
      <p:pic>
        <p:nvPicPr>
          <p:cNvPr id="11" name="Image 1" descr="preencoded.png">    </p:cNvPr>
          <p:cNvPicPr>
            <a:picLocks noChangeAspect="1"/>
          </p:cNvPicPr>
          <p:nvPr/>
        </p:nvPicPr>
        <p:blipFill>
          <a:blip r:embed="rId2"/>
          <a:stretch>
            <a:fillRect/>
          </a:stretch>
        </p:blipFill>
        <p:spPr>
          <a:xfrm>
            <a:off x="3763670" y="3809390"/>
            <a:ext cx="482803" cy="482803"/>
          </a:xfrm>
          <a:prstGeom prst="rect">
            <a:avLst/>
          </a:prstGeom>
        </p:spPr>
      </p:pic>
      <p:sp>
        <p:nvSpPr>
          <p:cNvPr id="12" name="Text 7"/>
          <p:cNvSpPr txBox="1"/>
          <p:nvPr/>
        </p:nvSpPr>
        <p:spPr>
          <a:xfrm>
            <a:off x="3090672" y="4919472"/>
            <a:ext cx="1828800" cy="45720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Lead</a:t>
            </a:r>
            <a:endParaRPr lang="en-US" sz="1800" dirty="0"/>
          </a:p>
        </p:txBody>
      </p:sp>
      <p:sp>
        <p:nvSpPr>
          <p:cNvPr id="13" name="Shape 8"/>
          <p:cNvSpPr/>
          <p:nvPr/>
        </p:nvSpPr>
        <p:spPr>
          <a:xfrm>
            <a:off x="5129784" y="4078224"/>
            <a:ext cx="1920240" cy="2139696"/>
          </a:xfrm>
          <a:prstGeom prst="rect">
            <a:avLst/>
          </a:prstGeom>
          <a:solidFill>
            <a:srgbClr val="F4F4F8"/>
          </a:solidFill>
          <a:ln/>
        </p:spPr>
      </p:sp>
      <p:sp>
        <p:nvSpPr>
          <p:cNvPr id="14" name="Shape 9"/>
          <p:cNvSpPr/>
          <p:nvPr/>
        </p:nvSpPr>
        <p:spPr>
          <a:xfrm>
            <a:off x="5586984" y="2889504"/>
            <a:ext cx="1005840" cy="1005840"/>
          </a:xfrm>
          <a:prstGeom prst="ellipse">
            <a:avLst/>
          </a:prstGeom>
          <a:solidFill>
            <a:srgbClr val="FF4D3D"/>
          </a:solidFill>
          <a:ln/>
        </p:spPr>
      </p:sp>
      <p:pic>
        <p:nvPicPr>
          <p:cNvPr id="15" name="Image 2" descr="preencoded.png">    </p:cNvPr>
          <p:cNvPicPr>
            <a:picLocks noChangeAspect="1"/>
          </p:cNvPicPr>
          <p:nvPr/>
        </p:nvPicPr>
        <p:blipFill>
          <a:blip r:embed="rId3"/>
          <a:stretch>
            <a:fillRect/>
          </a:stretch>
        </p:blipFill>
        <p:spPr>
          <a:xfrm>
            <a:off x="5848502" y="3151022"/>
            <a:ext cx="482803" cy="482803"/>
          </a:xfrm>
          <a:prstGeom prst="rect">
            <a:avLst/>
          </a:prstGeom>
        </p:spPr>
      </p:pic>
      <p:sp>
        <p:nvSpPr>
          <p:cNvPr id="16" name="Text 10"/>
          <p:cNvSpPr txBox="1"/>
          <p:nvPr/>
        </p:nvSpPr>
        <p:spPr>
          <a:xfrm>
            <a:off x="5175504" y="4261104"/>
            <a:ext cx="1828800" cy="45720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$10–100</a:t>
            </a:r>
            <a:endParaRPr lang="en-US" sz="1800" dirty="0"/>
          </a:p>
        </p:txBody>
      </p:sp>
      <p:sp>
        <p:nvSpPr>
          <p:cNvPr id="17" name="Shape 11"/>
          <p:cNvSpPr/>
          <p:nvPr/>
        </p:nvSpPr>
        <p:spPr>
          <a:xfrm>
            <a:off x="7214616" y="3419856"/>
            <a:ext cx="1920240" cy="2798064"/>
          </a:xfrm>
          <a:prstGeom prst="rect">
            <a:avLst/>
          </a:prstGeom>
          <a:solidFill>
            <a:srgbClr val="14141F"/>
          </a:solidFill>
          <a:ln/>
        </p:spPr>
      </p:sp>
      <p:sp>
        <p:nvSpPr>
          <p:cNvPr id="18" name="Shape 12"/>
          <p:cNvSpPr/>
          <p:nvPr/>
        </p:nvSpPr>
        <p:spPr>
          <a:xfrm>
            <a:off x="7671816" y="2231136"/>
            <a:ext cx="1005840" cy="1005840"/>
          </a:xfrm>
          <a:prstGeom prst="ellipse">
            <a:avLst/>
          </a:prstGeom>
          <a:solidFill>
            <a:srgbClr val="FF4D3D"/>
          </a:solidFill>
          <a:ln/>
        </p:spPr>
      </p:sp>
      <p:pic>
        <p:nvPicPr>
          <p:cNvPr id="19" name="Image 3" descr="preencoded.png">    </p:cNvPr>
          <p:cNvPicPr>
            <a:picLocks noChangeAspect="1"/>
          </p:cNvPicPr>
          <p:nvPr/>
        </p:nvPicPr>
        <p:blipFill>
          <a:blip r:embed="rId4"/>
          <a:stretch>
            <a:fillRect/>
          </a:stretch>
        </p:blipFill>
        <p:spPr>
          <a:xfrm>
            <a:off x="7933334" y="2492654"/>
            <a:ext cx="482803" cy="482803"/>
          </a:xfrm>
          <a:prstGeom prst="rect">
            <a:avLst/>
          </a:prstGeom>
        </p:spPr>
      </p:pic>
      <p:sp>
        <p:nvSpPr>
          <p:cNvPr id="20" name="Text 13"/>
          <p:cNvSpPr txBox="1"/>
          <p:nvPr/>
        </p:nvSpPr>
        <p:spPr>
          <a:xfrm>
            <a:off x="7260336" y="3602736"/>
            <a:ext cx="1828800" cy="45720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$500–5k</a:t>
            </a:r>
            <a:endParaRPr lang="en-US" sz="1800" dirty="0"/>
          </a:p>
        </p:txBody>
      </p:sp>
      <p:sp>
        <p:nvSpPr>
          <p:cNvPr id="21" name="Shape 14"/>
          <p:cNvSpPr/>
          <p:nvPr/>
        </p:nvSpPr>
        <p:spPr>
          <a:xfrm>
            <a:off x="9299448" y="2761488"/>
            <a:ext cx="1920240" cy="3456432"/>
          </a:xfrm>
          <a:prstGeom prst="rect">
            <a:avLst/>
          </a:prstGeom>
          <a:solidFill>
            <a:srgbClr val="FF4D3D"/>
          </a:solidFill>
          <a:ln/>
        </p:spPr>
      </p:sp>
      <p:sp>
        <p:nvSpPr>
          <p:cNvPr id="22" name="Shape 15"/>
          <p:cNvSpPr/>
          <p:nvPr/>
        </p:nvSpPr>
        <p:spPr>
          <a:xfrm>
            <a:off x="9756648" y="1572768"/>
            <a:ext cx="1005840" cy="1005840"/>
          </a:xfrm>
          <a:prstGeom prst="ellipse">
            <a:avLst/>
          </a:prstGeom>
          <a:solidFill>
            <a:srgbClr val="FFC93C"/>
          </a:solidFill>
          <a:ln/>
        </p:spPr>
      </p:sp>
      <p:pic>
        <p:nvPicPr>
          <p:cNvPr id="23" name="Image 4" descr="preencoded.png">    </p:cNvPr>
          <p:cNvPicPr>
            <a:picLocks noChangeAspect="1"/>
          </p:cNvPicPr>
          <p:nvPr/>
        </p:nvPicPr>
        <p:blipFill>
          <a:blip r:embed="rId5"/>
          <a:stretch>
            <a:fillRect/>
          </a:stretch>
        </p:blipFill>
        <p:spPr>
          <a:xfrm>
            <a:off x="10018166" y="1834286"/>
            <a:ext cx="482803" cy="482803"/>
          </a:xfrm>
          <a:prstGeom prst="rect">
            <a:avLst/>
          </a:prstGeom>
        </p:spPr>
      </p:pic>
      <p:sp>
        <p:nvSpPr>
          <p:cNvPr id="24" name="Text 16"/>
          <p:cNvSpPr txBox="1"/>
          <p:nvPr/>
        </p:nvSpPr>
        <p:spPr>
          <a:xfrm>
            <a:off x="9345168" y="2944368"/>
            <a:ext cx="1828800" cy="45720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$10k+</a:t>
            </a:r>
            <a:endParaRPr 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10</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Sell without selling</a:t>
            </a:r>
            <a:endParaRPr lang="en-US" sz="3000" dirty="0"/>
          </a:p>
        </p:txBody>
      </p:sp>
      <p:sp>
        <p:nvSpPr>
          <p:cNvPr id="5" name="Shape 2"/>
          <p:cNvSpPr/>
          <p:nvPr/>
        </p:nvSpPr>
        <p:spPr>
          <a:xfrm>
            <a:off x="1075625" y="2614903"/>
            <a:ext cx="1719634" cy="1719634"/>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522730" y="3062008"/>
            <a:ext cx="825424" cy="825424"/>
          </a:xfrm>
          <a:prstGeom prst="rect">
            <a:avLst/>
          </a:prstGeom>
        </p:spPr>
      </p:pic>
      <p:sp>
        <p:nvSpPr>
          <p:cNvPr id="7" name="Text 3"/>
          <p:cNvSpPr txBox="1"/>
          <p:nvPr/>
        </p:nvSpPr>
        <p:spPr>
          <a:xfrm>
            <a:off x="594360"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Lead magnet</a:t>
            </a:r>
            <a:endParaRPr lang="en-US" sz="1800" dirty="0"/>
          </a:p>
        </p:txBody>
      </p:sp>
      <p:sp>
        <p:nvSpPr>
          <p:cNvPr id="8" name="Shape 4"/>
          <p:cNvSpPr/>
          <p:nvPr/>
        </p:nvSpPr>
        <p:spPr>
          <a:xfrm>
            <a:off x="3849229" y="2614903"/>
            <a:ext cx="1719634" cy="1719634"/>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4296333" y="3062008"/>
            <a:ext cx="825424" cy="825424"/>
          </a:xfrm>
          <a:prstGeom prst="rect">
            <a:avLst/>
          </a:prstGeom>
        </p:spPr>
      </p:pic>
      <p:sp>
        <p:nvSpPr>
          <p:cNvPr id="10" name="Text 5"/>
          <p:cNvSpPr txBox="1"/>
          <p:nvPr/>
        </p:nvSpPr>
        <p:spPr>
          <a:xfrm>
            <a:off x="3367964"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Show results</a:t>
            </a:r>
            <a:endParaRPr lang="en-US" sz="1800" dirty="0"/>
          </a:p>
        </p:txBody>
      </p:sp>
      <p:sp>
        <p:nvSpPr>
          <p:cNvPr id="11" name="Shape 6"/>
          <p:cNvSpPr/>
          <p:nvPr/>
        </p:nvSpPr>
        <p:spPr>
          <a:xfrm>
            <a:off x="6622832" y="2614903"/>
            <a:ext cx="1719634" cy="1719634"/>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7069937" y="3062008"/>
            <a:ext cx="825424" cy="825424"/>
          </a:xfrm>
          <a:prstGeom prst="rect">
            <a:avLst/>
          </a:prstGeom>
        </p:spPr>
      </p:pic>
      <p:sp>
        <p:nvSpPr>
          <p:cNvPr id="13" name="Text 7"/>
          <p:cNvSpPr txBox="1"/>
          <p:nvPr/>
        </p:nvSpPr>
        <p:spPr>
          <a:xfrm>
            <a:off x="6141568"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Native embed</a:t>
            </a:r>
            <a:endParaRPr lang="en-US" sz="1800" dirty="0"/>
          </a:p>
        </p:txBody>
      </p:sp>
      <p:sp>
        <p:nvSpPr>
          <p:cNvPr id="14" name="Shape 8"/>
          <p:cNvSpPr/>
          <p:nvPr/>
        </p:nvSpPr>
        <p:spPr>
          <a:xfrm>
            <a:off x="9396436" y="2614903"/>
            <a:ext cx="1719634" cy="1719634"/>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9843541" y="3062008"/>
            <a:ext cx="825424" cy="825424"/>
          </a:xfrm>
          <a:prstGeom prst="rect">
            <a:avLst/>
          </a:prstGeom>
        </p:spPr>
      </p:pic>
      <p:sp>
        <p:nvSpPr>
          <p:cNvPr id="16" name="Text 9"/>
          <p:cNvSpPr txBox="1"/>
          <p:nvPr/>
        </p:nvSpPr>
        <p:spPr>
          <a:xfrm>
            <a:off x="8915171"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Trust test</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11</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Scale the machine</a:t>
            </a:r>
            <a:endParaRPr lang="en-US" sz="4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11</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One pillar, 10+ pieces</a:t>
            </a:r>
            <a:endParaRPr lang="en-US" sz="3000" dirty="0"/>
          </a:p>
        </p:txBody>
      </p:sp>
      <p:sp>
        <p:nvSpPr>
          <p:cNvPr id="5" name="Shape 2"/>
          <p:cNvSpPr/>
          <p:nvPr/>
        </p:nvSpPr>
        <p:spPr>
          <a:xfrm flipH="1">
            <a:off x="6095848" y="1783080"/>
            <a:ext cx="0" cy="2103120"/>
          </a:xfrm>
          <a:prstGeom prst="line">
            <a:avLst/>
          </a:prstGeom>
          <a:noFill/>
          <a:ln w="25400">
            <a:solidFill>
              <a:srgbClr val="C9C9D6"/>
            </a:solidFill>
            <a:prstDash val="solid"/>
          </a:ln>
        </p:spPr>
      </p:sp>
      <p:sp>
        <p:nvSpPr>
          <p:cNvPr id="6" name="Shape 3"/>
          <p:cNvSpPr/>
          <p:nvPr/>
        </p:nvSpPr>
        <p:spPr>
          <a:xfrm flipH="1">
            <a:off x="6095848" y="2834640"/>
            <a:ext cx="2640965" cy="1051560"/>
          </a:xfrm>
          <a:prstGeom prst="line">
            <a:avLst/>
          </a:prstGeom>
          <a:noFill/>
          <a:ln w="25400">
            <a:solidFill>
              <a:srgbClr val="C9C9D6"/>
            </a:solidFill>
            <a:prstDash val="solid"/>
          </a:ln>
        </p:spPr>
      </p:sp>
      <p:sp>
        <p:nvSpPr>
          <p:cNvPr id="7" name="Shape 4"/>
          <p:cNvSpPr/>
          <p:nvPr/>
        </p:nvSpPr>
        <p:spPr>
          <a:xfrm>
            <a:off x="6095848" y="3886200"/>
            <a:ext cx="2640965" cy="1051560"/>
          </a:xfrm>
          <a:prstGeom prst="line">
            <a:avLst/>
          </a:prstGeom>
          <a:noFill/>
          <a:ln w="25400">
            <a:solidFill>
              <a:srgbClr val="C9C9D6"/>
            </a:solidFill>
            <a:prstDash val="solid"/>
          </a:ln>
        </p:spPr>
      </p:sp>
      <p:sp>
        <p:nvSpPr>
          <p:cNvPr id="8" name="Shape 5"/>
          <p:cNvSpPr/>
          <p:nvPr/>
        </p:nvSpPr>
        <p:spPr>
          <a:xfrm>
            <a:off x="6095848" y="3886200"/>
            <a:ext cx="0" cy="2103120"/>
          </a:xfrm>
          <a:prstGeom prst="line">
            <a:avLst/>
          </a:prstGeom>
          <a:noFill/>
          <a:ln w="25400">
            <a:solidFill>
              <a:srgbClr val="C9C9D6"/>
            </a:solidFill>
            <a:prstDash val="solid"/>
          </a:ln>
        </p:spPr>
      </p:sp>
      <p:sp>
        <p:nvSpPr>
          <p:cNvPr id="9" name="Shape 6"/>
          <p:cNvSpPr/>
          <p:nvPr/>
        </p:nvSpPr>
        <p:spPr>
          <a:xfrm flipH="1">
            <a:off x="3454882" y="3886200"/>
            <a:ext cx="2640965" cy="1051560"/>
          </a:xfrm>
          <a:prstGeom prst="line">
            <a:avLst/>
          </a:prstGeom>
          <a:noFill/>
          <a:ln w="25400">
            <a:solidFill>
              <a:srgbClr val="C9C9D6"/>
            </a:solidFill>
            <a:prstDash val="solid"/>
          </a:ln>
        </p:spPr>
      </p:sp>
      <p:sp>
        <p:nvSpPr>
          <p:cNvPr id="10" name="Shape 7"/>
          <p:cNvSpPr/>
          <p:nvPr/>
        </p:nvSpPr>
        <p:spPr>
          <a:xfrm>
            <a:off x="3454882" y="2834640"/>
            <a:ext cx="2640965" cy="1051560"/>
          </a:xfrm>
          <a:prstGeom prst="line">
            <a:avLst/>
          </a:prstGeom>
          <a:noFill/>
          <a:ln w="25400">
            <a:solidFill>
              <a:srgbClr val="C9C9D6"/>
            </a:solidFill>
            <a:prstDash val="solid"/>
          </a:ln>
        </p:spPr>
      </p:sp>
      <p:sp>
        <p:nvSpPr>
          <p:cNvPr id="11" name="Shape 8"/>
          <p:cNvSpPr/>
          <p:nvPr/>
        </p:nvSpPr>
        <p:spPr>
          <a:xfrm>
            <a:off x="5090008" y="2880360"/>
            <a:ext cx="2011680" cy="2011680"/>
          </a:xfrm>
          <a:prstGeom prst="ellipse">
            <a:avLst/>
          </a:prstGeom>
          <a:solidFill>
            <a:srgbClr val="FF4D3D"/>
          </a:solidFill>
          <a:ln/>
        </p:spPr>
      </p:sp>
      <p:pic>
        <p:nvPicPr>
          <p:cNvPr id="12" name="Image 0" descr="preencoded.png">    </p:cNvPr>
          <p:cNvPicPr>
            <a:picLocks noChangeAspect="1"/>
          </p:cNvPicPr>
          <p:nvPr/>
        </p:nvPicPr>
        <p:blipFill>
          <a:blip r:embed="rId1"/>
          <a:stretch>
            <a:fillRect/>
          </a:stretch>
        </p:blipFill>
        <p:spPr>
          <a:xfrm>
            <a:off x="5613044" y="3403397"/>
            <a:ext cx="965606" cy="965606"/>
          </a:xfrm>
          <a:prstGeom prst="rect">
            <a:avLst/>
          </a:prstGeom>
        </p:spPr>
      </p:pic>
      <p:sp>
        <p:nvSpPr>
          <p:cNvPr id="13" name="Shape 9"/>
          <p:cNvSpPr/>
          <p:nvPr/>
        </p:nvSpPr>
        <p:spPr>
          <a:xfrm>
            <a:off x="5547208" y="1234440"/>
            <a:ext cx="1097280" cy="1097280"/>
          </a:xfrm>
          <a:prstGeom prst="ellipse">
            <a:avLst/>
          </a:prstGeom>
          <a:solidFill>
            <a:srgbClr val="14141F"/>
          </a:solidFill>
          <a:ln/>
        </p:spPr>
      </p:sp>
      <p:pic>
        <p:nvPicPr>
          <p:cNvPr id="14" name="Image 1" descr="preencoded.png">    </p:cNvPr>
          <p:cNvPicPr>
            <a:picLocks noChangeAspect="1"/>
          </p:cNvPicPr>
          <p:nvPr/>
        </p:nvPicPr>
        <p:blipFill>
          <a:blip r:embed="rId2"/>
          <a:stretch>
            <a:fillRect/>
          </a:stretch>
        </p:blipFill>
        <p:spPr>
          <a:xfrm>
            <a:off x="5832500" y="1519733"/>
            <a:ext cx="526694" cy="526694"/>
          </a:xfrm>
          <a:prstGeom prst="rect">
            <a:avLst/>
          </a:prstGeom>
        </p:spPr>
      </p:pic>
      <p:sp>
        <p:nvSpPr>
          <p:cNvPr id="15" name="Shape 10"/>
          <p:cNvSpPr/>
          <p:nvPr/>
        </p:nvSpPr>
        <p:spPr>
          <a:xfrm>
            <a:off x="8188173" y="2286000"/>
            <a:ext cx="1097280" cy="1097280"/>
          </a:xfrm>
          <a:prstGeom prst="ellipse">
            <a:avLst/>
          </a:prstGeom>
          <a:solidFill>
            <a:srgbClr val="FFC93C"/>
          </a:solidFill>
          <a:ln/>
        </p:spPr>
      </p:sp>
      <p:pic>
        <p:nvPicPr>
          <p:cNvPr id="16" name="Image 2" descr="preencoded.png">    </p:cNvPr>
          <p:cNvPicPr>
            <a:picLocks noChangeAspect="1"/>
          </p:cNvPicPr>
          <p:nvPr/>
        </p:nvPicPr>
        <p:blipFill>
          <a:blip r:embed="rId3"/>
          <a:stretch>
            <a:fillRect/>
          </a:stretch>
        </p:blipFill>
        <p:spPr>
          <a:xfrm>
            <a:off x="8473466" y="2571293"/>
            <a:ext cx="526694" cy="526694"/>
          </a:xfrm>
          <a:prstGeom prst="rect">
            <a:avLst/>
          </a:prstGeom>
        </p:spPr>
      </p:pic>
      <p:sp>
        <p:nvSpPr>
          <p:cNvPr id="17" name="Shape 11"/>
          <p:cNvSpPr/>
          <p:nvPr/>
        </p:nvSpPr>
        <p:spPr>
          <a:xfrm>
            <a:off x="8188173" y="4389120"/>
            <a:ext cx="1097280" cy="1097280"/>
          </a:xfrm>
          <a:prstGeom prst="ellipse">
            <a:avLst/>
          </a:prstGeom>
          <a:solidFill>
            <a:srgbClr val="14141F"/>
          </a:solidFill>
          <a:ln/>
        </p:spPr>
      </p:sp>
      <p:pic>
        <p:nvPicPr>
          <p:cNvPr id="18" name="Image 3" descr="preencoded.png">    </p:cNvPr>
          <p:cNvPicPr>
            <a:picLocks noChangeAspect="1"/>
          </p:cNvPicPr>
          <p:nvPr/>
        </p:nvPicPr>
        <p:blipFill>
          <a:blip r:embed="rId4"/>
          <a:stretch>
            <a:fillRect/>
          </a:stretch>
        </p:blipFill>
        <p:spPr>
          <a:xfrm>
            <a:off x="8473466" y="4674413"/>
            <a:ext cx="526694" cy="526694"/>
          </a:xfrm>
          <a:prstGeom prst="rect">
            <a:avLst/>
          </a:prstGeom>
        </p:spPr>
      </p:pic>
      <p:sp>
        <p:nvSpPr>
          <p:cNvPr id="19" name="Shape 12"/>
          <p:cNvSpPr/>
          <p:nvPr/>
        </p:nvSpPr>
        <p:spPr>
          <a:xfrm>
            <a:off x="5547208" y="5440680"/>
            <a:ext cx="1097280" cy="1097280"/>
          </a:xfrm>
          <a:prstGeom prst="ellipse">
            <a:avLst/>
          </a:prstGeom>
          <a:solidFill>
            <a:srgbClr val="FFC93C"/>
          </a:solidFill>
          <a:ln/>
        </p:spPr>
      </p:sp>
      <p:pic>
        <p:nvPicPr>
          <p:cNvPr id="20" name="Image 4" descr="preencoded.png">    </p:cNvPr>
          <p:cNvPicPr>
            <a:picLocks noChangeAspect="1"/>
          </p:cNvPicPr>
          <p:nvPr/>
        </p:nvPicPr>
        <p:blipFill>
          <a:blip r:embed="rId5"/>
          <a:stretch>
            <a:fillRect/>
          </a:stretch>
        </p:blipFill>
        <p:spPr>
          <a:xfrm>
            <a:off x="5832500" y="5725973"/>
            <a:ext cx="526694" cy="526694"/>
          </a:xfrm>
          <a:prstGeom prst="rect">
            <a:avLst/>
          </a:prstGeom>
        </p:spPr>
      </p:pic>
      <p:sp>
        <p:nvSpPr>
          <p:cNvPr id="21" name="Shape 13"/>
          <p:cNvSpPr/>
          <p:nvPr/>
        </p:nvSpPr>
        <p:spPr>
          <a:xfrm>
            <a:off x="2906242" y="4389120"/>
            <a:ext cx="1097280" cy="1097280"/>
          </a:xfrm>
          <a:prstGeom prst="ellipse">
            <a:avLst/>
          </a:prstGeom>
          <a:solidFill>
            <a:srgbClr val="14141F"/>
          </a:solidFill>
          <a:ln/>
        </p:spPr>
      </p:sp>
      <p:pic>
        <p:nvPicPr>
          <p:cNvPr id="22" name="Image 5" descr="preencoded.png">    </p:cNvPr>
          <p:cNvPicPr>
            <a:picLocks noChangeAspect="1"/>
          </p:cNvPicPr>
          <p:nvPr/>
        </p:nvPicPr>
        <p:blipFill>
          <a:blip r:embed="rId6"/>
          <a:stretch>
            <a:fillRect/>
          </a:stretch>
        </p:blipFill>
        <p:spPr>
          <a:xfrm>
            <a:off x="3191535" y="4674413"/>
            <a:ext cx="526694" cy="526694"/>
          </a:xfrm>
          <a:prstGeom prst="rect">
            <a:avLst/>
          </a:prstGeom>
        </p:spPr>
      </p:pic>
      <p:sp>
        <p:nvSpPr>
          <p:cNvPr id="23" name="Shape 14"/>
          <p:cNvSpPr/>
          <p:nvPr/>
        </p:nvSpPr>
        <p:spPr>
          <a:xfrm>
            <a:off x="2906242" y="2286000"/>
            <a:ext cx="1097280" cy="1097280"/>
          </a:xfrm>
          <a:prstGeom prst="ellipse">
            <a:avLst/>
          </a:prstGeom>
          <a:solidFill>
            <a:srgbClr val="FFC93C"/>
          </a:solidFill>
          <a:ln/>
        </p:spPr>
      </p:sp>
      <p:pic>
        <p:nvPicPr>
          <p:cNvPr id="24" name="Image 6" descr="preencoded.png">    </p:cNvPr>
          <p:cNvPicPr>
            <a:picLocks noChangeAspect="1"/>
          </p:cNvPicPr>
          <p:nvPr/>
        </p:nvPicPr>
        <p:blipFill>
          <a:blip r:embed="rId7"/>
          <a:stretch>
            <a:fillRect/>
          </a:stretch>
        </p:blipFill>
        <p:spPr>
          <a:xfrm>
            <a:off x="3191535" y="2571293"/>
            <a:ext cx="526694" cy="52669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11</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Winners travel</a:t>
            </a:r>
            <a:endParaRPr lang="en-US" sz="3000" dirty="0"/>
          </a:p>
        </p:txBody>
      </p:sp>
      <p:sp>
        <p:nvSpPr>
          <p:cNvPr id="5" name="Shape 2"/>
          <p:cNvSpPr/>
          <p:nvPr/>
        </p:nvSpPr>
        <p:spPr>
          <a:xfrm>
            <a:off x="2359714" y="3474720"/>
            <a:ext cx="815617" cy="0"/>
          </a:xfrm>
          <a:prstGeom prst="line">
            <a:avLst/>
          </a:prstGeom>
          <a:noFill/>
          <a:ln w="38100">
            <a:solidFill>
              <a:srgbClr val="C9C9D6"/>
            </a:solidFill>
            <a:prstDash val="solid"/>
            <a:tailEnd type="triangle"/>
          </a:ln>
        </p:spPr>
      </p:sp>
      <p:sp>
        <p:nvSpPr>
          <p:cNvPr id="6" name="Shape 3"/>
          <p:cNvSpPr/>
          <p:nvPr/>
        </p:nvSpPr>
        <p:spPr>
          <a:xfrm>
            <a:off x="4578597" y="3474720"/>
            <a:ext cx="815617" cy="0"/>
          </a:xfrm>
          <a:prstGeom prst="line">
            <a:avLst/>
          </a:prstGeom>
          <a:noFill/>
          <a:ln w="38100">
            <a:solidFill>
              <a:srgbClr val="C9C9D6"/>
            </a:solidFill>
            <a:prstDash val="solid"/>
            <a:tailEnd type="triangle"/>
          </a:ln>
        </p:spPr>
      </p:sp>
      <p:sp>
        <p:nvSpPr>
          <p:cNvPr id="7" name="Shape 4"/>
          <p:cNvSpPr/>
          <p:nvPr/>
        </p:nvSpPr>
        <p:spPr>
          <a:xfrm>
            <a:off x="6797480" y="3474720"/>
            <a:ext cx="815617" cy="0"/>
          </a:xfrm>
          <a:prstGeom prst="line">
            <a:avLst/>
          </a:prstGeom>
          <a:noFill/>
          <a:ln w="38100">
            <a:solidFill>
              <a:srgbClr val="C9C9D6"/>
            </a:solidFill>
            <a:prstDash val="solid"/>
            <a:tailEnd type="triangle"/>
          </a:ln>
        </p:spPr>
      </p:sp>
      <p:sp>
        <p:nvSpPr>
          <p:cNvPr id="8" name="Shape 5"/>
          <p:cNvSpPr/>
          <p:nvPr/>
        </p:nvSpPr>
        <p:spPr>
          <a:xfrm>
            <a:off x="9016363" y="3474720"/>
            <a:ext cx="815617" cy="0"/>
          </a:xfrm>
          <a:prstGeom prst="line">
            <a:avLst/>
          </a:prstGeom>
          <a:noFill/>
          <a:ln w="38100">
            <a:solidFill>
              <a:srgbClr val="C9C9D6"/>
            </a:solidFill>
            <a:prstDash val="solid"/>
            <a:tailEnd type="triangle"/>
          </a:ln>
        </p:spPr>
      </p:sp>
      <p:sp>
        <p:nvSpPr>
          <p:cNvPr id="9" name="Shape 6"/>
          <p:cNvSpPr/>
          <p:nvPr/>
        </p:nvSpPr>
        <p:spPr>
          <a:xfrm>
            <a:off x="1047889" y="2864527"/>
            <a:ext cx="1220386" cy="1220386"/>
          </a:xfrm>
          <a:prstGeom prst="ellipse">
            <a:avLst/>
          </a:prstGeom>
          <a:solidFill>
            <a:srgbClr val="FF4D3D"/>
          </a:solidFill>
          <a:ln/>
        </p:spPr>
      </p:sp>
      <p:pic>
        <p:nvPicPr>
          <p:cNvPr id="10" name="Image 0" descr="preencoded.png">    </p:cNvPr>
          <p:cNvPicPr>
            <a:picLocks noChangeAspect="1"/>
          </p:cNvPicPr>
          <p:nvPr/>
        </p:nvPicPr>
        <p:blipFill>
          <a:blip r:embed="rId1"/>
          <a:stretch>
            <a:fillRect/>
          </a:stretch>
        </p:blipFill>
        <p:spPr>
          <a:xfrm>
            <a:off x="1365189" y="3181827"/>
            <a:ext cx="585785" cy="585785"/>
          </a:xfrm>
          <a:prstGeom prst="rect">
            <a:avLst/>
          </a:prstGeom>
        </p:spPr>
      </p:pic>
      <p:sp>
        <p:nvSpPr>
          <p:cNvPr id="11" name="Text 7"/>
          <p:cNvSpPr txBox="1"/>
          <p:nvPr/>
        </p:nvSpPr>
        <p:spPr>
          <a:xfrm>
            <a:off x="594360"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Tweet</a:t>
            </a:r>
            <a:endParaRPr lang="en-US" sz="1800" dirty="0"/>
          </a:p>
        </p:txBody>
      </p:sp>
      <p:sp>
        <p:nvSpPr>
          <p:cNvPr id="12" name="Shape 8"/>
          <p:cNvSpPr/>
          <p:nvPr/>
        </p:nvSpPr>
        <p:spPr>
          <a:xfrm>
            <a:off x="3266772" y="2864527"/>
            <a:ext cx="1220386" cy="1220386"/>
          </a:xfrm>
          <a:prstGeom prst="ellipse">
            <a:avLst/>
          </a:prstGeom>
          <a:solidFill>
            <a:srgbClr val="14141F"/>
          </a:solidFill>
          <a:ln/>
        </p:spPr>
      </p:sp>
      <p:pic>
        <p:nvPicPr>
          <p:cNvPr id="13" name="Image 1" descr="preencoded.png">    </p:cNvPr>
          <p:cNvPicPr>
            <a:picLocks noChangeAspect="1"/>
          </p:cNvPicPr>
          <p:nvPr/>
        </p:nvPicPr>
        <p:blipFill>
          <a:blip r:embed="rId2"/>
          <a:stretch>
            <a:fillRect/>
          </a:stretch>
        </p:blipFill>
        <p:spPr>
          <a:xfrm>
            <a:off x="3584072" y="3181827"/>
            <a:ext cx="585785" cy="585785"/>
          </a:xfrm>
          <a:prstGeom prst="rect">
            <a:avLst/>
          </a:prstGeom>
        </p:spPr>
      </p:pic>
      <p:sp>
        <p:nvSpPr>
          <p:cNvPr id="14" name="Text 9"/>
          <p:cNvSpPr txBox="1"/>
          <p:nvPr/>
        </p:nvSpPr>
        <p:spPr>
          <a:xfrm>
            <a:off x="2813243"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Short</a:t>
            </a:r>
            <a:endParaRPr lang="en-US" sz="1800" dirty="0"/>
          </a:p>
        </p:txBody>
      </p:sp>
      <p:sp>
        <p:nvSpPr>
          <p:cNvPr id="15" name="Shape 10"/>
          <p:cNvSpPr/>
          <p:nvPr/>
        </p:nvSpPr>
        <p:spPr>
          <a:xfrm>
            <a:off x="5485655" y="2864527"/>
            <a:ext cx="1220386" cy="1220386"/>
          </a:xfrm>
          <a:prstGeom prst="ellipse">
            <a:avLst/>
          </a:prstGeom>
          <a:solidFill>
            <a:srgbClr val="FFC93C"/>
          </a:solidFill>
          <a:ln/>
        </p:spPr>
      </p:sp>
      <p:pic>
        <p:nvPicPr>
          <p:cNvPr id="16" name="Image 2" descr="preencoded.png">    </p:cNvPr>
          <p:cNvPicPr>
            <a:picLocks noChangeAspect="1"/>
          </p:cNvPicPr>
          <p:nvPr/>
        </p:nvPicPr>
        <p:blipFill>
          <a:blip r:embed="rId3"/>
          <a:stretch>
            <a:fillRect/>
          </a:stretch>
        </p:blipFill>
        <p:spPr>
          <a:xfrm>
            <a:off x="5802955" y="3181827"/>
            <a:ext cx="585785" cy="585785"/>
          </a:xfrm>
          <a:prstGeom prst="rect">
            <a:avLst/>
          </a:prstGeom>
        </p:spPr>
      </p:pic>
      <p:sp>
        <p:nvSpPr>
          <p:cNvPr id="17" name="Text 11"/>
          <p:cNvSpPr txBox="1"/>
          <p:nvPr/>
        </p:nvSpPr>
        <p:spPr>
          <a:xfrm>
            <a:off x="5032126"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Poster</a:t>
            </a:r>
            <a:endParaRPr lang="en-US" sz="1800" dirty="0"/>
          </a:p>
        </p:txBody>
      </p:sp>
      <p:sp>
        <p:nvSpPr>
          <p:cNvPr id="18" name="Shape 12"/>
          <p:cNvSpPr/>
          <p:nvPr/>
        </p:nvSpPr>
        <p:spPr>
          <a:xfrm>
            <a:off x="7704538" y="2864527"/>
            <a:ext cx="1220386" cy="1220386"/>
          </a:xfrm>
          <a:prstGeom prst="ellipse">
            <a:avLst/>
          </a:prstGeom>
          <a:solidFill>
            <a:srgbClr val="FF4D3D"/>
          </a:solidFill>
          <a:ln/>
        </p:spPr>
      </p:sp>
      <p:pic>
        <p:nvPicPr>
          <p:cNvPr id="19" name="Image 3" descr="preencoded.png">    </p:cNvPr>
          <p:cNvPicPr>
            <a:picLocks noChangeAspect="1"/>
          </p:cNvPicPr>
          <p:nvPr/>
        </p:nvPicPr>
        <p:blipFill>
          <a:blip r:embed="rId4"/>
          <a:stretch>
            <a:fillRect/>
          </a:stretch>
        </p:blipFill>
        <p:spPr>
          <a:xfrm>
            <a:off x="8021838" y="3181827"/>
            <a:ext cx="585785" cy="585785"/>
          </a:xfrm>
          <a:prstGeom prst="rect">
            <a:avLst/>
          </a:prstGeom>
        </p:spPr>
      </p:pic>
      <p:sp>
        <p:nvSpPr>
          <p:cNvPr id="20" name="Text 13"/>
          <p:cNvSpPr txBox="1"/>
          <p:nvPr/>
        </p:nvSpPr>
        <p:spPr>
          <a:xfrm>
            <a:off x="7251009"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LinkedIn</a:t>
            </a:r>
            <a:endParaRPr lang="en-US" sz="1800" dirty="0"/>
          </a:p>
        </p:txBody>
      </p:sp>
      <p:sp>
        <p:nvSpPr>
          <p:cNvPr id="21" name="Shape 14"/>
          <p:cNvSpPr/>
          <p:nvPr/>
        </p:nvSpPr>
        <p:spPr>
          <a:xfrm>
            <a:off x="9923421" y="2864527"/>
            <a:ext cx="1220386" cy="1220386"/>
          </a:xfrm>
          <a:prstGeom prst="ellipse">
            <a:avLst/>
          </a:prstGeom>
          <a:solidFill>
            <a:srgbClr val="14141F"/>
          </a:solidFill>
          <a:ln/>
        </p:spPr>
      </p:sp>
      <p:pic>
        <p:nvPicPr>
          <p:cNvPr id="22" name="Image 4" descr="preencoded.png">    </p:cNvPr>
          <p:cNvPicPr>
            <a:picLocks noChangeAspect="1"/>
          </p:cNvPicPr>
          <p:nvPr/>
        </p:nvPicPr>
        <p:blipFill>
          <a:blip r:embed="rId5"/>
          <a:stretch>
            <a:fillRect/>
          </a:stretch>
        </p:blipFill>
        <p:spPr>
          <a:xfrm>
            <a:off x="10240721" y="3181827"/>
            <a:ext cx="585785" cy="585785"/>
          </a:xfrm>
          <a:prstGeom prst="rect">
            <a:avLst/>
          </a:prstGeom>
        </p:spPr>
      </p:pic>
      <p:sp>
        <p:nvSpPr>
          <p:cNvPr id="23" name="Text 15"/>
          <p:cNvSpPr txBox="1"/>
          <p:nvPr/>
        </p:nvSpPr>
        <p:spPr>
          <a:xfrm>
            <a:off x="9469892" y="4267793"/>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YouTube</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11</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Own a platform: 85 / 15</a:t>
            </a:r>
            <a:endParaRPr lang="en-US" sz="3000" dirty="0"/>
          </a:p>
        </p:txBody>
      </p:sp>
      <p:graphicFrame>
        <p:nvGraphicFramePr>
          <p:cNvPr id="5" name="Chart 0" descr=""/>
          <p:cNvGraphicFramePr/>
          <p:nvPr/>
        </p:nvGraphicFramePr>
        <p:xfrm>
          <a:off x="731520" y="1371600"/>
          <a:ext cx="4937760" cy="49377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583680" y="2011680"/>
            <a:ext cx="1463040" cy="1463040"/>
          </a:xfrm>
          <a:prstGeom prst="ellipse">
            <a:avLst/>
          </a:prstGeom>
          <a:solidFill>
            <a:srgbClr val="14141F"/>
          </a:solidFill>
          <a:ln/>
        </p:spPr>
      </p:sp>
      <p:pic>
        <p:nvPicPr>
          <p:cNvPr id="7" name="Image 0" descr="preencoded.png">    </p:cNvPr>
          <p:cNvPicPr>
            <a:picLocks noChangeAspect="1"/>
          </p:cNvPicPr>
          <p:nvPr/>
        </p:nvPicPr>
        <p:blipFill>
          <a:blip r:embed="rId2"/>
          <a:stretch>
            <a:fillRect/>
          </a:stretch>
        </p:blipFill>
        <p:spPr>
          <a:xfrm>
            <a:off x="6964070" y="2392070"/>
            <a:ext cx="702259" cy="702259"/>
          </a:xfrm>
          <a:prstGeom prst="rect">
            <a:avLst/>
          </a:prstGeom>
        </p:spPr>
      </p:pic>
      <p:sp>
        <p:nvSpPr>
          <p:cNvPr id="8" name="Text 3"/>
          <p:cNvSpPr txBox="1"/>
          <p:nvPr/>
        </p:nvSpPr>
        <p:spPr>
          <a:xfrm>
            <a:off x="8138160" y="2240280"/>
            <a:ext cx="731520" cy="914400"/>
          </a:xfrm>
          <a:prstGeom prst="rect">
            <a:avLst/>
          </a:prstGeom>
          <a:noFill/>
          <a:ln/>
        </p:spPr>
        <p:txBody>
          <a:bodyPr wrap="square" lIns="0" tIns="0" rIns="0" bIns="0" rtlCol="0" anchor="t"/>
          <a:lstStyle/>
          <a:p>
            <a:pPr algn="ctr" indent="0" marL="0">
              <a:buNone/>
            </a:pPr>
            <a:r>
              <a:rPr lang="en-US" sz="4000" b="1" dirty="0">
                <a:solidFill>
                  <a:srgbClr val="C9C9D6"/>
                </a:solidFill>
                <a:latin typeface="Arial" pitchFamily="34" charset="0"/>
                <a:ea typeface="Arial" pitchFamily="34" charset="-122"/>
                <a:cs typeface="Arial" pitchFamily="34" charset="-120"/>
              </a:rPr>
              <a:t>→</a:t>
            </a:r>
            <a:endParaRPr lang="en-US" sz="4000" dirty="0"/>
          </a:p>
        </p:txBody>
      </p:sp>
      <p:sp>
        <p:nvSpPr>
          <p:cNvPr id="9" name="Shape 4"/>
          <p:cNvSpPr/>
          <p:nvPr/>
        </p:nvSpPr>
        <p:spPr>
          <a:xfrm>
            <a:off x="8961120" y="2011680"/>
            <a:ext cx="1463040" cy="1463040"/>
          </a:xfrm>
          <a:prstGeom prst="ellipse">
            <a:avLst/>
          </a:prstGeom>
          <a:solidFill>
            <a:srgbClr val="FF4D3D"/>
          </a:solidFill>
          <a:ln/>
        </p:spPr>
      </p:sp>
      <p:pic>
        <p:nvPicPr>
          <p:cNvPr id="10" name="Image 1" descr="preencoded.png">    </p:cNvPr>
          <p:cNvPicPr>
            <a:picLocks noChangeAspect="1"/>
          </p:cNvPicPr>
          <p:nvPr/>
        </p:nvPicPr>
        <p:blipFill>
          <a:blip r:embed="rId3"/>
          <a:stretch>
            <a:fillRect/>
          </a:stretch>
        </p:blipFill>
        <p:spPr>
          <a:xfrm>
            <a:off x="9341510" y="2392070"/>
            <a:ext cx="702259" cy="702259"/>
          </a:xfrm>
          <a:prstGeom prst="rect">
            <a:avLst/>
          </a:prstGeom>
        </p:spPr>
      </p:pic>
      <p:sp>
        <p:nvSpPr>
          <p:cNvPr id="11" name="Shape 5"/>
          <p:cNvSpPr/>
          <p:nvPr/>
        </p:nvSpPr>
        <p:spPr>
          <a:xfrm>
            <a:off x="10607040" y="2286000"/>
            <a:ext cx="914400" cy="914400"/>
          </a:xfrm>
          <a:prstGeom prst="ellipse">
            <a:avLst/>
          </a:prstGeom>
          <a:solidFill>
            <a:srgbClr val="F4F4F8"/>
          </a:solidFill>
          <a:ln/>
        </p:spPr>
      </p:sp>
      <p:pic>
        <p:nvPicPr>
          <p:cNvPr id="12" name="Image 2" descr="preencoded.png">    </p:cNvPr>
          <p:cNvPicPr>
            <a:picLocks noChangeAspect="1"/>
          </p:cNvPicPr>
          <p:nvPr/>
        </p:nvPicPr>
        <p:blipFill>
          <a:blip r:embed="rId4"/>
          <a:stretch>
            <a:fillRect/>
          </a:stretch>
        </p:blipFill>
        <p:spPr>
          <a:xfrm>
            <a:off x="10844784" y="2523744"/>
            <a:ext cx="438912" cy="438912"/>
          </a:xfrm>
          <a:prstGeom prst="rect">
            <a:avLst/>
          </a:prstGeom>
        </p:spPr>
      </p:pic>
      <p:sp>
        <p:nvSpPr>
          <p:cNvPr id="13" name="Shape 6"/>
          <p:cNvSpPr/>
          <p:nvPr/>
        </p:nvSpPr>
        <p:spPr>
          <a:xfrm>
            <a:off x="6583680" y="4023360"/>
            <a:ext cx="1463040" cy="1463040"/>
          </a:xfrm>
          <a:prstGeom prst="ellipse">
            <a:avLst/>
          </a:prstGeom>
          <a:solidFill>
            <a:srgbClr val="14141F"/>
          </a:solidFill>
          <a:ln/>
        </p:spPr>
      </p:sp>
      <p:pic>
        <p:nvPicPr>
          <p:cNvPr id="14" name="Image 3" descr="preencoded.png">    </p:cNvPr>
          <p:cNvPicPr>
            <a:picLocks noChangeAspect="1"/>
          </p:cNvPicPr>
          <p:nvPr/>
        </p:nvPicPr>
        <p:blipFill>
          <a:blip r:embed="rId5"/>
          <a:stretch>
            <a:fillRect/>
          </a:stretch>
        </p:blipFill>
        <p:spPr>
          <a:xfrm>
            <a:off x="6964070" y="4403750"/>
            <a:ext cx="702259" cy="702259"/>
          </a:xfrm>
          <a:prstGeom prst="rect">
            <a:avLst/>
          </a:prstGeom>
        </p:spPr>
      </p:pic>
      <p:sp>
        <p:nvSpPr>
          <p:cNvPr id="15" name="Text 7"/>
          <p:cNvSpPr txBox="1"/>
          <p:nvPr/>
        </p:nvSpPr>
        <p:spPr>
          <a:xfrm>
            <a:off x="8138160" y="4251960"/>
            <a:ext cx="731520" cy="914400"/>
          </a:xfrm>
          <a:prstGeom prst="rect">
            <a:avLst/>
          </a:prstGeom>
          <a:noFill/>
          <a:ln/>
        </p:spPr>
        <p:txBody>
          <a:bodyPr wrap="square" lIns="0" tIns="0" rIns="0" bIns="0" rtlCol="0" anchor="t"/>
          <a:lstStyle/>
          <a:p>
            <a:pPr algn="ctr" indent="0" marL="0">
              <a:buNone/>
            </a:pPr>
            <a:r>
              <a:rPr lang="en-US" sz="4000" b="1" dirty="0">
                <a:solidFill>
                  <a:srgbClr val="C9C9D6"/>
                </a:solidFill>
                <a:latin typeface="Arial" pitchFamily="34" charset="0"/>
                <a:ea typeface="Arial" pitchFamily="34" charset="-122"/>
                <a:cs typeface="Arial" pitchFamily="34" charset="-120"/>
              </a:rPr>
              <a:t>→</a:t>
            </a:r>
            <a:endParaRPr lang="en-US" sz="4000" dirty="0"/>
          </a:p>
        </p:txBody>
      </p:sp>
      <p:sp>
        <p:nvSpPr>
          <p:cNvPr id="16" name="Shape 8"/>
          <p:cNvSpPr/>
          <p:nvPr/>
        </p:nvSpPr>
        <p:spPr>
          <a:xfrm>
            <a:off x="8961120" y="4023360"/>
            <a:ext cx="1463040" cy="1463040"/>
          </a:xfrm>
          <a:prstGeom prst="ellipse">
            <a:avLst/>
          </a:prstGeom>
          <a:solidFill>
            <a:srgbClr val="FF4D3D"/>
          </a:solidFill>
          <a:ln/>
        </p:spPr>
      </p:sp>
      <p:pic>
        <p:nvPicPr>
          <p:cNvPr id="17" name="Image 4" descr="preencoded.png">    </p:cNvPr>
          <p:cNvPicPr>
            <a:picLocks noChangeAspect="1"/>
          </p:cNvPicPr>
          <p:nvPr/>
        </p:nvPicPr>
        <p:blipFill>
          <a:blip r:embed="rId6"/>
          <a:stretch>
            <a:fillRect/>
          </a:stretch>
        </p:blipFill>
        <p:spPr>
          <a:xfrm>
            <a:off x="9341510" y="4403750"/>
            <a:ext cx="702259" cy="702259"/>
          </a:xfrm>
          <a:prstGeom prst="rect">
            <a:avLst/>
          </a:prstGeom>
        </p:spPr>
      </p:pic>
      <p:sp>
        <p:nvSpPr>
          <p:cNvPr id="18" name="Shape 9"/>
          <p:cNvSpPr/>
          <p:nvPr/>
        </p:nvSpPr>
        <p:spPr>
          <a:xfrm>
            <a:off x="10607040" y="4297680"/>
            <a:ext cx="914400" cy="914400"/>
          </a:xfrm>
          <a:prstGeom prst="ellipse">
            <a:avLst/>
          </a:prstGeom>
          <a:solidFill>
            <a:srgbClr val="F4F4F8"/>
          </a:solidFill>
          <a:ln/>
        </p:spPr>
      </p:sp>
      <p:pic>
        <p:nvPicPr>
          <p:cNvPr id="19" name="Image 5" descr="preencoded.png">    </p:cNvPr>
          <p:cNvPicPr>
            <a:picLocks noChangeAspect="1"/>
          </p:cNvPicPr>
          <p:nvPr/>
        </p:nvPicPr>
        <p:blipFill>
          <a:blip r:embed="rId7"/>
          <a:stretch>
            <a:fillRect/>
          </a:stretch>
        </p:blipFill>
        <p:spPr>
          <a:xfrm>
            <a:off x="10844784" y="4535424"/>
            <a:ext cx="438912" cy="438912"/>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11</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Film days people love</a:t>
            </a:r>
            <a:endParaRPr lang="en-US" sz="3000" dirty="0"/>
          </a:p>
        </p:txBody>
      </p:sp>
      <p:sp>
        <p:nvSpPr>
          <p:cNvPr id="5" name="Shape 2"/>
          <p:cNvSpPr/>
          <p:nvPr/>
        </p:nvSpPr>
        <p:spPr>
          <a:xfrm>
            <a:off x="970228" y="2786866"/>
            <a:ext cx="1375707" cy="1375707"/>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327912" y="3144550"/>
            <a:ext cx="660340" cy="660340"/>
          </a:xfrm>
          <a:prstGeom prst="rect">
            <a:avLst/>
          </a:prstGeom>
        </p:spPr>
      </p:pic>
      <p:sp>
        <p:nvSpPr>
          <p:cNvPr id="7" name="Text 3"/>
          <p:cNvSpPr txBox="1"/>
          <p:nvPr/>
        </p:nvSpPr>
        <p:spPr>
          <a:xfrm>
            <a:off x="594360"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Nod</a:t>
            </a:r>
            <a:endParaRPr lang="en-US" sz="1800" dirty="0"/>
          </a:p>
        </p:txBody>
      </p:sp>
      <p:sp>
        <p:nvSpPr>
          <p:cNvPr id="8" name="Shape 4"/>
          <p:cNvSpPr/>
          <p:nvPr/>
        </p:nvSpPr>
        <p:spPr>
          <a:xfrm>
            <a:off x="3189111" y="2786866"/>
            <a:ext cx="1375707" cy="1375707"/>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3546795" y="3144550"/>
            <a:ext cx="660340" cy="660340"/>
          </a:xfrm>
          <a:prstGeom prst="rect">
            <a:avLst/>
          </a:prstGeom>
        </p:spPr>
      </p:pic>
      <p:sp>
        <p:nvSpPr>
          <p:cNvPr id="10" name="Text 5"/>
          <p:cNvSpPr txBox="1"/>
          <p:nvPr/>
        </p:nvSpPr>
        <p:spPr>
          <a:xfrm>
            <a:off x="2813243"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Daps</a:t>
            </a:r>
            <a:endParaRPr lang="en-US" sz="1800" dirty="0"/>
          </a:p>
        </p:txBody>
      </p:sp>
      <p:sp>
        <p:nvSpPr>
          <p:cNvPr id="11" name="Shape 6"/>
          <p:cNvSpPr/>
          <p:nvPr/>
        </p:nvSpPr>
        <p:spPr>
          <a:xfrm>
            <a:off x="5407994" y="2786866"/>
            <a:ext cx="1375707" cy="1375707"/>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5765678" y="3144550"/>
            <a:ext cx="660340" cy="660340"/>
          </a:xfrm>
          <a:prstGeom prst="rect">
            <a:avLst/>
          </a:prstGeom>
        </p:spPr>
      </p:pic>
      <p:sp>
        <p:nvSpPr>
          <p:cNvPr id="13" name="Text 7"/>
          <p:cNvSpPr txBox="1"/>
          <p:nvPr/>
        </p:nvSpPr>
        <p:spPr>
          <a:xfrm>
            <a:off x="5032126"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Skeptic lens</a:t>
            </a:r>
            <a:endParaRPr lang="en-US" sz="1800" dirty="0"/>
          </a:p>
        </p:txBody>
      </p:sp>
      <p:sp>
        <p:nvSpPr>
          <p:cNvPr id="14" name="Shape 8"/>
          <p:cNvSpPr/>
          <p:nvPr/>
        </p:nvSpPr>
        <p:spPr>
          <a:xfrm>
            <a:off x="7626877" y="2786866"/>
            <a:ext cx="1375707" cy="1375707"/>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7984561" y="3144550"/>
            <a:ext cx="660340" cy="660340"/>
          </a:xfrm>
          <a:prstGeom prst="rect">
            <a:avLst/>
          </a:prstGeom>
        </p:spPr>
      </p:pic>
      <p:sp>
        <p:nvSpPr>
          <p:cNvPr id="16" name="Text 9"/>
          <p:cNvSpPr txBox="1"/>
          <p:nvPr/>
        </p:nvSpPr>
        <p:spPr>
          <a:xfrm>
            <a:off x="7251009"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Post-shoot text</a:t>
            </a:r>
            <a:endParaRPr lang="en-US" sz="1800" dirty="0"/>
          </a:p>
        </p:txBody>
      </p:sp>
      <p:sp>
        <p:nvSpPr>
          <p:cNvPr id="17" name="Shape 10"/>
          <p:cNvSpPr/>
          <p:nvPr/>
        </p:nvSpPr>
        <p:spPr>
          <a:xfrm>
            <a:off x="9845760" y="2786866"/>
            <a:ext cx="1375707" cy="1375707"/>
          </a:xfrm>
          <a:prstGeom prst="ellipse">
            <a:avLst/>
          </a:prstGeom>
          <a:solidFill>
            <a:srgbClr val="14141F"/>
          </a:solidFill>
          <a:ln/>
        </p:spPr>
      </p:sp>
      <p:pic>
        <p:nvPicPr>
          <p:cNvPr id="18" name="Image 4" descr="preencoded.png">    </p:cNvPr>
          <p:cNvPicPr>
            <a:picLocks noChangeAspect="1"/>
          </p:cNvPicPr>
          <p:nvPr/>
        </p:nvPicPr>
        <p:blipFill>
          <a:blip r:embed="rId5"/>
          <a:stretch>
            <a:fillRect/>
          </a:stretch>
        </p:blipFill>
        <p:spPr>
          <a:xfrm>
            <a:off x="10203444" y="3144550"/>
            <a:ext cx="660340" cy="660340"/>
          </a:xfrm>
          <a:prstGeom prst="rect">
            <a:avLst/>
          </a:prstGeom>
        </p:spPr>
      </p:pic>
      <p:sp>
        <p:nvSpPr>
          <p:cNvPr id="19" name="Text 11"/>
          <p:cNvSpPr txBox="1"/>
          <p:nvPr/>
        </p:nvSpPr>
        <p:spPr>
          <a:xfrm>
            <a:off x="9469892"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Energy peak</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11</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Build in experiments</a:t>
            </a:r>
            <a:endParaRPr lang="en-US" sz="3000" dirty="0"/>
          </a:p>
        </p:txBody>
      </p:sp>
      <p:graphicFrame>
        <p:nvGraphicFramePr>
          <p:cNvPr id="5" name="Chart 0" descr=""/>
          <p:cNvGraphicFramePr/>
          <p:nvPr/>
        </p:nvGraphicFramePr>
        <p:xfrm>
          <a:off x="731520" y="1371600"/>
          <a:ext cx="4937760" cy="49377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766560" y="1554480"/>
            <a:ext cx="960120" cy="960120"/>
          </a:xfrm>
          <a:prstGeom prst="ellipse">
            <a:avLst/>
          </a:prstGeom>
          <a:solidFill>
            <a:srgbClr val="FF4D3D"/>
          </a:solidFill>
          <a:ln/>
        </p:spPr>
      </p:sp>
      <p:pic>
        <p:nvPicPr>
          <p:cNvPr id="7" name="Image 0" descr="preencoded.png">    </p:cNvPr>
          <p:cNvPicPr>
            <a:picLocks noChangeAspect="1"/>
          </p:cNvPicPr>
          <p:nvPr/>
        </p:nvPicPr>
        <p:blipFill>
          <a:blip r:embed="rId2"/>
          <a:stretch>
            <a:fillRect/>
          </a:stretch>
        </p:blipFill>
        <p:spPr>
          <a:xfrm>
            <a:off x="7016191" y="1804111"/>
            <a:ext cx="460858" cy="460858"/>
          </a:xfrm>
          <a:prstGeom prst="rect">
            <a:avLst/>
          </a:prstGeom>
        </p:spPr>
      </p:pic>
      <p:sp>
        <p:nvSpPr>
          <p:cNvPr id="8" name="Text 3"/>
          <p:cNvSpPr txBox="1"/>
          <p:nvPr/>
        </p:nvSpPr>
        <p:spPr>
          <a:xfrm>
            <a:off x="8001000" y="1554480"/>
            <a:ext cx="3200400" cy="960120"/>
          </a:xfrm>
          <a:prstGeom prst="rect">
            <a:avLst/>
          </a:prstGeom>
          <a:noFill/>
          <a:ln/>
        </p:spPr>
        <p:txBody>
          <a:bodyPr wrap="square" lIns="0" tIns="0" rIns="0" bIns="0" rtlCol="0" anchor="ctr"/>
          <a:lstStyle/>
          <a:p>
            <a:pPr indent="0" marL="0">
              <a:buNone/>
            </a:pPr>
            <a:r>
              <a:rPr lang="en-US" sz="2400" b="1" dirty="0">
                <a:solidFill>
                  <a:srgbClr val="14141F"/>
                </a:solidFill>
                <a:latin typeface="Arial" pitchFamily="34" charset="0"/>
                <a:ea typeface="Arial" pitchFamily="34" charset="-122"/>
                <a:cs typeface="Arial" pitchFamily="34" charset="-120"/>
              </a:rPr>
              <a:t>9:00</a:t>
            </a:r>
            <a:endParaRPr lang="en-US" sz="2400" dirty="0"/>
          </a:p>
        </p:txBody>
      </p:sp>
      <p:sp>
        <p:nvSpPr>
          <p:cNvPr id="9" name="Shape 4"/>
          <p:cNvSpPr/>
          <p:nvPr/>
        </p:nvSpPr>
        <p:spPr>
          <a:xfrm>
            <a:off x="6766560" y="2743200"/>
            <a:ext cx="960120" cy="960120"/>
          </a:xfrm>
          <a:prstGeom prst="ellipse">
            <a:avLst/>
          </a:prstGeom>
          <a:solidFill>
            <a:srgbClr val="FF4D3D"/>
          </a:solidFill>
          <a:ln/>
        </p:spPr>
      </p:sp>
      <p:pic>
        <p:nvPicPr>
          <p:cNvPr id="10" name="Image 1" descr="preencoded.png">    </p:cNvPr>
          <p:cNvPicPr>
            <a:picLocks noChangeAspect="1"/>
          </p:cNvPicPr>
          <p:nvPr/>
        </p:nvPicPr>
        <p:blipFill>
          <a:blip r:embed="rId3"/>
          <a:stretch>
            <a:fillRect/>
          </a:stretch>
        </p:blipFill>
        <p:spPr>
          <a:xfrm>
            <a:off x="7016191" y="2992831"/>
            <a:ext cx="460858" cy="460858"/>
          </a:xfrm>
          <a:prstGeom prst="rect">
            <a:avLst/>
          </a:prstGeom>
        </p:spPr>
      </p:pic>
      <p:sp>
        <p:nvSpPr>
          <p:cNvPr id="11" name="Text 5"/>
          <p:cNvSpPr txBox="1"/>
          <p:nvPr/>
        </p:nvSpPr>
        <p:spPr>
          <a:xfrm>
            <a:off x="8001000" y="2743200"/>
            <a:ext cx="3200400" cy="960120"/>
          </a:xfrm>
          <a:prstGeom prst="rect">
            <a:avLst/>
          </a:prstGeom>
          <a:noFill/>
          <a:ln/>
        </p:spPr>
        <p:txBody>
          <a:bodyPr wrap="square" lIns="0" tIns="0" rIns="0" bIns="0" rtlCol="0" anchor="ctr"/>
          <a:lstStyle/>
          <a:p>
            <a:pPr indent="0" marL="0">
              <a:buNone/>
            </a:pPr>
            <a:r>
              <a:rPr lang="en-US" sz="2400" b="1" dirty="0">
                <a:solidFill>
                  <a:srgbClr val="14141F"/>
                </a:solidFill>
                <a:latin typeface="Arial" pitchFamily="34" charset="0"/>
                <a:ea typeface="Arial" pitchFamily="34" charset="-122"/>
                <a:cs typeface="Arial" pitchFamily="34" charset="-120"/>
              </a:rPr>
              <a:t>Build</a:t>
            </a:r>
            <a:endParaRPr lang="en-US" sz="2400" dirty="0"/>
          </a:p>
        </p:txBody>
      </p:sp>
      <p:sp>
        <p:nvSpPr>
          <p:cNvPr id="12" name="Shape 6"/>
          <p:cNvSpPr/>
          <p:nvPr/>
        </p:nvSpPr>
        <p:spPr>
          <a:xfrm>
            <a:off x="6766560" y="3931920"/>
            <a:ext cx="960120" cy="960120"/>
          </a:xfrm>
          <a:prstGeom prst="ellipse">
            <a:avLst/>
          </a:prstGeom>
          <a:solidFill>
            <a:srgbClr val="FF4D3D"/>
          </a:solidFill>
          <a:ln/>
        </p:spPr>
      </p:sp>
      <p:pic>
        <p:nvPicPr>
          <p:cNvPr id="13" name="Image 2" descr="preencoded.png">    </p:cNvPr>
          <p:cNvPicPr>
            <a:picLocks noChangeAspect="1"/>
          </p:cNvPicPr>
          <p:nvPr/>
        </p:nvPicPr>
        <p:blipFill>
          <a:blip r:embed="rId4"/>
          <a:stretch>
            <a:fillRect/>
          </a:stretch>
        </p:blipFill>
        <p:spPr>
          <a:xfrm>
            <a:off x="7016191" y="4181551"/>
            <a:ext cx="460858" cy="460858"/>
          </a:xfrm>
          <a:prstGeom prst="rect">
            <a:avLst/>
          </a:prstGeom>
        </p:spPr>
      </p:pic>
      <p:sp>
        <p:nvSpPr>
          <p:cNvPr id="14" name="Text 7"/>
          <p:cNvSpPr txBox="1"/>
          <p:nvPr/>
        </p:nvSpPr>
        <p:spPr>
          <a:xfrm>
            <a:off x="8001000" y="3931920"/>
            <a:ext cx="3200400" cy="960120"/>
          </a:xfrm>
          <a:prstGeom prst="rect">
            <a:avLst/>
          </a:prstGeom>
          <a:noFill/>
          <a:ln/>
        </p:spPr>
        <p:txBody>
          <a:bodyPr wrap="square" lIns="0" tIns="0" rIns="0" bIns="0" rtlCol="0" anchor="ctr"/>
          <a:lstStyle/>
          <a:p>
            <a:pPr indent="0" marL="0">
              <a:buNone/>
            </a:pPr>
            <a:r>
              <a:rPr lang="en-US" sz="2400" b="1" dirty="0">
                <a:solidFill>
                  <a:srgbClr val="14141F"/>
                </a:solidFill>
                <a:latin typeface="Arial" pitchFamily="34" charset="0"/>
                <a:ea typeface="Arial" pitchFamily="34" charset="-122"/>
                <a:cs typeface="Arial" pitchFamily="34" charset="-120"/>
              </a:rPr>
              <a:t>4:30</a:t>
            </a:r>
            <a:endParaRPr lang="en-US" sz="2400" dirty="0"/>
          </a:p>
        </p:txBody>
      </p:sp>
      <p:sp>
        <p:nvSpPr>
          <p:cNvPr id="15" name="Shape 8"/>
          <p:cNvSpPr/>
          <p:nvPr/>
        </p:nvSpPr>
        <p:spPr>
          <a:xfrm>
            <a:off x="6766560" y="5120640"/>
            <a:ext cx="960120" cy="960120"/>
          </a:xfrm>
          <a:prstGeom prst="ellipse">
            <a:avLst/>
          </a:prstGeom>
          <a:solidFill>
            <a:srgbClr val="FFC93C"/>
          </a:solidFill>
          <a:ln/>
        </p:spPr>
      </p:sp>
      <p:pic>
        <p:nvPicPr>
          <p:cNvPr id="16" name="Image 3" descr="preencoded.png">    </p:cNvPr>
          <p:cNvPicPr>
            <a:picLocks noChangeAspect="1"/>
          </p:cNvPicPr>
          <p:nvPr/>
        </p:nvPicPr>
        <p:blipFill>
          <a:blip r:embed="rId5"/>
          <a:stretch>
            <a:fillRect/>
          </a:stretch>
        </p:blipFill>
        <p:spPr>
          <a:xfrm>
            <a:off x="7016191" y="5370271"/>
            <a:ext cx="460858" cy="460858"/>
          </a:xfrm>
          <a:prstGeom prst="rect">
            <a:avLst/>
          </a:prstGeom>
        </p:spPr>
      </p:pic>
      <p:sp>
        <p:nvSpPr>
          <p:cNvPr id="17" name="Text 9"/>
          <p:cNvSpPr txBox="1"/>
          <p:nvPr/>
        </p:nvSpPr>
        <p:spPr>
          <a:xfrm>
            <a:off x="8001000" y="5120640"/>
            <a:ext cx="3200400" cy="960120"/>
          </a:xfrm>
          <a:prstGeom prst="rect">
            <a:avLst/>
          </a:prstGeom>
          <a:noFill/>
          <a:ln/>
        </p:spPr>
        <p:txBody>
          <a:bodyPr wrap="square" lIns="0" tIns="0" rIns="0" bIns="0" rtlCol="0" anchor="ctr"/>
          <a:lstStyle/>
          <a:p>
            <a:pPr indent="0" marL="0">
              <a:buNone/>
            </a:pPr>
            <a:r>
              <a:rPr lang="en-US" sz="2400" b="1" dirty="0">
                <a:solidFill>
                  <a:srgbClr val="14141F"/>
                </a:solidFill>
                <a:latin typeface="Arial" pitchFamily="34" charset="0"/>
                <a:ea typeface="Arial" pitchFamily="34" charset="-122"/>
                <a:cs typeface="Arial" pitchFamily="34" charset="-120"/>
              </a:rPr>
              <a:t>Vote</a:t>
            </a:r>
            <a:endParaRPr 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11</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content loop</a:t>
            </a:r>
            <a:endParaRPr lang="en-US" sz="3000" dirty="0"/>
          </a:p>
        </p:txBody>
      </p:sp>
      <p:sp>
        <p:nvSpPr>
          <p:cNvPr id="5" name="Shape 2"/>
          <p:cNvSpPr/>
          <p:nvPr/>
        </p:nvSpPr>
        <p:spPr>
          <a:xfrm>
            <a:off x="2073109" y="3474720"/>
            <a:ext cx="649201" cy="0"/>
          </a:xfrm>
          <a:prstGeom prst="line">
            <a:avLst/>
          </a:prstGeom>
          <a:noFill/>
          <a:ln w="38100">
            <a:solidFill>
              <a:srgbClr val="C9C9D6"/>
            </a:solidFill>
            <a:prstDash val="solid"/>
            <a:tailEnd type="triangle"/>
          </a:ln>
        </p:spPr>
      </p:sp>
      <p:sp>
        <p:nvSpPr>
          <p:cNvPr id="6" name="Shape 3"/>
          <p:cNvSpPr/>
          <p:nvPr/>
        </p:nvSpPr>
        <p:spPr>
          <a:xfrm>
            <a:off x="3922178" y="3474720"/>
            <a:ext cx="649201" cy="0"/>
          </a:xfrm>
          <a:prstGeom prst="line">
            <a:avLst/>
          </a:prstGeom>
          <a:noFill/>
          <a:ln w="38100">
            <a:solidFill>
              <a:srgbClr val="C9C9D6"/>
            </a:solidFill>
            <a:prstDash val="solid"/>
            <a:tailEnd type="triangle"/>
          </a:ln>
        </p:spPr>
      </p:sp>
      <p:sp>
        <p:nvSpPr>
          <p:cNvPr id="7" name="Shape 4"/>
          <p:cNvSpPr/>
          <p:nvPr/>
        </p:nvSpPr>
        <p:spPr>
          <a:xfrm>
            <a:off x="5771247" y="3474720"/>
            <a:ext cx="649201" cy="0"/>
          </a:xfrm>
          <a:prstGeom prst="line">
            <a:avLst/>
          </a:prstGeom>
          <a:noFill/>
          <a:ln w="38100">
            <a:solidFill>
              <a:srgbClr val="C9C9D6"/>
            </a:solidFill>
            <a:prstDash val="solid"/>
            <a:tailEnd type="triangle"/>
          </a:ln>
        </p:spPr>
      </p:sp>
      <p:sp>
        <p:nvSpPr>
          <p:cNvPr id="8" name="Shape 5"/>
          <p:cNvSpPr/>
          <p:nvPr/>
        </p:nvSpPr>
        <p:spPr>
          <a:xfrm>
            <a:off x="7620316" y="3474720"/>
            <a:ext cx="649201" cy="0"/>
          </a:xfrm>
          <a:prstGeom prst="line">
            <a:avLst/>
          </a:prstGeom>
          <a:noFill/>
          <a:ln w="38100">
            <a:solidFill>
              <a:srgbClr val="C9C9D6"/>
            </a:solidFill>
            <a:prstDash val="solid"/>
            <a:tailEnd type="triangle"/>
          </a:ln>
        </p:spPr>
      </p:sp>
      <p:sp>
        <p:nvSpPr>
          <p:cNvPr id="9" name="Shape 6"/>
          <p:cNvSpPr/>
          <p:nvPr/>
        </p:nvSpPr>
        <p:spPr>
          <a:xfrm>
            <a:off x="9469385" y="3474720"/>
            <a:ext cx="649201" cy="0"/>
          </a:xfrm>
          <a:prstGeom prst="line">
            <a:avLst/>
          </a:prstGeom>
          <a:noFill/>
          <a:ln w="38100">
            <a:solidFill>
              <a:srgbClr val="C9C9D6"/>
            </a:solidFill>
            <a:prstDash val="solid"/>
            <a:tailEnd type="triangle"/>
          </a:ln>
        </p:spPr>
      </p:sp>
      <p:sp>
        <p:nvSpPr>
          <p:cNvPr id="10" name="Shape 7"/>
          <p:cNvSpPr/>
          <p:nvPr/>
        </p:nvSpPr>
        <p:spPr>
          <a:xfrm>
            <a:off x="964681" y="2966226"/>
            <a:ext cx="1016988" cy="1016988"/>
          </a:xfrm>
          <a:prstGeom prst="ellipse">
            <a:avLst/>
          </a:prstGeom>
          <a:solidFill>
            <a:srgbClr val="FF4D3D"/>
          </a:solidFill>
          <a:ln/>
        </p:spPr>
      </p:sp>
      <p:pic>
        <p:nvPicPr>
          <p:cNvPr id="11" name="Image 0" descr="preencoded.png">    </p:cNvPr>
          <p:cNvPicPr>
            <a:picLocks noChangeAspect="1"/>
          </p:cNvPicPr>
          <p:nvPr/>
        </p:nvPicPr>
        <p:blipFill>
          <a:blip r:embed="rId1"/>
          <a:stretch>
            <a:fillRect/>
          </a:stretch>
        </p:blipFill>
        <p:spPr>
          <a:xfrm>
            <a:off x="1229097" y="3230643"/>
            <a:ext cx="488154" cy="488154"/>
          </a:xfrm>
          <a:prstGeom prst="rect">
            <a:avLst/>
          </a:prstGeom>
        </p:spPr>
      </p:pic>
      <p:sp>
        <p:nvSpPr>
          <p:cNvPr id="12" name="Text 8"/>
          <p:cNvSpPr txBox="1"/>
          <p:nvPr/>
        </p:nvSpPr>
        <p:spPr>
          <a:xfrm>
            <a:off x="594360"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Idea</a:t>
            </a:r>
            <a:endParaRPr lang="en-US" sz="1600" dirty="0"/>
          </a:p>
        </p:txBody>
      </p:sp>
      <p:sp>
        <p:nvSpPr>
          <p:cNvPr id="13" name="Shape 9"/>
          <p:cNvSpPr/>
          <p:nvPr/>
        </p:nvSpPr>
        <p:spPr>
          <a:xfrm>
            <a:off x="2813750" y="2966226"/>
            <a:ext cx="1016988" cy="1016988"/>
          </a:xfrm>
          <a:prstGeom prst="ellipse">
            <a:avLst/>
          </a:prstGeom>
          <a:solidFill>
            <a:srgbClr val="14141F"/>
          </a:solidFill>
          <a:ln/>
        </p:spPr>
      </p:sp>
      <p:pic>
        <p:nvPicPr>
          <p:cNvPr id="14" name="Image 1" descr="preencoded.png">    </p:cNvPr>
          <p:cNvPicPr>
            <a:picLocks noChangeAspect="1"/>
          </p:cNvPicPr>
          <p:nvPr/>
        </p:nvPicPr>
        <p:blipFill>
          <a:blip r:embed="rId2"/>
          <a:stretch>
            <a:fillRect/>
          </a:stretch>
        </p:blipFill>
        <p:spPr>
          <a:xfrm>
            <a:off x="3078167" y="3230643"/>
            <a:ext cx="488154" cy="488154"/>
          </a:xfrm>
          <a:prstGeom prst="rect">
            <a:avLst/>
          </a:prstGeom>
        </p:spPr>
      </p:pic>
      <p:sp>
        <p:nvSpPr>
          <p:cNvPr id="15" name="Text 10"/>
          <p:cNvSpPr txBox="1"/>
          <p:nvPr/>
        </p:nvSpPr>
        <p:spPr>
          <a:xfrm>
            <a:off x="2443429"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Script</a:t>
            </a:r>
            <a:endParaRPr lang="en-US" sz="1600" dirty="0"/>
          </a:p>
        </p:txBody>
      </p:sp>
      <p:sp>
        <p:nvSpPr>
          <p:cNvPr id="16" name="Shape 11"/>
          <p:cNvSpPr/>
          <p:nvPr/>
        </p:nvSpPr>
        <p:spPr>
          <a:xfrm>
            <a:off x="4662819" y="2966226"/>
            <a:ext cx="1016988" cy="1016988"/>
          </a:xfrm>
          <a:prstGeom prst="ellipse">
            <a:avLst/>
          </a:prstGeom>
          <a:solidFill>
            <a:srgbClr val="FFC93C"/>
          </a:solidFill>
          <a:ln/>
        </p:spPr>
      </p:sp>
      <p:pic>
        <p:nvPicPr>
          <p:cNvPr id="17" name="Image 2" descr="preencoded.png">    </p:cNvPr>
          <p:cNvPicPr>
            <a:picLocks noChangeAspect="1"/>
          </p:cNvPicPr>
          <p:nvPr/>
        </p:nvPicPr>
        <p:blipFill>
          <a:blip r:embed="rId3"/>
          <a:stretch>
            <a:fillRect/>
          </a:stretch>
        </p:blipFill>
        <p:spPr>
          <a:xfrm>
            <a:off x="4927236" y="3230643"/>
            <a:ext cx="488154" cy="488154"/>
          </a:xfrm>
          <a:prstGeom prst="rect">
            <a:avLst/>
          </a:prstGeom>
        </p:spPr>
      </p:pic>
      <p:sp>
        <p:nvSpPr>
          <p:cNvPr id="18" name="Text 12"/>
          <p:cNvSpPr txBox="1"/>
          <p:nvPr/>
        </p:nvSpPr>
        <p:spPr>
          <a:xfrm>
            <a:off x="4292498"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Record</a:t>
            </a:r>
            <a:endParaRPr lang="en-US" sz="1600" dirty="0"/>
          </a:p>
        </p:txBody>
      </p:sp>
      <p:sp>
        <p:nvSpPr>
          <p:cNvPr id="19" name="Shape 13"/>
          <p:cNvSpPr/>
          <p:nvPr/>
        </p:nvSpPr>
        <p:spPr>
          <a:xfrm>
            <a:off x="6511888" y="2966226"/>
            <a:ext cx="1016988" cy="1016988"/>
          </a:xfrm>
          <a:prstGeom prst="ellipse">
            <a:avLst/>
          </a:prstGeom>
          <a:solidFill>
            <a:srgbClr val="FF4D3D"/>
          </a:solidFill>
          <a:ln/>
        </p:spPr>
      </p:sp>
      <p:pic>
        <p:nvPicPr>
          <p:cNvPr id="20" name="Image 3" descr="preencoded.png">    </p:cNvPr>
          <p:cNvPicPr>
            <a:picLocks noChangeAspect="1"/>
          </p:cNvPicPr>
          <p:nvPr/>
        </p:nvPicPr>
        <p:blipFill>
          <a:blip r:embed="rId4"/>
          <a:stretch>
            <a:fillRect/>
          </a:stretch>
        </p:blipFill>
        <p:spPr>
          <a:xfrm>
            <a:off x="6776305" y="3230643"/>
            <a:ext cx="488154" cy="488154"/>
          </a:xfrm>
          <a:prstGeom prst="rect">
            <a:avLst/>
          </a:prstGeom>
        </p:spPr>
      </p:pic>
      <p:sp>
        <p:nvSpPr>
          <p:cNvPr id="21" name="Text 14"/>
          <p:cNvSpPr txBox="1"/>
          <p:nvPr/>
        </p:nvSpPr>
        <p:spPr>
          <a:xfrm>
            <a:off x="6141568"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Edit</a:t>
            </a:r>
            <a:endParaRPr lang="en-US" sz="1600" dirty="0"/>
          </a:p>
        </p:txBody>
      </p:sp>
      <p:sp>
        <p:nvSpPr>
          <p:cNvPr id="22" name="Shape 15"/>
          <p:cNvSpPr/>
          <p:nvPr/>
        </p:nvSpPr>
        <p:spPr>
          <a:xfrm>
            <a:off x="8360957" y="2966226"/>
            <a:ext cx="1016988" cy="1016988"/>
          </a:xfrm>
          <a:prstGeom prst="ellipse">
            <a:avLst/>
          </a:prstGeom>
          <a:solidFill>
            <a:srgbClr val="14141F"/>
          </a:solidFill>
          <a:ln/>
        </p:spPr>
      </p:sp>
      <p:pic>
        <p:nvPicPr>
          <p:cNvPr id="23" name="Image 4" descr="preencoded.png">    </p:cNvPr>
          <p:cNvPicPr>
            <a:picLocks noChangeAspect="1"/>
          </p:cNvPicPr>
          <p:nvPr/>
        </p:nvPicPr>
        <p:blipFill>
          <a:blip r:embed="rId5"/>
          <a:stretch>
            <a:fillRect/>
          </a:stretch>
        </p:blipFill>
        <p:spPr>
          <a:xfrm>
            <a:off x="8625374" y="3230643"/>
            <a:ext cx="488154" cy="488154"/>
          </a:xfrm>
          <a:prstGeom prst="rect">
            <a:avLst/>
          </a:prstGeom>
        </p:spPr>
      </p:pic>
      <p:sp>
        <p:nvSpPr>
          <p:cNvPr id="24" name="Text 16"/>
          <p:cNvSpPr txBox="1"/>
          <p:nvPr/>
        </p:nvSpPr>
        <p:spPr>
          <a:xfrm>
            <a:off x="7990637"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Post</a:t>
            </a:r>
            <a:endParaRPr lang="en-US" sz="1600" dirty="0"/>
          </a:p>
        </p:txBody>
      </p:sp>
      <p:sp>
        <p:nvSpPr>
          <p:cNvPr id="25" name="Shape 17"/>
          <p:cNvSpPr/>
          <p:nvPr/>
        </p:nvSpPr>
        <p:spPr>
          <a:xfrm>
            <a:off x="10210027" y="2966226"/>
            <a:ext cx="1016988" cy="1016988"/>
          </a:xfrm>
          <a:prstGeom prst="ellipse">
            <a:avLst/>
          </a:prstGeom>
          <a:solidFill>
            <a:srgbClr val="FFC93C"/>
          </a:solidFill>
          <a:ln/>
        </p:spPr>
      </p:sp>
      <p:pic>
        <p:nvPicPr>
          <p:cNvPr id="26" name="Image 5" descr="preencoded.png">    </p:cNvPr>
          <p:cNvPicPr>
            <a:picLocks noChangeAspect="1"/>
          </p:cNvPicPr>
          <p:nvPr/>
        </p:nvPicPr>
        <p:blipFill>
          <a:blip r:embed="rId6"/>
          <a:stretch>
            <a:fillRect/>
          </a:stretch>
        </p:blipFill>
        <p:spPr>
          <a:xfrm>
            <a:off x="10474443" y="3230643"/>
            <a:ext cx="488154" cy="488154"/>
          </a:xfrm>
          <a:prstGeom prst="rect">
            <a:avLst/>
          </a:prstGeom>
        </p:spPr>
      </p:pic>
      <p:sp>
        <p:nvSpPr>
          <p:cNvPr id="27" name="Text 18"/>
          <p:cNvSpPr txBox="1"/>
          <p:nvPr/>
        </p:nvSpPr>
        <p:spPr>
          <a:xfrm>
            <a:off x="9839706"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Analyze</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12</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Build the team</a:t>
            </a:r>
            <a:endParaRPr lang="en-US" sz="4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12</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Hire the bottleneck</a:t>
            </a:r>
            <a:endParaRPr lang="en-US" sz="3000" dirty="0"/>
          </a:p>
        </p:txBody>
      </p:sp>
      <p:sp>
        <p:nvSpPr>
          <p:cNvPr id="5" name="Shape 2"/>
          <p:cNvSpPr/>
          <p:nvPr/>
        </p:nvSpPr>
        <p:spPr>
          <a:xfrm>
            <a:off x="1097280" y="2103120"/>
            <a:ext cx="2743200" cy="2743200"/>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810512" y="2816352"/>
            <a:ext cx="1316736" cy="1316736"/>
          </a:xfrm>
          <a:prstGeom prst="rect">
            <a:avLst/>
          </a:prstGeom>
        </p:spPr>
      </p:pic>
      <p:sp>
        <p:nvSpPr>
          <p:cNvPr id="7" name="Shape 3"/>
          <p:cNvSpPr/>
          <p:nvPr/>
        </p:nvSpPr>
        <p:spPr>
          <a:xfrm>
            <a:off x="5486400" y="1554480"/>
            <a:ext cx="960120" cy="960120"/>
          </a:xfrm>
          <a:prstGeom prst="ellipse">
            <a:avLst/>
          </a:prstGeom>
          <a:solidFill>
            <a:srgbClr val="14141F"/>
          </a:solidFill>
          <a:ln/>
        </p:spPr>
      </p:sp>
      <p:pic>
        <p:nvPicPr>
          <p:cNvPr id="8" name="Image 1" descr="preencoded.png">    </p:cNvPr>
          <p:cNvPicPr>
            <a:picLocks noChangeAspect="1"/>
          </p:cNvPicPr>
          <p:nvPr/>
        </p:nvPicPr>
        <p:blipFill>
          <a:blip r:embed="rId2"/>
          <a:stretch>
            <a:fillRect/>
          </a:stretch>
        </p:blipFill>
        <p:spPr>
          <a:xfrm>
            <a:off x="5736031" y="1804111"/>
            <a:ext cx="460858" cy="460858"/>
          </a:xfrm>
          <a:prstGeom prst="rect">
            <a:avLst/>
          </a:prstGeom>
        </p:spPr>
      </p:pic>
      <p:sp>
        <p:nvSpPr>
          <p:cNvPr id="9" name="Text 4"/>
          <p:cNvSpPr txBox="1"/>
          <p:nvPr/>
        </p:nvSpPr>
        <p:spPr>
          <a:xfrm>
            <a:off x="6720840" y="1554480"/>
            <a:ext cx="4572000" cy="960120"/>
          </a:xfrm>
          <a:prstGeom prst="rect">
            <a:avLst/>
          </a:prstGeom>
          <a:noFill/>
          <a:ln/>
        </p:spPr>
        <p:txBody>
          <a:bodyPr wrap="square" lIns="0" tIns="0" rIns="0" bIns="0" rtlCol="0" anchor="ctr"/>
          <a:lstStyle/>
          <a:p>
            <a:pPr indent="0" marL="0">
              <a:buNone/>
            </a:pPr>
            <a:r>
              <a:rPr lang="en-US" sz="2400" b="1" dirty="0">
                <a:solidFill>
                  <a:srgbClr val="14141F"/>
                </a:solidFill>
                <a:latin typeface="Arial" pitchFamily="34" charset="0"/>
                <a:ea typeface="Arial" pitchFamily="34" charset="-122"/>
                <a:cs typeface="Arial" pitchFamily="34" charset="-120"/>
              </a:rPr>
              <a:t>Role</a:t>
            </a:r>
            <a:endParaRPr lang="en-US" sz="2400" dirty="0"/>
          </a:p>
        </p:txBody>
      </p:sp>
      <p:sp>
        <p:nvSpPr>
          <p:cNvPr id="10" name="Shape 5"/>
          <p:cNvSpPr/>
          <p:nvPr/>
        </p:nvSpPr>
        <p:spPr>
          <a:xfrm>
            <a:off x="5486400" y="2743200"/>
            <a:ext cx="960120" cy="960120"/>
          </a:xfrm>
          <a:prstGeom prst="ellipse">
            <a:avLst/>
          </a:prstGeom>
          <a:solidFill>
            <a:srgbClr val="FFC93C"/>
          </a:solidFill>
          <a:ln/>
        </p:spPr>
      </p:sp>
      <p:pic>
        <p:nvPicPr>
          <p:cNvPr id="11" name="Image 2" descr="preencoded.png">    </p:cNvPr>
          <p:cNvPicPr>
            <a:picLocks noChangeAspect="1"/>
          </p:cNvPicPr>
          <p:nvPr/>
        </p:nvPicPr>
        <p:blipFill>
          <a:blip r:embed="rId3"/>
          <a:stretch>
            <a:fillRect/>
          </a:stretch>
        </p:blipFill>
        <p:spPr>
          <a:xfrm>
            <a:off x="5736031" y="2992831"/>
            <a:ext cx="460858" cy="460858"/>
          </a:xfrm>
          <a:prstGeom prst="rect">
            <a:avLst/>
          </a:prstGeom>
        </p:spPr>
      </p:pic>
      <p:sp>
        <p:nvSpPr>
          <p:cNvPr id="12" name="Text 6"/>
          <p:cNvSpPr txBox="1"/>
          <p:nvPr/>
        </p:nvSpPr>
        <p:spPr>
          <a:xfrm>
            <a:off x="6720840" y="2743200"/>
            <a:ext cx="4572000" cy="960120"/>
          </a:xfrm>
          <a:prstGeom prst="rect">
            <a:avLst/>
          </a:prstGeom>
          <a:noFill/>
          <a:ln/>
        </p:spPr>
        <p:txBody>
          <a:bodyPr wrap="square" lIns="0" tIns="0" rIns="0" bIns="0" rtlCol="0" anchor="ctr"/>
          <a:lstStyle/>
          <a:p>
            <a:pPr indent="0" marL="0">
              <a:buNone/>
            </a:pPr>
            <a:r>
              <a:rPr lang="en-US" sz="2400" b="1" dirty="0">
                <a:solidFill>
                  <a:srgbClr val="14141F"/>
                </a:solidFill>
                <a:latin typeface="Arial" pitchFamily="34" charset="0"/>
                <a:ea typeface="Arial" pitchFamily="34" charset="-122"/>
                <a:cs typeface="Arial" pitchFamily="34" charset="-120"/>
              </a:rPr>
              <a:t>Responsibilities</a:t>
            </a:r>
            <a:endParaRPr lang="en-US" sz="2400" dirty="0"/>
          </a:p>
        </p:txBody>
      </p:sp>
      <p:sp>
        <p:nvSpPr>
          <p:cNvPr id="13" name="Shape 7"/>
          <p:cNvSpPr/>
          <p:nvPr/>
        </p:nvSpPr>
        <p:spPr>
          <a:xfrm>
            <a:off x="5486400" y="3931920"/>
            <a:ext cx="960120" cy="960120"/>
          </a:xfrm>
          <a:prstGeom prst="ellipse">
            <a:avLst/>
          </a:prstGeom>
          <a:solidFill>
            <a:srgbClr val="14141F"/>
          </a:solidFill>
          <a:ln/>
        </p:spPr>
      </p:sp>
      <p:pic>
        <p:nvPicPr>
          <p:cNvPr id="14" name="Image 3" descr="preencoded.png">    </p:cNvPr>
          <p:cNvPicPr>
            <a:picLocks noChangeAspect="1"/>
          </p:cNvPicPr>
          <p:nvPr/>
        </p:nvPicPr>
        <p:blipFill>
          <a:blip r:embed="rId4"/>
          <a:stretch>
            <a:fillRect/>
          </a:stretch>
        </p:blipFill>
        <p:spPr>
          <a:xfrm>
            <a:off x="5736031" y="4181551"/>
            <a:ext cx="460858" cy="460858"/>
          </a:xfrm>
          <a:prstGeom prst="rect">
            <a:avLst/>
          </a:prstGeom>
        </p:spPr>
      </p:pic>
      <p:sp>
        <p:nvSpPr>
          <p:cNvPr id="15" name="Text 8"/>
          <p:cNvSpPr txBox="1"/>
          <p:nvPr/>
        </p:nvSpPr>
        <p:spPr>
          <a:xfrm>
            <a:off x="6720840" y="3931920"/>
            <a:ext cx="4572000" cy="960120"/>
          </a:xfrm>
          <a:prstGeom prst="rect">
            <a:avLst/>
          </a:prstGeom>
          <a:noFill/>
          <a:ln/>
        </p:spPr>
        <p:txBody>
          <a:bodyPr wrap="square" lIns="0" tIns="0" rIns="0" bIns="0" rtlCol="0" anchor="ctr"/>
          <a:lstStyle/>
          <a:p>
            <a:pPr indent="0" marL="0">
              <a:buNone/>
            </a:pPr>
            <a:r>
              <a:rPr lang="en-US" sz="2400" b="1" dirty="0">
                <a:solidFill>
                  <a:srgbClr val="14141F"/>
                </a:solidFill>
                <a:latin typeface="Arial" pitchFamily="34" charset="0"/>
                <a:ea typeface="Arial" pitchFamily="34" charset="-122"/>
                <a:cs typeface="Arial" pitchFamily="34" charset="-120"/>
              </a:rPr>
              <a:t>Requirements</a:t>
            </a:r>
            <a:endParaRPr lang="en-US" sz="2400" dirty="0"/>
          </a:p>
        </p:txBody>
      </p:sp>
      <p:sp>
        <p:nvSpPr>
          <p:cNvPr id="16" name="Shape 9"/>
          <p:cNvSpPr/>
          <p:nvPr/>
        </p:nvSpPr>
        <p:spPr>
          <a:xfrm>
            <a:off x="5486400" y="5120640"/>
            <a:ext cx="960120" cy="960120"/>
          </a:xfrm>
          <a:prstGeom prst="ellipse">
            <a:avLst/>
          </a:prstGeom>
          <a:solidFill>
            <a:srgbClr val="FFC93C"/>
          </a:solidFill>
          <a:ln/>
        </p:spPr>
      </p:sp>
      <p:pic>
        <p:nvPicPr>
          <p:cNvPr id="17" name="Image 4" descr="preencoded.png">    </p:cNvPr>
          <p:cNvPicPr>
            <a:picLocks noChangeAspect="1"/>
          </p:cNvPicPr>
          <p:nvPr/>
        </p:nvPicPr>
        <p:blipFill>
          <a:blip r:embed="rId5"/>
          <a:stretch>
            <a:fillRect/>
          </a:stretch>
        </p:blipFill>
        <p:spPr>
          <a:xfrm>
            <a:off x="5736031" y="5370271"/>
            <a:ext cx="460858" cy="460858"/>
          </a:xfrm>
          <a:prstGeom prst="rect">
            <a:avLst/>
          </a:prstGeom>
        </p:spPr>
      </p:pic>
      <p:sp>
        <p:nvSpPr>
          <p:cNvPr id="18" name="Text 10"/>
          <p:cNvSpPr txBox="1"/>
          <p:nvPr/>
        </p:nvSpPr>
        <p:spPr>
          <a:xfrm>
            <a:off x="6720840" y="5120640"/>
            <a:ext cx="4572000" cy="960120"/>
          </a:xfrm>
          <a:prstGeom prst="rect">
            <a:avLst/>
          </a:prstGeom>
          <a:noFill/>
          <a:ln/>
        </p:spPr>
        <p:txBody>
          <a:bodyPr wrap="square" lIns="0" tIns="0" rIns="0" bIns="0" rtlCol="0" anchor="ctr"/>
          <a:lstStyle/>
          <a:p>
            <a:pPr indent="0" marL="0">
              <a:buNone/>
            </a:pPr>
            <a:r>
              <a:rPr lang="en-US" sz="2400" b="1" dirty="0">
                <a:solidFill>
                  <a:srgbClr val="14141F"/>
                </a:solidFill>
                <a:latin typeface="Arial" pitchFamily="34" charset="0"/>
                <a:ea typeface="Arial" pitchFamily="34" charset="-122"/>
                <a:cs typeface="Arial" pitchFamily="34" charset="-120"/>
              </a:rPr>
              <a:t>Results</a:t>
            </a:r>
            <a:endParaRPr 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12</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hiring funnel</a:t>
            </a:r>
            <a:endParaRPr lang="en-US" sz="3000" dirty="0"/>
          </a:p>
        </p:txBody>
      </p:sp>
      <p:sp>
        <p:nvSpPr>
          <p:cNvPr id="5" name="Shape 2"/>
          <p:cNvSpPr/>
          <p:nvPr/>
        </p:nvSpPr>
        <p:spPr>
          <a:xfrm>
            <a:off x="2073109" y="3474720"/>
            <a:ext cx="649201" cy="0"/>
          </a:xfrm>
          <a:prstGeom prst="line">
            <a:avLst/>
          </a:prstGeom>
          <a:noFill/>
          <a:ln w="38100">
            <a:solidFill>
              <a:srgbClr val="C9C9D6"/>
            </a:solidFill>
            <a:prstDash val="solid"/>
            <a:tailEnd type="triangle"/>
          </a:ln>
        </p:spPr>
      </p:sp>
      <p:sp>
        <p:nvSpPr>
          <p:cNvPr id="6" name="Shape 3"/>
          <p:cNvSpPr/>
          <p:nvPr/>
        </p:nvSpPr>
        <p:spPr>
          <a:xfrm>
            <a:off x="3922178" y="3474720"/>
            <a:ext cx="649201" cy="0"/>
          </a:xfrm>
          <a:prstGeom prst="line">
            <a:avLst/>
          </a:prstGeom>
          <a:noFill/>
          <a:ln w="38100">
            <a:solidFill>
              <a:srgbClr val="C9C9D6"/>
            </a:solidFill>
            <a:prstDash val="solid"/>
            <a:tailEnd type="triangle"/>
          </a:ln>
        </p:spPr>
      </p:sp>
      <p:sp>
        <p:nvSpPr>
          <p:cNvPr id="7" name="Shape 4"/>
          <p:cNvSpPr/>
          <p:nvPr/>
        </p:nvSpPr>
        <p:spPr>
          <a:xfrm>
            <a:off x="5771247" y="3474720"/>
            <a:ext cx="649201" cy="0"/>
          </a:xfrm>
          <a:prstGeom prst="line">
            <a:avLst/>
          </a:prstGeom>
          <a:noFill/>
          <a:ln w="38100">
            <a:solidFill>
              <a:srgbClr val="C9C9D6"/>
            </a:solidFill>
            <a:prstDash val="solid"/>
            <a:tailEnd type="triangle"/>
          </a:ln>
        </p:spPr>
      </p:sp>
      <p:sp>
        <p:nvSpPr>
          <p:cNvPr id="8" name="Shape 5"/>
          <p:cNvSpPr/>
          <p:nvPr/>
        </p:nvSpPr>
        <p:spPr>
          <a:xfrm>
            <a:off x="7620316" y="3474720"/>
            <a:ext cx="649201" cy="0"/>
          </a:xfrm>
          <a:prstGeom prst="line">
            <a:avLst/>
          </a:prstGeom>
          <a:noFill/>
          <a:ln w="38100">
            <a:solidFill>
              <a:srgbClr val="C9C9D6"/>
            </a:solidFill>
            <a:prstDash val="solid"/>
            <a:tailEnd type="triangle"/>
          </a:ln>
        </p:spPr>
      </p:sp>
      <p:sp>
        <p:nvSpPr>
          <p:cNvPr id="9" name="Shape 6"/>
          <p:cNvSpPr/>
          <p:nvPr/>
        </p:nvSpPr>
        <p:spPr>
          <a:xfrm>
            <a:off x="9469385" y="3474720"/>
            <a:ext cx="649201" cy="0"/>
          </a:xfrm>
          <a:prstGeom prst="line">
            <a:avLst/>
          </a:prstGeom>
          <a:noFill/>
          <a:ln w="38100">
            <a:solidFill>
              <a:srgbClr val="C9C9D6"/>
            </a:solidFill>
            <a:prstDash val="solid"/>
            <a:tailEnd type="triangle"/>
          </a:ln>
        </p:spPr>
      </p:sp>
      <p:sp>
        <p:nvSpPr>
          <p:cNvPr id="10" name="Shape 7"/>
          <p:cNvSpPr/>
          <p:nvPr/>
        </p:nvSpPr>
        <p:spPr>
          <a:xfrm>
            <a:off x="964681" y="2966226"/>
            <a:ext cx="1016988" cy="1016988"/>
          </a:xfrm>
          <a:prstGeom prst="ellipse">
            <a:avLst/>
          </a:prstGeom>
          <a:solidFill>
            <a:srgbClr val="FF4D3D"/>
          </a:solidFill>
          <a:ln/>
        </p:spPr>
      </p:sp>
      <p:pic>
        <p:nvPicPr>
          <p:cNvPr id="11" name="Image 0" descr="preencoded.png">    </p:cNvPr>
          <p:cNvPicPr>
            <a:picLocks noChangeAspect="1"/>
          </p:cNvPicPr>
          <p:nvPr/>
        </p:nvPicPr>
        <p:blipFill>
          <a:blip r:embed="rId1"/>
          <a:stretch>
            <a:fillRect/>
          </a:stretch>
        </p:blipFill>
        <p:spPr>
          <a:xfrm>
            <a:off x="1229097" y="3230643"/>
            <a:ext cx="488154" cy="488154"/>
          </a:xfrm>
          <a:prstGeom prst="rect">
            <a:avLst/>
          </a:prstGeom>
        </p:spPr>
      </p:pic>
      <p:sp>
        <p:nvSpPr>
          <p:cNvPr id="12" name="Text 8"/>
          <p:cNvSpPr txBox="1"/>
          <p:nvPr/>
        </p:nvSpPr>
        <p:spPr>
          <a:xfrm>
            <a:off x="594360"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CV + video</a:t>
            </a:r>
            <a:endParaRPr lang="en-US" sz="1600" dirty="0"/>
          </a:p>
        </p:txBody>
      </p:sp>
      <p:sp>
        <p:nvSpPr>
          <p:cNvPr id="13" name="Shape 9"/>
          <p:cNvSpPr/>
          <p:nvPr/>
        </p:nvSpPr>
        <p:spPr>
          <a:xfrm>
            <a:off x="2813750" y="2966226"/>
            <a:ext cx="1016988" cy="1016988"/>
          </a:xfrm>
          <a:prstGeom prst="ellipse">
            <a:avLst/>
          </a:prstGeom>
          <a:solidFill>
            <a:srgbClr val="14141F"/>
          </a:solidFill>
          <a:ln/>
        </p:spPr>
      </p:sp>
      <p:pic>
        <p:nvPicPr>
          <p:cNvPr id="14" name="Image 1" descr="preencoded.png">    </p:cNvPr>
          <p:cNvPicPr>
            <a:picLocks noChangeAspect="1"/>
          </p:cNvPicPr>
          <p:nvPr/>
        </p:nvPicPr>
        <p:blipFill>
          <a:blip r:embed="rId2"/>
          <a:stretch>
            <a:fillRect/>
          </a:stretch>
        </p:blipFill>
        <p:spPr>
          <a:xfrm>
            <a:off x="3078167" y="3230643"/>
            <a:ext cx="488154" cy="488154"/>
          </a:xfrm>
          <a:prstGeom prst="rect">
            <a:avLst/>
          </a:prstGeom>
        </p:spPr>
      </p:pic>
      <p:sp>
        <p:nvSpPr>
          <p:cNvPr id="15" name="Text 10"/>
          <p:cNvSpPr txBox="1"/>
          <p:nvPr/>
        </p:nvSpPr>
        <p:spPr>
          <a:xfrm>
            <a:off x="2443429"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Screen</a:t>
            </a:r>
            <a:endParaRPr lang="en-US" sz="1600" dirty="0"/>
          </a:p>
        </p:txBody>
      </p:sp>
      <p:sp>
        <p:nvSpPr>
          <p:cNvPr id="16" name="Shape 11"/>
          <p:cNvSpPr/>
          <p:nvPr/>
        </p:nvSpPr>
        <p:spPr>
          <a:xfrm>
            <a:off x="4662819" y="2966226"/>
            <a:ext cx="1016988" cy="1016988"/>
          </a:xfrm>
          <a:prstGeom prst="ellipse">
            <a:avLst/>
          </a:prstGeom>
          <a:solidFill>
            <a:srgbClr val="FFC93C"/>
          </a:solidFill>
          <a:ln/>
        </p:spPr>
      </p:sp>
      <p:pic>
        <p:nvPicPr>
          <p:cNvPr id="17" name="Image 2" descr="preencoded.png">    </p:cNvPr>
          <p:cNvPicPr>
            <a:picLocks noChangeAspect="1"/>
          </p:cNvPicPr>
          <p:nvPr/>
        </p:nvPicPr>
        <p:blipFill>
          <a:blip r:embed="rId3"/>
          <a:stretch>
            <a:fillRect/>
          </a:stretch>
        </p:blipFill>
        <p:spPr>
          <a:xfrm>
            <a:off x="4927236" y="3230643"/>
            <a:ext cx="488154" cy="488154"/>
          </a:xfrm>
          <a:prstGeom prst="rect">
            <a:avLst/>
          </a:prstGeom>
        </p:spPr>
      </p:pic>
      <p:sp>
        <p:nvSpPr>
          <p:cNvPr id="18" name="Text 12"/>
          <p:cNvSpPr txBox="1"/>
          <p:nvPr/>
        </p:nvSpPr>
        <p:spPr>
          <a:xfrm>
            <a:off x="4292498"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Technical</a:t>
            </a:r>
            <a:endParaRPr lang="en-US" sz="1600" dirty="0"/>
          </a:p>
        </p:txBody>
      </p:sp>
      <p:sp>
        <p:nvSpPr>
          <p:cNvPr id="19" name="Shape 13"/>
          <p:cNvSpPr/>
          <p:nvPr/>
        </p:nvSpPr>
        <p:spPr>
          <a:xfrm>
            <a:off x="6511888" y="2966226"/>
            <a:ext cx="1016988" cy="1016988"/>
          </a:xfrm>
          <a:prstGeom prst="ellipse">
            <a:avLst/>
          </a:prstGeom>
          <a:solidFill>
            <a:srgbClr val="FF4D3D"/>
          </a:solidFill>
          <a:ln/>
        </p:spPr>
      </p:sp>
      <p:pic>
        <p:nvPicPr>
          <p:cNvPr id="20" name="Image 3" descr="preencoded.png">    </p:cNvPr>
          <p:cNvPicPr>
            <a:picLocks noChangeAspect="1"/>
          </p:cNvPicPr>
          <p:nvPr/>
        </p:nvPicPr>
        <p:blipFill>
          <a:blip r:embed="rId4"/>
          <a:stretch>
            <a:fillRect/>
          </a:stretch>
        </p:blipFill>
        <p:spPr>
          <a:xfrm>
            <a:off x="6776305" y="3230643"/>
            <a:ext cx="488154" cy="488154"/>
          </a:xfrm>
          <a:prstGeom prst="rect">
            <a:avLst/>
          </a:prstGeom>
        </p:spPr>
      </p:pic>
      <p:sp>
        <p:nvSpPr>
          <p:cNvPr id="21" name="Text 14"/>
          <p:cNvSpPr txBox="1"/>
          <p:nvPr/>
        </p:nvSpPr>
        <p:spPr>
          <a:xfrm>
            <a:off x="6141568"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Assessment</a:t>
            </a:r>
            <a:endParaRPr lang="en-US" sz="1600" dirty="0"/>
          </a:p>
        </p:txBody>
      </p:sp>
      <p:sp>
        <p:nvSpPr>
          <p:cNvPr id="22" name="Shape 15"/>
          <p:cNvSpPr/>
          <p:nvPr/>
        </p:nvSpPr>
        <p:spPr>
          <a:xfrm>
            <a:off x="8360957" y="2966226"/>
            <a:ext cx="1016988" cy="1016988"/>
          </a:xfrm>
          <a:prstGeom prst="ellipse">
            <a:avLst/>
          </a:prstGeom>
          <a:solidFill>
            <a:srgbClr val="14141F"/>
          </a:solidFill>
          <a:ln/>
        </p:spPr>
      </p:sp>
      <p:pic>
        <p:nvPicPr>
          <p:cNvPr id="23" name="Image 4" descr="preencoded.png">    </p:cNvPr>
          <p:cNvPicPr>
            <a:picLocks noChangeAspect="1"/>
          </p:cNvPicPr>
          <p:nvPr/>
        </p:nvPicPr>
        <p:blipFill>
          <a:blip r:embed="rId5"/>
          <a:stretch>
            <a:fillRect/>
          </a:stretch>
        </p:blipFill>
        <p:spPr>
          <a:xfrm>
            <a:off x="8625374" y="3230643"/>
            <a:ext cx="488154" cy="488154"/>
          </a:xfrm>
          <a:prstGeom prst="rect">
            <a:avLst/>
          </a:prstGeom>
        </p:spPr>
      </p:pic>
      <p:sp>
        <p:nvSpPr>
          <p:cNvPr id="24" name="Text 16"/>
          <p:cNvSpPr txBox="1"/>
          <p:nvPr/>
        </p:nvSpPr>
        <p:spPr>
          <a:xfrm>
            <a:off x="7990637"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Culture</a:t>
            </a:r>
            <a:endParaRPr lang="en-US" sz="1600" dirty="0"/>
          </a:p>
        </p:txBody>
      </p:sp>
      <p:sp>
        <p:nvSpPr>
          <p:cNvPr id="25" name="Shape 17"/>
          <p:cNvSpPr/>
          <p:nvPr/>
        </p:nvSpPr>
        <p:spPr>
          <a:xfrm>
            <a:off x="10210027" y="2966226"/>
            <a:ext cx="1016988" cy="1016988"/>
          </a:xfrm>
          <a:prstGeom prst="ellipse">
            <a:avLst/>
          </a:prstGeom>
          <a:solidFill>
            <a:srgbClr val="FFC93C"/>
          </a:solidFill>
          <a:ln/>
        </p:spPr>
      </p:sp>
      <p:pic>
        <p:nvPicPr>
          <p:cNvPr id="26" name="Image 5" descr="preencoded.png">    </p:cNvPr>
          <p:cNvPicPr>
            <a:picLocks noChangeAspect="1"/>
          </p:cNvPicPr>
          <p:nvPr/>
        </p:nvPicPr>
        <p:blipFill>
          <a:blip r:embed="rId6"/>
          <a:stretch>
            <a:fillRect/>
          </a:stretch>
        </p:blipFill>
        <p:spPr>
          <a:xfrm>
            <a:off x="10474443" y="3230643"/>
            <a:ext cx="488154" cy="488154"/>
          </a:xfrm>
          <a:prstGeom prst="rect">
            <a:avLst/>
          </a:prstGeom>
        </p:spPr>
      </p:pic>
      <p:sp>
        <p:nvSpPr>
          <p:cNvPr id="27" name="Text 18"/>
          <p:cNvSpPr txBox="1"/>
          <p:nvPr/>
        </p:nvSpPr>
        <p:spPr>
          <a:xfrm>
            <a:off x="9839706" y="4166094"/>
            <a:ext cx="1757629" cy="731520"/>
          </a:xfrm>
          <a:prstGeom prst="rect">
            <a:avLst/>
          </a:prstGeom>
          <a:noFill/>
          <a:ln/>
        </p:spPr>
        <p:txBody>
          <a:bodyPr wrap="square" lIns="0" tIns="0" rIns="0" bIns="0" rtlCol="0" anchor="t"/>
          <a:lstStyle/>
          <a:p>
            <a:pPr algn="ctr" indent="0" marL="0">
              <a:buNone/>
            </a:pPr>
            <a:r>
              <a:rPr lang="en-US" sz="1600" b="1" dirty="0">
                <a:solidFill>
                  <a:srgbClr val="14141F"/>
                </a:solidFill>
                <a:latin typeface="Arial" pitchFamily="34" charset="0"/>
                <a:ea typeface="Arial" pitchFamily="34" charset="-122"/>
                <a:cs typeface="Arial" pitchFamily="34" charset="-120"/>
              </a:rPr>
              <a:t>Final</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12</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Grow in stages</a:t>
            </a:r>
            <a:endParaRPr lang="en-US" sz="3000" dirty="0"/>
          </a:p>
        </p:txBody>
      </p:sp>
      <p:sp>
        <p:nvSpPr>
          <p:cNvPr id="5" name="Shape 2"/>
          <p:cNvSpPr/>
          <p:nvPr/>
        </p:nvSpPr>
        <p:spPr>
          <a:xfrm>
            <a:off x="914400" y="5120640"/>
            <a:ext cx="3291840" cy="1097280"/>
          </a:xfrm>
          <a:prstGeom prst="rect">
            <a:avLst/>
          </a:prstGeom>
          <a:solidFill>
            <a:srgbClr val="F4F4F8"/>
          </a:solidFill>
          <a:ln/>
        </p:spPr>
      </p:sp>
      <p:sp>
        <p:nvSpPr>
          <p:cNvPr id="6" name="Shape 3"/>
          <p:cNvSpPr/>
          <p:nvPr/>
        </p:nvSpPr>
        <p:spPr>
          <a:xfrm>
            <a:off x="1920240" y="3657600"/>
            <a:ext cx="1280160" cy="1280160"/>
          </a:xfrm>
          <a:prstGeom prst="ellipse">
            <a:avLst/>
          </a:prstGeom>
          <a:solidFill>
            <a:srgbClr val="14141F"/>
          </a:solidFill>
          <a:ln/>
        </p:spPr>
      </p:sp>
      <p:pic>
        <p:nvPicPr>
          <p:cNvPr id="7" name="Image 0" descr="preencoded.png">    </p:cNvPr>
          <p:cNvPicPr>
            <a:picLocks noChangeAspect="1"/>
          </p:cNvPicPr>
          <p:nvPr/>
        </p:nvPicPr>
        <p:blipFill>
          <a:blip r:embed="rId1"/>
          <a:stretch>
            <a:fillRect/>
          </a:stretch>
        </p:blipFill>
        <p:spPr>
          <a:xfrm>
            <a:off x="2253082" y="3990442"/>
            <a:ext cx="614477" cy="614477"/>
          </a:xfrm>
          <a:prstGeom prst="rect">
            <a:avLst/>
          </a:prstGeom>
        </p:spPr>
      </p:pic>
      <p:sp>
        <p:nvSpPr>
          <p:cNvPr id="8" name="Text 4"/>
          <p:cNvSpPr txBox="1"/>
          <p:nvPr/>
        </p:nvSpPr>
        <p:spPr>
          <a:xfrm>
            <a:off x="914400" y="5394960"/>
            <a:ext cx="3291840" cy="548640"/>
          </a:xfrm>
          <a:prstGeom prst="rect">
            <a:avLst/>
          </a:prstGeom>
          <a:noFill/>
          <a:ln/>
        </p:spPr>
        <p:txBody>
          <a:bodyPr wrap="square" lIns="0" tIns="0" rIns="0" bIns="0" rtlCol="0" anchor="t"/>
          <a:lstStyle/>
          <a:p>
            <a:pPr algn="ctr" indent="0" marL="0">
              <a:buNone/>
            </a:pPr>
            <a:r>
              <a:rPr lang="en-US" sz="2400" b="1" dirty="0">
                <a:solidFill>
                  <a:srgbClr val="14141F"/>
                </a:solidFill>
                <a:latin typeface="Arial" pitchFamily="34" charset="0"/>
                <a:ea typeface="Arial" pitchFamily="34" charset="-122"/>
                <a:cs typeface="Arial" pitchFamily="34" charset="-120"/>
              </a:rPr>
              <a:t>0–1 yr</a:t>
            </a:r>
            <a:endParaRPr lang="en-US" sz="2400" dirty="0"/>
          </a:p>
        </p:txBody>
      </p:sp>
      <p:sp>
        <p:nvSpPr>
          <p:cNvPr id="9" name="Shape 5"/>
          <p:cNvSpPr/>
          <p:nvPr/>
        </p:nvSpPr>
        <p:spPr>
          <a:xfrm>
            <a:off x="4526280" y="4114800"/>
            <a:ext cx="3291840" cy="2103120"/>
          </a:xfrm>
          <a:prstGeom prst="rect">
            <a:avLst/>
          </a:prstGeom>
          <a:solidFill>
            <a:srgbClr val="14141F"/>
          </a:solidFill>
          <a:ln/>
        </p:spPr>
      </p:sp>
      <p:sp>
        <p:nvSpPr>
          <p:cNvPr id="10" name="Shape 6"/>
          <p:cNvSpPr/>
          <p:nvPr/>
        </p:nvSpPr>
        <p:spPr>
          <a:xfrm>
            <a:off x="5532120" y="2651760"/>
            <a:ext cx="1280160" cy="1280160"/>
          </a:xfrm>
          <a:prstGeom prst="ellipse">
            <a:avLst/>
          </a:prstGeom>
          <a:solidFill>
            <a:srgbClr val="FFC93C"/>
          </a:solidFill>
          <a:ln/>
        </p:spPr>
      </p:sp>
      <p:pic>
        <p:nvPicPr>
          <p:cNvPr id="11" name="Image 1" descr="preencoded.png">    </p:cNvPr>
          <p:cNvPicPr>
            <a:picLocks noChangeAspect="1"/>
          </p:cNvPicPr>
          <p:nvPr/>
        </p:nvPicPr>
        <p:blipFill>
          <a:blip r:embed="rId2"/>
          <a:stretch>
            <a:fillRect/>
          </a:stretch>
        </p:blipFill>
        <p:spPr>
          <a:xfrm>
            <a:off x="5864962" y="2984602"/>
            <a:ext cx="614477" cy="614477"/>
          </a:xfrm>
          <a:prstGeom prst="rect">
            <a:avLst/>
          </a:prstGeom>
        </p:spPr>
      </p:pic>
      <p:sp>
        <p:nvSpPr>
          <p:cNvPr id="12" name="Text 7"/>
          <p:cNvSpPr txBox="1"/>
          <p:nvPr/>
        </p:nvSpPr>
        <p:spPr>
          <a:xfrm>
            <a:off x="4526280" y="4389120"/>
            <a:ext cx="329184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1–3 yrs</a:t>
            </a:r>
            <a:endParaRPr lang="en-US" sz="2400" dirty="0"/>
          </a:p>
        </p:txBody>
      </p:sp>
      <p:sp>
        <p:nvSpPr>
          <p:cNvPr id="13" name="Shape 8"/>
          <p:cNvSpPr/>
          <p:nvPr/>
        </p:nvSpPr>
        <p:spPr>
          <a:xfrm>
            <a:off x="8138160" y="3108960"/>
            <a:ext cx="3291840" cy="3108960"/>
          </a:xfrm>
          <a:prstGeom prst="rect">
            <a:avLst/>
          </a:prstGeom>
          <a:solidFill>
            <a:srgbClr val="FF4D3D"/>
          </a:solidFill>
          <a:ln/>
        </p:spPr>
      </p:sp>
      <p:sp>
        <p:nvSpPr>
          <p:cNvPr id="14" name="Shape 9"/>
          <p:cNvSpPr/>
          <p:nvPr/>
        </p:nvSpPr>
        <p:spPr>
          <a:xfrm>
            <a:off x="9144000" y="1645920"/>
            <a:ext cx="1280160" cy="1280160"/>
          </a:xfrm>
          <a:prstGeom prst="ellipse">
            <a:avLst/>
          </a:prstGeom>
          <a:solidFill>
            <a:srgbClr val="FFC93C"/>
          </a:solidFill>
          <a:ln/>
        </p:spPr>
      </p:sp>
      <p:pic>
        <p:nvPicPr>
          <p:cNvPr id="15" name="Image 2" descr="preencoded.png">    </p:cNvPr>
          <p:cNvPicPr>
            <a:picLocks noChangeAspect="1"/>
          </p:cNvPicPr>
          <p:nvPr/>
        </p:nvPicPr>
        <p:blipFill>
          <a:blip r:embed="rId3"/>
          <a:stretch>
            <a:fillRect/>
          </a:stretch>
        </p:blipFill>
        <p:spPr>
          <a:xfrm>
            <a:off x="9476842" y="1978762"/>
            <a:ext cx="614477" cy="614477"/>
          </a:xfrm>
          <a:prstGeom prst="rect">
            <a:avLst/>
          </a:prstGeom>
        </p:spPr>
      </p:pic>
      <p:sp>
        <p:nvSpPr>
          <p:cNvPr id="16" name="Text 10"/>
          <p:cNvSpPr txBox="1"/>
          <p:nvPr/>
        </p:nvSpPr>
        <p:spPr>
          <a:xfrm>
            <a:off x="8138160" y="3383280"/>
            <a:ext cx="329184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3+ yrs</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12</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30 · 60 · 90</a:t>
            </a:r>
            <a:endParaRPr lang="en-US" sz="3000" dirty="0"/>
          </a:p>
        </p:txBody>
      </p:sp>
      <p:sp>
        <p:nvSpPr>
          <p:cNvPr id="5" name="Shape 2"/>
          <p:cNvSpPr/>
          <p:nvPr/>
        </p:nvSpPr>
        <p:spPr>
          <a:xfrm>
            <a:off x="3403549" y="3474720"/>
            <a:ext cx="1686458" cy="0"/>
          </a:xfrm>
          <a:prstGeom prst="line">
            <a:avLst/>
          </a:prstGeom>
          <a:noFill/>
          <a:ln w="38100">
            <a:solidFill>
              <a:srgbClr val="C9C9D6"/>
            </a:solidFill>
            <a:prstDash val="solid"/>
            <a:tailEnd type="triangle"/>
          </a:ln>
        </p:spPr>
      </p:sp>
      <p:sp>
        <p:nvSpPr>
          <p:cNvPr id="6" name="Shape 3"/>
          <p:cNvSpPr/>
          <p:nvPr/>
        </p:nvSpPr>
        <p:spPr>
          <a:xfrm>
            <a:off x="7101688" y="3474720"/>
            <a:ext cx="1686458" cy="0"/>
          </a:xfrm>
          <a:prstGeom prst="line">
            <a:avLst/>
          </a:prstGeom>
          <a:noFill/>
          <a:ln w="38100">
            <a:solidFill>
              <a:srgbClr val="C9C9D6"/>
            </a:solidFill>
            <a:prstDash val="solid"/>
            <a:tailEnd type="triangle"/>
          </a:ln>
        </p:spPr>
      </p:sp>
      <p:sp>
        <p:nvSpPr>
          <p:cNvPr id="7" name="Shape 4"/>
          <p:cNvSpPr/>
          <p:nvPr/>
        </p:nvSpPr>
        <p:spPr>
          <a:xfrm>
            <a:off x="1483309" y="2560320"/>
            <a:ext cx="1828800" cy="1828800"/>
          </a:xfrm>
          <a:prstGeom prst="ellipse">
            <a:avLst/>
          </a:prstGeom>
          <a:solidFill>
            <a:srgbClr val="FF4D3D"/>
          </a:solidFill>
          <a:ln/>
        </p:spPr>
      </p:sp>
      <p:pic>
        <p:nvPicPr>
          <p:cNvPr id="8" name="Image 0" descr="preencoded.png">    </p:cNvPr>
          <p:cNvPicPr>
            <a:picLocks noChangeAspect="1"/>
          </p:cNvPicPr>
          <p:nvPr/>
        </p:nvPicPr>
        <p:blipFill>
          <a:blip r:embed="rId1"/>
          <a:stretch>
            <a:fillRect/>
          </a:stretch>
        </p:blipFill>
        <p:spPr>
          <a:xfrm>
            <a:off x="1958797" y="3035808"/>
            <a:ext cx="877824" cy="877824"/>
          </a:xfrm>
          <a:prstGeom prst="rect">
            <a:avLst/>
          </a:prstGeom>
        </p:spPr>
      </p:pic>
      <p:sp>
        <p:nvSpPr>
          <p:cNvPr id="9" name="Text 5"/>
          <p:cNvSpPr txBox="1"/>
          <p:nvPr/>
        </p:nvSpPr>
        <p:spPr>
          <a:xfrm>
            <a:off x="594360"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Learn</a:t>
            </a:r>
            <a:endParaRPr lang="en-US" sz="2200" dirty="0"/>
          </a:p>
        </p:txBody>
      </p:sp>
      <p:sp>
        <p:nvSpPr>
          <p:cNvPr id="10" name="Shape 6"/>
          <p:cNvSpPr/>
          <p:nvPr/>
        </p:nvSpPr>
        <p:spPr>
          <a:xfrm>
            <a:off x="5181448" y="2560320"/>
            <a:ext cx="1828800" cy="1828800"/>
          </a:xfrm>
          <a:prstGeom prst="ellipse">
            <a:avLst/>
          </a:prstGeom>
          <a:solidFill>
            <a:srgbClr val="14141F"/>
          </a:solidFill>
          <a:ln/>
        </p:spPr>
      </p:sp>
      <p:pic>
        <p:nvPicPr>
          <p:cNvPr id="11" name="Image 1" descr="preencoded.png">    </p:cNvPr>
          <p:cNvPicPr>
            <a:picLocks noChangeAspect="1"/>
          </p:cNvPicPr>
          <p:nvPr/>
        </p:nvPicPr>
        <p:blipFill>
          <a:blip r:embed="rId2"/>
          <a:stretch>
            <a:fillRect/>
          </a:stretch>
        </p:blipFill>
        <p:spPr>
          <a:xfrm>
            <a:off x="5656936" y="3035808"/>
            <a:ext cx="877824" cy="877824"/>
          </a:xfrm>
          <a:prstGeom prst="rect">
            <a:avLst/>
          </a:prstGeom>
        </p:spPr>
      </p:pic>
      <p:sp>
        <p:nvSpPr>
          <p:cNvPr id="12" name="Text 7"/>
          <p:cNvSpPr txBox="1"/>
          <p:nvPr/>
        </p:nvSpPr>
        <p:spPr>
          <a:xfrm>
            <a:off x="4292498"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Own</a:t>
            </a:r>
            <a:endParaRPr lang="en-US" sz="2200" dirty="0"/>
          </a:p>
        </p:txBody>
      </p:sp>
      <p:sp>
        <p:nvSpPr>
          <p:cNvPr id="13" name="Shape 8"/>
          <p:cNvSpPr/>
          <p:nvPr/>
        </p:nvSpPr>
        <p:spPr>
          <a:xfrm>
            <a:off x="8879586" y="2560320"/>
            <a:ext cx="1828800" cy="1828800"/>
          </a:xfrm>
          <a:prstGeom prst="ellipse">
            <a:avLst/>
          </a:prstGeom>
          <a:solidFill>
            <a:srgbClr val="FFC93C"/>
          </a:solidFill>
          <a:ln/>
        </p:spPr>
      </p:sp>
      <p:pic>
        <p:nvPicPr>
          <p:cNvPr id="14" name="Image 2" descr="preencoded.png">    </p:cNvPr>
          <p:cNvPicPr>
            <a:picLocks noChangeAspect="1"/>
          </p:cNvPicPr>
          <p:nvPr/>
        </p:nvPicPr>
        <p:blipFill>
          <a:blip r:embed="rId3"/>
          <a:stretch>
            <a:fillRect/>
          </a:stretch>
        </p:blipFill>
        <p:spPr>
          <a:xfrm>
            <a:off x="9355074" y="3035808"/>
            <a:ext cx="877824" cy="877824"/>
          </a:xfrm>
          <a:prstGeom prst="rect">
            <a:avLst/>
          </a:prstGeom>
        </p:spPr>
      </p:pic>
      <p:sp>
        <p:nvSpPr>
          <p:cNvPr id="15" name="Text 9"/>
          <p:cNvSpPr txBox="1"/>
          <p:nvPr/>
        </p:nvSpPr>
        <p:spPr>
          <a:xfrm>
            <a:off x="7990637" y="4572000"/>
            <a:ext cx="3606698" cy="731520"/>
          </a:xfrm>
          <a:prstGeom prst="rect">
            <a:avLst/>
          </a:prstGeom>
          <a:noFill/>
          <a:ln/>
        </p:spPr>
        <p:txBody>
          <a:bodyPr wrap="square" lIns="0" tIns="0" rIns="0" bIns="0" rtlCol="0" anchor="t"/>
          <a:lstStyle/>
          <a:p>
            <a:pPr algn="ctr" indent="0" marL="0">
              <a:buNone/>
            </a:pPr>
            <a:r>
              <a:rPr lang="en-US" sz="2200" b="1" dirty="0">
                <a:solidFill>
                  <a:srgbClr val="14141F"/>
                </a:solidFill>
                <a:latin typeface="Arial" pitchFamily="34" charset="0"/>
                <a:ea typeface="Arial" pitchFamily="34" charset="-122"/>
                <a:cs typeface="Arial" pitchFamily="34" charset="-120"/>
              </a:rPr>
              <a:t>Lead</a:t>
            </a:r>
            <a:endParaRPr lang="en-US" sz="2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12</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Culture on purpose</a:t>
            </a:r>
            <a:endParaRPr lang="en-US" sz="3000" dirty="0"/>
          </a:p>
        </p:txBody>
      </p:sp>
      <p:sp>
        <p:nvSpPr>
          <p:cNvPr id="5" name="Shape 2"/>
          <p:cNvSpPr/>
          <p:nvPr/>
        </p:nvSpPr>
        <p:spPr>
          <a:xfrm>
            <a:off x="970228" y="2786866"/>
            <a:ext cx="1375707" cy="1375707"/>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327912" y="3144550"/>
            <a:ext cx="660340" cy="660340"/>
          </a:xfrm>
          <a:prstGeom prst="rect">
            <a:avLst/>
          </a:prstGeom>
        </p:spPr>
      </p:pic>
      <p:sp>
        <p:nvSpPr>
          <p:cNvPr id="7" name="Text 3"/>
          <p:cNvSpPr txBox="1"/>
          <p:nvPr/>
        </p:nvSpPr>
        <p:spPr>
          <a:xfrm>
            <a:off x="594360"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Ownership</a:t>
            </a:r>
            <a:endParaRPr lang="en-US" sz="1800" dirty="0"/>
          </a:p>
        </p:txBody>
      </p:sp>
      <p:sp>
        <p:nvSpPr>
          <p:cNvPr id="8" name="Shape 4"/>
          <p:cNvSpPr/>
          <p:nvPr/>
        </p:nvSpPr>
        <p:spPr>
          <a:xfrm>
            <a:off x="3189111" y="2786866"/>
            <a:ext cx="1375707" cy="1375707"/>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3546795" y="3144550"/>
            <a:ext cx="660340" cy="660340"/>
          </a:xfrm>
          <a:prstGeom prst="rect">
            <a:avLst/>
          </a:prstGeom>
        </p:spPr>
      </p:pic>
      <p:sp>
        <p:nvSpPr>
          <p:cNvPr id="10" name="Text 5"/>
          <p:cNvSpPr txBox="1"/>
          <p:nvPr/>
        </p:nvSpPr>
        <p:spPr>
          <a:xfrm>
            <a:off x="2813243"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Teach</a:t>
            </a:r>
            <a:endParaRPr lang="en-US" sz="1800" dirty="0"/>
          </a:p>
        </p:txBody>
      </p:sp>
      <p:sp>
        <p:nvSpPr>
          <p:cNvPr id="11" name="Shape 6"/>
          <p:cNvSpPr/>
          <p:nvPr/>
        </p:nvSpPr>
        <p:spPr>
          <a:xfrm>
            <a:off x="5407994" y="2786866"/>
            <a:ext cx="1375707" cy="1375707"/>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5765678" y="3144550"/>
            <a:ext cx="660340" cy="660340"/>
          </a:xfrm>
          <a:prstGeom prst="rect">
            <a:avLst/>
          </a:prstGeom>
        </p:spPr>
      </p:pic>
      <p:sp>
        <p:nvSpPr>
          <p:cNvPr id="13" name="Text 7"/>
          <p:cNvSpPr txBox="1"/>
          <p:nvPr/>
        </p:nvSpPr>
        <p:spPr>
          <a:xfrm>
            <a:off x="5032126"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Their goals</a:t>
            </a:r>
            <a:endParaRPr lang="en-US" sz="1800" dirty="0"/>
          </a:p>
        </p:txBody>
      </p:sp>
      <p:sp>
        <p:nvSpPr>
          <p:cNvPr id="14" name="Shape 8"/>
          <p:cNvSpPr/>
          <p:nvPr/>
        </p:nvSpPr>
        <p:spPr>
          <a:xfrm>
            <a:off x="7626877" y="2786866"/>
            <a:ext cx="1375707" cy="1375707"/>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7984561" y="3144550"/>
            <a:ext cx="660340" cy="660340"/>
          </a:xfrm>
          <a:prstGeom prst="rect">
            <a:avLst/>
          </a:prstGeom>
        </p:spPr>
      </p:pic>
      <p:sp>
        <p:nvSpPr>
          <p:cNvPr id="16" name="Text 9"/>
          <p:cNvSpPr txBox="1"/>
          <p:nvPr/>
        </p:nvSpPr>
        <p:spPr>
          <a:xfrm>
            <a:off x="7251009"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Empathy</a:t>
            </a:r>
            <a:endParaRPr lang="en-US" sz="1800" dirty="0"/>
          </a:p>
        </p:txBody>
      </p:sp>
      <p:sp>
        <p:nvSpPr>
          <p:cNvPr id="17" name="Shape 10"/>
          <p:cNvSpPr/>
          <p:nvPr/>
        </p:nvSpPr>
        <p:spPr>
          <a:xfrm>
            <a:off x="9845760" y="2786866"/>
            <a:ext cx="1375707" cy="1375707"/>
          </a:xfrm>
          <a:prstGeom prst="ellipse">
            <a:avLst/>
          </a:prstGeom>
          <a:solidFill>
            <a:srgbClr val="14141F"/>
          </a:solidFill>
          <a:ln/>
        </p:spPr>
      </p:sp>
      <p:pic>
        <p:nvPicPr>
          <p:cNvPr id="18" name="Image 4" descr="preencoded.png">    </p:cNvPr>
          <p:cNvPicPr>
            <a:picLocks noChangeAspect="1"/>
          </p:cNvPicPr>
          <p:nvPr/>
        </p:nvPicPr>
        <p:blipFill>
          <a:blip r:embed="rId5"/>
          <a:stretch>
            <a:fillRect/>
          </a:stretch>
        </p:blipFill>
        <p:spPr>
          <a:xfrm>
            <a:off x="10203444" y="3144550"/>
            <a:ext cx="660340" cy="660340"/>
          </a:xfrm>
          <a:prstGeom prst="rect">
            <a:avLst/>
          </a:prstGeom>
        </p:spPr>
      </p:pic>
      <p:sp>
        <p:nvSpPr>
          <p:cNvPr id="19" name="Text 11"/>
          <p:cNvSpPr txBox="1"/>
          <p:nvPr/>
        </p:nvSpPr>
        <p:spPr>
          <a:xfrm>
            <a:off x="9469892" y="4345454"/>
            <a:ext cx="2127443"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Maker time</a:t>
            </a:r>
            <a:endParaRPr lang="en-US" sz="1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4141F"/>
        </a:solidFill>
      </p:bgPr>
    </p:bg>
    <p:spTree>
      <p:nvGrpSpPr>
        <p:cNvPr id="1" name=""/>
        <p:cNvGrpSpPr/>
        <p:nvPr/>
      </p:nvGrpSpPr>
      <p:grpSpPr>
        <a:xfrm>
          <a:off x="0" y="0"/>
          <a:ext cx="0" cy="0"/>
          <a:chOff x="0" y="0"/>
          <a:chExt cx="0" cy="0"/>
        </a:xfrm>
      </p:grpSpPr>
      <p:sp>
        <p:nvSpPr>
          <p:cNvPr id="2" name="Shape 0"/>
          <p:cNvSpPr/>
          <p:nvPr/>
        </p:nvSpPr>
        <p:spPr>
          <a:xfrm>
            <a:off x="1097280" y="1325880"/>
            <a:ext cx="4206240" cy="4206240"/>
          </a:xfrm>
          <a:prstGeom prst="ellipse">
            <a:avLst/>
          </a:prstGeom>
          <a:solidFill>
            <a:srgbClr val="FF4D3D"/>
          </a:solidFill>
          <a:ln/>
        </p:spPr>
      </p:sp>
      <p:sp>
        <p:nvSpPr>
          <p:cNvPr id="3" name="Text 1"/>
          <p:cNvSpPr txBox="1"/>
          <p:nvPr/>
        </p:nvSpPr>
        <p:spPr>
          <a:xfrm>
            <a:off x="1097280" y="1325880"/>
            <a:ext cx="4206240" cy="42062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13</a:t>
            </a:r>
            <a:endParaRPr lang="en-US" sz="13000" dirty="0"/>
          </a:p>
        </p:txBody>
      </p:sp>
      <p:pic>
        <p:nvPicPr>
          <p:cNvPr id="4" name="Image 0" descr="preencoded.png">    </p:cNvPr>
          <p:cNvPicPr>
            <a:picLocks noChangeAspect="1"/>
          </p:cNvPicPr>
          <p:nvPr/>
        </p:nvPicPr>
        <p:blipFill>
          <a:blip r:embed="rId1"/>
          <a:stretch>
            <a:fillRect/>
          </a:stretch>
        </p:blipFill>
        <p:spPr>
          <a:xfrm>
            <a:off x="6035040" y="1554480"/>
            <a:ext cx="1188720" cy="1188720"/>
          </a:xfrm>
          <a:prstGeom prst="rect">
            <a:avLst/>
          </a:prstGeom>
        </p:spPr>
      </p:pic>
      <p:sp>
        <p:nvSpPr>
          <p:cNvPr id="5" name="Text 2"/>
          <p:cNvSpPr txBox="1"/>
          <p:nvPr/>
        </p:nvSpPr>
        <p:spPr>
          <a:xfrm>
            <a:off x="6035040" y="3017520"/>
            <a:ext cx="5577840" cy="20116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Future &amp; lessons</a:t>
            </a:r>
            <a:endParaRPr lang="en-US" sz="4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13</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The window is closing</a:t>
            </a:r>
            <a:endParaRPr lang="en-US" sz="3000" dirty="0"/>
          </a:p>
        </p:txBody>
      </p:sp>
      <p:sp>
        <p:nvSpPr>
          <p:cNvPr id="5" name="Shape 2"/>
          <p:cNvSpPr/>
          <p:nvPr/>
        </p:nvSpPr>
        <p:spPr>
          <a:xfrm>
            <a:off x="822960" y="3840480"/>
            <a:ext cx="8412480" cy="822960"/>
          </a:xfrm>
          <a:prstGeom prst="roundRect">
            <a:avLst>
              <a:gd name="adj" fmla="val 22222"/>
            </a:avLst>
          </a:prstGeom>
          <a:solidFill>
            <a:srgbClr val="FF4D3D"/>
          </a:solidFill>
          <a:ln/>
        </p:spPr>
      </p:sp>
      <p:sp>
        <p:nvSpPr>
          <p:cNvPr id="6" name="Shape 3"/>
          <p:cNvSpPr/>
          <p:nvPr/>
        </p:nvSpPr>
        <p:spPr>
          <a:xfrm>
            <a:off x="9418320" y="3840480"/>
            <a:ext cx="1737360" cy="822960"/>
          </a:xfrm>
          <a:prstGeom prst="roundRect">
            <a:avLst>
              <a:gd name="adj" fmla="val 22222"/>
            </a:avLst>
          </a:prstGeom>
          <a:solidFill>
            <a:srgbClr val="F4F4F8"/>
          </a:solidFill>
          <a:ln/>
        </p:spPr>
      </p:sp>
      <p:sp>
        <p:nvSpPr>
          <p:cNvPr id="7" name="Text 4"/>
          <p:cNvSpPr txBox="1"/>
          <p:nvPr/>
        </p:nvSpPr>
        <p:spPr>
          <a:xfrm>
            <a:off x="822960" y="4846320"/>
            <a:ext cx="1371600" cy="548640"/>
          </a:xfrm>
          <a:prstGeom prst="rect">
            <a:avLst/>
          </a:prstGeom>
          <a:noFill/>
          <a:ln/>
        </p:spPr>
        <p:txBody>
          <a:bodyPr wrap="square" lIns="0" tIns="0" rIns="0" bIns="0" rtlCol="0" anchor="t"/>
          <a:lstStyle/>
          <a:p>
            <a:pPr indent="0" marL="0">
              <a:buNone/>
            </a:pPr>
            <a:r>
              <a:rPr lang="en-US" sz="2400" b="1" dirty="0">
                <a:solidFill>
                  <a:srgbClr val="14141F"/>
                </a:solidFill>
                <a:latin typeface="Arial" pitchFamily="34" charset="0"/>
                <a:ea typeface="Arial" pitchFamily="34" charset="-122"/>
                <a:cs typeface="Arial" pitchFamily="34" charset="-120"/>
              </a:rPr>
              <a:t>2008</a:t>
            </a:r>
            <a:endParaRPr lang="en-US" sz="2400" dirty="0"/>
          </a:p>
        </p:txBody>
      </p:sp>
      <p:sp>
        <p:nvSpPr>
          <p:cNvPr id="8" name="Text 5"/>
          <p:cNvSpPr txBox="1"/>
          <p:nvPr/>
        </p:nvSpPr>
        <p:spPr>
          <a:xfrm>
            <a:off x="8229600" y="4846320"/>
            <a:ext cx="1371600" cy="548640"/>
          </a:xfrm>
          <a:prstGeom prst="rect">
            <a:avLst/>
          </a:prstGeom>
          <a:noFill/>
          <a:ln/>
        </p:spPr>
        <p:txBody>
          <a:bodyPr wrap="square" lIns="0" tIns="0" rIns="0" bIns="0" rtlCol="0" anchor="t"/>
          <a:lstStyle/>
          <a:p>
            <a:pPr algn="r" indent="0" marL="0">
              <a:buNone/>
            </a:pPr>
            <a:r>
              <a:rPr lang="en-US" sz="2400" b="1" dirty="0">
                <a:solidFill>
                  <a:srgbClr val="14141F"/>
                </a:solidFill>
                <a:latin typeface="Arial" pitchFamily="34" charset="0"/>
                <a:ea typeface="Arial" pitchFamily="34" charset="-122"/>
                <a:cs typeface="Arial" pitchFamily="34" charset="-120"/>
              </a:rPr>
              <a:t>2028</a:t>
            </a:r>
            <a:endParaRPr lang="en-US" sz="2400" dirty="0"/>
          </a:p>
        </p:txBody>
      </p:sp>
      <p:pic>
        <p:nvPicPr>
          <p:cNvPr id="9" name="Image 0" descr="preencoded.png">    </p:cNvPr>
          <p:cNvPicPr>
            <a:picLocks noChangeAspect="1"/>
          </p:cNvPicPr>
          <p:nvPr/>
        </p:nvPicPr>
        <p:blipFill>
          <a:blip r:embed="rId1"/>
          <a:stretch>
            <a:fillRect/>
          </a:stretch>
        </p:blipFill>
        <p:spPr>
          <a:xfrm>
            <a:off x="4389120" y="2286000"/>
            <a:ext cx="1188720" cy="1188720"/>
          </a:xfrm>
          <a:prstGeom prst="rect">
            <a:avLst/>
          </a:prstGeom>
        </p:spPr>
      </p:pic>
      <p:pic>
        <p:nvPicPr>
          <p:cNvPr id="10" name="Image 1" descr="preencoded.png">    </p:cNvPr>
          <p:cNvPicPr>
            <a:picLocks noChangeAspect="1"/>
          </p:cNvPicPr>
          <p:nvPr/>
        </p:nvPicPr>
        <p:blipFill>
          <a:blip r:embed="rId2"/>
          <a:stretch>
            <a:fillRect/>
          </a:stretch>
        </p:blipFill>
        <p:spPr>
          <a:xfrm>
            <a:off x="9601200" y="2286000"/>
            <a:ext cx="1188720" cy="1188720"/>
          </a:xfrm>
          <a:prstGeom prst="rect">
            <a:avLst/>
          </a:prstGeom>
        </p:spPr>
      </p:pic>
      <p:pic>
        <p:nvPicPr>
          <p:cNvPr id="11" name="Image 2" descr="preencoded.png">    </p:cNvPr>
          <p:cNvPicPr>
            <a:picLocks noChangeAspect="1"/>
          </p:cNvPicPr>
          <p:nvPr/>
        </p:nvPicPr>
        <p:blipFill>
          <a:blip r:embed="rId3"/>
          <a:stretch>
            <a:fillRect/>
          </a:stretch>
        </p:blipFill>
        <p:spPr>
          <a:xfrm>
            <a:off x="10012680" y="3977640"/>
            <a:ext cx="548640" cy="54864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13</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Build your moat</a:t>
            </a:r>
            <a:endParaRPr lang="en-US" sz="3000" dirty="0"/>
          </a:p>
        </p:txBody>
      </p:sp>
      <p:sp>
        <p:nvSpPr>
          <p:cNvPr id="5" name="Shape 2"/>
          <p:cNvSpPr/>
          <p:nvPr/>
        </p:nvSpPr>
        <p:spPr>
          <a:xfrm>
            <a:off x="1075625" y="2614903"/>
            <a:ext cx="1719634" cy="1719634"/>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522730" y="3062008"/>
            <a:ext cx="825424" cy="825424"/>
          </a:xfrm>
          <a:prstGeom prst="rect">
            <a:avLst/>
          </a:prstGeom>
        </p:spPr>
      </p:pic>
      <p:sp>
        <p:nvSpPr>
          <p:cNvPr id="7" name="Text 3"/>
          <p:cNvSpPr txBox="1"/>
          <p:nvPr/>
        </p:nvSpPr>
        <p:spPr>
          <a:xfrm>
            <a:off x="594360"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Own a term</a:t>
            </a:r>
            <a:endParaRPr lang="en-US" sz="1800" dirty="0"/>
          </a:p>
        </p:txBody>
      </p:sp>
      <p:sp>
        <p:nvSpPr>
          <p:cNvPr id="8" name="Shape 4"/>
          <p:cNvSpPr/>
          <p:nvPr/>
        </p:nvSpPr>
        <p:spPr>
          <a:xfrm>
            <a:off x="3849229" y="2614903"/>
            <a:ext cx="1719634" cy="1719634"/>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4296333" y="3062008"/>
            <a:ext cx="825424" cy="825424"/>
          </a:xfrm>
          <a:prstGeom prst="rect">
            <a:avLst/>
          </a:prstGeom>
        </p:spPr>
      </p:pic>
      <p:sp>
        <p:nvSpPr>
          <p:cNvPr id="10" name="Text 5"/>
          <p:cNvSpPr txBox="1"/>
          <p:nvPr/>
        </p:nvSpPr>
        <p:spPr>
          <a:xfrm>
            <a:off x="3367964"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One-of-one</a:t>
            </a:r>
            <a:endParaRPr lang="en-US" sz="1800" dirty="0"/>
          </a:p>
        </p:txBody>
      </p:sp>
      <p:sp>
        <p:nvSpPr>
          <p:cNvPr id="11" name="Shape 6"/>
          <p:cNvSpPr/>
          <p:nvPr/>
        </p:nvSpPr>
        <p:spPr>
          <a:xfrm>
            <a:off x="6622832" y="2614903"/>
            <a:ext cx="1719634" cy="1719634"/>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7069937" y="3062008"/>
            <a:ext cx="825424" cy="825424"/>
          </a:xfrm>
          <a:prstGeom prst="rect">
            <a:avLst/>
          </a:prstGeom>
        </p:spPr>
      </p:pic>
      <p:sp>
        <p:nvSpPr>
          <p:cNvPr id="13" name="Text 7"/>
          <p:cNvSpPr txBox="1"/>
          <p:nvPr/>
        </p:nvSpPr>
        <p:spPr>
          <a:xfrm>
            <a:off x="6141568"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Own email</a:t>
            </a:r>
            <a:endParaRPr lang="en-US" sz="1800" dirty="0"/>
          </a:p>
        </p:txBody>
      </p:sp>
      <p:sp>
        <p:nvSpPr>
          <p:cNvPr id="14" name="Shape 8"/>
          <p:cNvSpPr/>
          <p:nvPr/>
        </p:nvSpPr>
        <p:spPr>
          <a:xfrm>
            <a:off x="9396436" y="2614903"/>
            <a:ext cx="1719634" cy="1719634"/>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9843541" y="3062008"/>
            <a:ext cx="825424" cy="825424"/>
          </a:xfrm>
          <a:prstGeom prst="rect">
            <a:avLst/>
          </a:prstGeom>
        </p:spPr>
      </p:pic>
      <p:sp>
        <p:nvSpPr>
          <p:cNvPr id="16" name="Text 9"/>
          <p:cNvSpPr txBox="1"/>
          <p:nvPr/>
        </p:nvSpPr>
        <p:spPr>
          <a:xfrm>
            <a:off x="8915171"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Attention skill</a:t>
            </a:r>
            <a:endParaRPr lang="en-US" sz="1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274320"/>
          </a:xfrm>
          <a:prstGeom prst="rect">
            <a:avLst/>
          </a:prstGeom>
          <a:noFill/>
          <a:ln/>
        </p:spPr>
        <p:txBody>
          <a:bodyPr wrap="square" lIns="0" tIns="0" rIns="0" bIns="0" rtlCol="0" anchor="t"/>
          <a:lstStyle/>
          <a:p>
            <a:pPr indent="0" marL="0">
              <a:buNone/>
            </a:pPr>
            <a:r>
              <a:rPr lang="en-US" sz="1100" b="1" spc="200" kern="0" dirty="0">
                <a:solidFill>
                  <a:srgbClr val="FF4D3D"/>
                </a:solidFill>
                <a:latin typeface="Arial" pitchFamily="34" charset="0"/>
                <a:ea typeface="Arial" pitchFamily="34" charset="-122"/>
                <a:cs typeface="Arial" pitchFamily="34" charset="-120"/>
              </a:rPr>
              <a:t>PHASE 13</a:t>
            </a:r>
            <a:endParaRPr lang="en-US" sz="1100" dirty="0"/>
          </a:p>
        </p:txBody>
      </p:sp>
      <p:sp>
        <p:nvSpPr>
          <p:cNvPr id="3" name="Text 1"/>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14141F"/>
                </a:solidFill>
                <a:latin typeface="Arial" pitchFamily="34" charset="0"/>
                <a:ea typeface="Arial" pitchFamily="34" charset="-122"/>
                <a:cs typeface="Arial" pitchFamily="34" charset="-120"/>
              </a:rPr>
              <a:t>Lessons from the field</a:t>
            </a:r>
            <a:endParaRPr lang="en-US" sz="3000" dirty="0"/>
          </a:p>
        </p:txBody>
      </p:sp>
      <p:sp>
        <p:nvSpPr>
          <p:cNvPr id="5" name="Shape 2"/>
          <p:cNvSpPr/>
          <p:nvPr/>
        </p:nvSpPr>
        <p:spPr>
          <a:xfrm>
            <a:off x="1075625" y="2614903"/>
            <a:ext cx="1719634" cy="1719634"/>
          </a:xfrm>
          <a:prstGeom prst="ellipse">
            <a:avLst/>
          </a:prstGeom>
          <a:solidFill>
            <a:srgbClr val="FF4D3D"/>
          </a:solidFill>
          <a:ln/>
        </p:spPr>
      </p:sp>
      <p:pic>
        <p:nvPicPr>
          <p:cNvPr id="6" name="Image 0" descr="preencoded.png">    </p:cNvPr>
          <p:cNvPicPr>
            <a:picLocks noChangeAspect="1"/>
          </p:cNvPicPr>
          <p:nvPr/>
        </p:nvPicPr>
        <p:blipFill>
          <a:blip r:embed="rId1"/>
          <a:stretch>
            <a:fillRect/>
          </a:stretch>
        </p:blipFill>
        <p:spPr>
          <a:xfrm>
            <a:off x="1522730" y="3062008"/>
            <a:ext cx="825424" cy="825424"/>
          </a:xfrm>
          <a:prstGeom prst="rect">
            <a:avLst/>
          </a:prstGeom>
        </p:spPr>
      </p:pic>
      <p:sp>
        <p:nvSpPr>
          <p:cNvPr id="7" name="Text 3"/>
          <p:cNvSpPr txBox="1"/>
          <p:nvPr/>
        </p:nvSpPr>
        <p:spPr>
          <a:xfrm>
            <a:off x="594360"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$1M plan</a:t>
            </a:r>
            <a:endParaRPr lang="en-US" sz="1800" dirty="0"/>
          </a:p>
        </p:txBody>
      </p:sp>
      <p:sp>
        <p:nvSpPr>
          <p:cNvPr id="8" name="Shape 4"/>
          <p:cNvSpPr/>
          <p:nvPr/>
        </p:nvSpPr>
        <p:spPr>
          <a:xfrm>
            <a:off x="3849229" y="2614903"/>
            <a:ext cx="1719634" cy="1719634"/>
          </a:xfrm>
          <a:prstGeom prst="ellipse">
            <a:avLst/>
          </a:prstGeom>
          <a:solidFill>
            <a:srgbClr val="14141F"/>
          </a:solidFill>
          <a:ln/>
        </p:spPr>
      </p:sp>
      <p:pic>
        <p:nvPicPr>
          <p:cNvPr id="9" name="Image 1" descr="preencoded.png">    </p:cNvPr>
          <p:cNvPicPr>
            <a:picLocks noChangeAspect="1"/>
          </p:cNvPicPr>
          <p:nvPr/>
        </p:nvPicPr>
        <p:blipFill>
          <a:blip r:embed="rId2"/>
          <a:stretch>
            <a:fillRect/>
          </a:stretch>
        </p:blipFill>
        <p:spPr>
          <a:xfrm>
            <a:off x="4296333" y="3062008"/>
            <a:ext cx="825424" cy="825424"/>
          </a:xfrm>
          <a:prstGeom prst="rect">
            <a:avLst/>
          </a:prstGeom>
        </p:spPr>
      </p:pic>
      <p:sp>
        <p:nvSpPr>
          <p:cNvPr id="10" name="Text 5"/>
          <p:cNvSpPr txBox="1"/>
          <p:nvPr/>
        </p:nvSpPr>
        <p:spPr>
          <a:xfrm>
            <a:off x="3367964"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Skills</a:t>
            </a:r>
            <a:endParaRPr lang="en-US" sz="1800" dirty="0"/>
          </a:p>
        </p:txBody>
      </p:sp>
      <p:sp>
        <p:nvSpPr>
          <p:cNvPr id="11" name="Shape 6"/>
          <p:cNvSpPr/>
          <p:nvPr/>
        </p:nvSpPr>
        <p:spPr>
          <a:xfrm>
            <a:off x="6622832" y="2614903"/>
            <a:ext cx="1719634" cy="1719634"/>
          </a:xfrm>
          <a:prstGeom prst="ellipse">
            <a:avLst/>
          </a:prstGeom>
          <a:solidFill>
            <a:srgbClr val="FFC93C"/>
          </a:solidFill>
          <a:ln/>
        </p:spPr>
      </p:sp>
      <p:pic>
        <p:nvPicPr>
          <p:cNvPr id="12" name="Image 2" descr="preencoded.png">    </p:cNvPr>
          <p:cNvPicPr>
            <a:picLocks noChangeAspect="1"/>
          </p:cNvPicPr>
          <p:nvPr/>
        </p:nvPicPr>
        <p:blipFill>
          <a:blip r:embed="rId3"/>
          <a:stretch>
            <a:fillRect/>
          </a:stretch>
        </p:blipFill>
        <p:spPr>
          <a:xfrm>
            <a:off x="7069937" y="3062008"/>
            <a:ext cx="825424" cy="825424"/>
          </a:xfrm>
          <a:prstGeom prst="rect">
            <a:avLst/>
          </a:prstGeom>
        </p:spPr>
      </p:pic>
      <p:sp>
        <p:nvSpPr>
          <p:cNvPr id="13" name="Text 7"/>
          <p:cNvSpPr txBox="1"/>
          <p:nvPr/>
        </p:nvSpPr>
        <p:spPr>
          <a:xfrm>
            <a:off x="6141568"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Presence</a:t>
            </a:r>
            <a:endParaRPr lang="en-US" sz="1800" dirty="0"/>
          </a:p>
        </p:txBody>
      </p:sp>
      <p:sp>
        <p:nvSpPr>
          <p:cNvPr id="14" name="Shape 8"/>
          <p:cNvSpPr/>
          <p:nvPr/>
        </p:nvSpPr>
        <p:spPr>
          <a:xfrm>
            <a:off x="9396436" y="2614903"/>
            <a:ext cx="1719634" cy="1719634"/>
          </a:xfrm>
          <a:prstGeom prst="ellipse">
            <a:avLst/>
          </a:prstGeom>
          <a:solidFill>
            <a:srgbClr val="FF4D3D"/>
          </a:solidFill>
          <a:ln/>
        </p:spPr>
      </p:sp>
      <p:pic>
        <p:nvPicPr>
          <p:cNvPr id="15" name="Image 3" descr="preencoded.png">    </p:cNvPr>
          <p:cNvPicPr>
            <a:picLocks noChangeAspect="1"/>
          </p:cNvPicPr>
          <p:nvPr/>
        </p:nvPicPr>
        <p:blipFill>
          <a:blip r:embed="rId4"/>
          <a:stretch>
            <a:fillRect/>
          </a:stretch>
        </p:blipFill>
        <p:spPr>
          <a:xfrm>
            <a:off x="9843541" y="3062008"/>
            <a:ext cx="825424" cy="825424"/>
          </a:xfrm>
          <a:prstGeom prst="rect">
            <a:avLst/>
          </a:prstGeom>
        </p:spPr>
      </p:pic>
      <p:sp>
        <p:nvSpPr>
          <p:cNvPr id="16" name="Text 9"/>
          <p:cNvSpPr txBox="1"/>
          <p:nvPr/>
        </p:nvSpPr>
        <p:spPr>
          <a:xfrm>
            <a:off x="8915171" y="4517417"/>
            <a:ext cx="2682164" cy="731520"/>
          </a:xfrm>
          <a:prstGeom prst="rect">
            <a:avLst/>
          </a:prstGeom>
          <a:noFill/>
          <a:ln/>
        </p:spPr>
        <p:txBody>
          <a:bodyPr wrap="square" lIns="0" tIns="0" rIns="0" bIns="0" rtlCol="0" anchor="t"/>
          <a:lstStyle/>
          <a:p>
            <a:pPr algn="ctr" indent="0" marL="0">
              <a:buNone/>
            </a:pPr>
            <a:r>
              <a:rPr lang="en-US" sz="1800" b="1" dirty="0">
                <a:solidFill>
                  <a:srgbClr val="14141F"/>
                </a:solidFill>
                <a:latin typeface="Arial" pitchFamily="34" charset="0"/>
                <a:ea typeface="Arial" pitchFamily="34" charset="-122"/>
                <a:cs typeface="Arial" pitchFamily="34" charset="-120"/>
              </a:rPr>
              <a:t>Machines</a:t>
            </a:r>
            <a:endParaRPr lang="en-US" sz="1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4141F"/>
        </a:solidFill>
      </p:bgPr>
    </p:bg>
    <p:spTree>
      <p:nvGrpSpPr>
        <p:cNvPr id="1" name=""/>
        <p:cNvGrpSpPr/>
        <p:nvPr/>
      </p:nvGrpSpPr>
      <p:grpSpPr>
        <a:xfrm>
          <a:off x="0" y="0"/>
          <a:ext cx="0" cy="0"/>
          <a:chOff x="0" y="0"/>
          <a:chExt cx="0" cy="0"/>
        </a:xfrm>
      </p:grpSpPr>
      <p:sp>
        <p:nvSpPr>
          <p:cNvPr id="2" name="Text 0"/>
          <p:cNvSpPr txBox="1"/>
          <p:nvPr/>
        </p:nvSpPr>
        <p:spPr>
          <a:xfrm>
            <a:off x="548640" y="594360"/>
            <a:ext cx="11094415"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Start the machine</a:t>
            </a:r>
            <a:endParaRPr lang="en-US" sz="3000" dirty="0"/>
          </a:p>
        </p:txBody>
      </p:sp>
      <p:sp>
        <p:nvSpPr>
          <p:cNvPr id="4" name="Shape 1"/>
          <p:cNvSpPr/>
          <p:nvPr/>
        </p:nvSpPr>
        <p:spPr>
          <a:xfrm>
            <a:off x="701018" y="2651760"/>
            <a:ext cx="1280160" cy="1280160"/>
          </a:xfrm>
          <a:prstGeom prst="ellipse">
            <a:avLst/>
          </a:prstGeom>
          <a:solidFill>
            <a:srgbClr val="FF4D3D"/>
          </a:solidFill>
          <a:ln/>
        </p:spPr>
      </p:sp>
      <p:pic>
        <p:nvPicPr>
          <p:cNvPr id="5" name="Image 0" descr="preencoded.png">    </p:cNvPr>
          <p:cNvPicPr>
            <a:picLocks noChangeAspect="1"/>
          </p:cNvPicPr>
          <p:nvPr/>
        </p:nvPicPr>
        <p:blipFill>
          <a:blip r:embed="rId1"/>
          <a:stretch>
            <a:fillRect/>
          </a:stretch>
        </p:blipFill>
        <p:spPr>
          <a:xfrm>
            <a:off x="1033860" y="2984602"/>
            <a:ext cx="614477" cy="614477"/>
          </a:xfrm>
          <a:prstGeom prst="rect">
            <a:avLst/>
          </a:prstGeom>
        </p:spPr>
      </p:pic>
      <p:sp>
        <p:nvSpPr>
          <p:cNvPr id="6" name="Text 2"/>
          <p:cNvSpPr txBox="1"/>
          <p:nvPr/>
        </p:nvSpPr>
        <p:spPr>
          <a:xfrm>
            <a:off x="883898" y="4160520"/>
            <a:ext cx="914400" cy="548640"/>
          </a:xfrm>
          <a:prstGeom prst="rect">
            <a:avLst/>
          </a:prstGeom>
          <a:noFill/>
          <a:ln/>
        </p:spPr>
        <p:txBody>
          <a:bodyPr wrap="square" lIns="0" tIns="0" rIns="0" bIns="0" rtlCol="0" anchor="t"/>
          <a:lstStyle/>
          <a:p>
            <a:pPr algn="ctr" indent="0" marL="0">
              <a:buNone/>
            </a:pPr>
            <a:r>
              <a:rPr lang="en-US" sz="2600" b="1" dirty="0">
                <a:solidFill>
                  <a:srgbClr val="FFC93C"/>
                </a:solidFill>
                <a:latin typeface="Arial" pitchFamily="34" charset="0"/>
                <a:ea typeface="Arial" pitchFamily="34" charset="-122"/>
                <a:cs typeface="Arial" pitchFamily="34" charset="-120"/>
              </a:rPr>
              <a:t>1</a:t>
            </a:r>
            <a:endParaRPr lang="en-US" sz="2600" dirty="0"/>
          </a:p>
        </p:txBody>
      </p:sp>
      <p:sp>
        <p:nvSpPr>
          <p:cNvPr id="7" name="Shape 3"/>
          <p:cNvSpPr/>
          <p:nvPr/>
        </p:nvSpPr>
        <p:spPr>
          <a:xfrm>
            <a:off x="2285935" y="2651760"/>
            <a:ext cx="1280160" cy="1280160"/>
          </a:xfrm>
          <a:prstGeom prst="ellipse">
            <a:avLst/>
          </a:prstGeom>
          <a:solidFill>
            <a:srgbClr val="FF4D3D"/>
          </a:solidFill>
          <a:ln/>
        </p:spPr>
      </p:sp>
      <p:pic>
        <p:nvPicPr>
          <p:cNvPr id="8" name="Image 1" descr="preencoded.png">    </p:cNvPr>
          <p:cNvPicPr>
            <a:picLocks noChangeAspect="1"/>
          </p:cNvPicPr>
          <p:nvPr/>
        </p:nvPicPr>
        <p:blipFill>
          <a:blip r:embed="rId2"/>
          <a:stretch>
            <a:fillRect/>
          </a:stretch>
        </p:blipFill>
        <p:spPr>
          <a:xfrm>
            <a:off x="2618776" y="2984602"/>
            <a:ext cx="614477" cy="614477"/>
          </a:xfrm>
          <a:prstGeom prst="rect">
            <a:avLst/>
          </a:prstGeom>
        </p:spPr>
      </p:pic>
      <p:sp>
        <p:nvSpPr>
          <p:cNvPr id="9" name="Text 4"/>
          <p:cNvSpPr txBox="1"/>
          <p:nvPr/>
        </p:nvSpPr>
        <p:spPr>
          <a:xfrm>
            <a:off x="2468815" y="4160520"/>
            <a:ext cx="914400" cy="548640"/>
          </a:xfrm>
          <a:prstGeom prst="rect">
            <a:avLst/>
          </a:prstGeom>
          <a:noFill/>
          <a:ln/>
        </p:spPr>
        <p:txBody>
          <a:bodyPr wrap="square" lIns="0" tIns="0" rIns="0" bIns="0" rtlCol="0" anchor="t"/>
          <a:lstStyle/>
          <a:p>
            <a:pPr algn="ctr" indent="0" marL="0">
              <a:buNone/>
            </a:pPr>
            <a:r>
              <a:rPr lang="en-US" sz="2600" b="1" dirty="0">
                <a:solidFill>
                  <a:srgbClr val="FFC93C"/>
                </a:solidFill>
                <a:latin typeface="Arial" pitchFamily="34" charset="0"/>
                <a:ea typeface="Arial" pitchFamily="34" charset="-122"/>
                <a:cs typeface="Arial" pitchFamily="34" charset="-120"/>
              </a:rPr>
              <a:t>2</a:t>
            </a:r>
            <a:endParaRPr lang="en-US" sz="2600" dirty="0"/>
          </a:p>
        </p:txBody>
      </p:sp>
      <p:sp>
        <p:nvSpPr>
          <p:cNvPr id="10" name="Shape 5"/>
          <p:cNvSpPr/>
          <p:nvPr/>
        </p:nvSpPr>
        <p:spPr>
          <a:xfrm>
            <a:off x="3870851" y="2651760"/>
            <a:ext cx="1280160" cy="1280160"/>
          </a:xfrm>
          <a:prstGeom prst="ellipse">
            <a:avLst/>
          </a:prstGeom>
          <a:solidFill>
            <a:srgbClr val="FF4D3D"/>
          </a:solidFill>
          <a:ln/>
        </p:spPr>
      </p:sp>
      <p:pic>
        <p:nvPicPr>
          <p:cNvPr id="11" name="Image 2" descr="preencoded.png">    </p:cNvPr>
          <p:cNvPicPr>
            <a:picLocks noChangeAspect="1"/>
          </p:cNvPicPr>
          <p:nvPr/>
        </p:nvPicPr>
        <p:blipFill>
          <a:blip r:embed="rId3"/>
          <a:stretch>
            <a:fillRect/>
          </a:stretch>
        </p:blipFill>
        <p:spPr>
          <a:xfrm>
            <a:off x="4203693" y="2984602"/>
            <a:ext cx="614477" cy="614477"/>
          </a:xfrm>
          <a:prstGeom prst="rect">
            <a:avLst/>
          </a:prstGeom>
        </p:spPr>
      </p:pic>
      <p:sp>
        <p:nvSpPr>
          <p:cNvPr id="12" name="Text 6"/>
          <p:cNvSpPr txBox="1"/>
          <p:nvPr/>
        </p:nvSpPr>
        <p:spPr>
          <a:xfrm>
            <a:off x="4053731" y="4160520"/>
            <a:ext cx="914400" cy="548640"/>
          </a:xfrm>
          <a:prstGeom prst="rect">
            <a:avLst/>
          </a:prstGeom>
          <a:noFill/>
          <a:ln/>
        </p:spPr>
        <p:txBody>
          <a:bodyPr wrap="square" lIns="0" tIns="0" rIns="0" bIns="0" rtlCol="0" anchor="t"/>
          <a:lstStyle/>
          <a:p>
            <a:pPr algn="ctr" indent="0" marL="0">
              <a:buNone/>
            </a:pPr>
            <a:r>
              <a:rPr lang="en-US" sz="2600" b="1" dirty="0">
                <a:solidFill>
                  <a:srgbClr val="FFC93C"/>
                </a:solidFill>
                <a:latin typeface="Arial" pitchFamily="34" charset="0"/>
                <a:ea typeface="Arial" pitchFamily="34" charset="-122"/>
                <a:cs typeface="Arial" pitchFamily="34" charset="-120"/>
              </a:rPr>
              <a:t>3</a:t>
            </a:r>
            <a:endParaRPr lang="en-US" sz="2600" dirty="0"/>
          </a:p>
        </p:txBody>
      </p:sp>
      <p:sp>
        <p:nvSpPr>
          <p:cNvPr id="13" name="Shape 7"/>
          <p:cNvSpPr/>
          <p:nvPr/>
        </p:nvSpPr>
        <p:spPr>
          <a:xfrm>
            <a:off x="5455768" y="2651760"/>
            <a:ext cx="1280160" cy="1280160"/>
          </a:xfrm>
          <a:prstGeom prst="ellipse">
            <a:avLst/>
          </a:prstGeom>
          <a:solidFill>
            <a:srgbClr val="FF4D3D"/>
          </a:solidFill>
          <a:ln/>
        </p:spPr>
      </p:sp>
      <p:pic>
        <p:nvPicPr>
          <p:cNvPr id="14" name="Image 3" descr="preencoded.png">    </p:cNvPr>
          <p:cNvPicPr>
            <a:picLocks noChangeAspect="1"/>
          </p:cNvPicPr>
          <p:nvPr/>
        </p:nvPicPr>
        <p:blipFill>
          <a:blip r:embed="rId4"/>
          <a:stretch>
            <a:fillRect/>
          </a:stretch>
        </p:blipFill>
        <p:spPr>
          <a:xfrm>
            <a:off x="5788609" y="2984602"/>
            <a:ext cx="614477" cy="614477"/>
          </a:xfrm>
          <a:prstGeom prst="rect">
            <a:avLst/>
          </a:prstGeom>
        </p:spPr>
      </p:pic>
      <p:sp>
        <p:nvSpPr>
          <p:cNvPr id="15" name="Text 8"/>
          <p:cNvSpPr txBox="1"/>
          <p:nvPr/>
        </p:nvSpPr>
        <p:spPr>
          <a:xfrm>
            <a:off x="5638648" y="4160520"/>
            <a:ext cx="914400" cy="548640"/>
          </a:xfrm>
          <a:prstGeom prst="rect">
            <a:avLst/>
          </a:prstGeom>
          <a:noFill/>
          <a:ln/>
        </p:spPr>
        <p:txBody>
          <a:bodyPr wrap="square" lIns="0" tIns="0" rIns="0" bIns="0" rtlCol="0" anchor="t"/>
          <a:lstStyle/>
          <a:p>
            <a:pPr algn="ctr" indent="0" marL="0">
              <a:buNone/>
            </a:pPr>
            <a:r>
              <a:rPr lang="en-US" sz="2600" b="1" dirty="0">
                <a:solidFill>
                  <a:srgbClr val="FFC93C"/>
                </a:solidFill>
                <a:latin typeface="Arial" pitchFamily="34" charset="0"/>
                <a:ea typeface="Arial" pitchFamily="34" charset="-122"/>
                <a:cs typeface="Arial" pitchFamily="34" charset="-120"/>
              </a:rPr>
              <a:t>4</a:t>
            </a:r>
            <a:endParaRPr lang="en-US" sz="2600" dirty="0"/>
          </a:p>
        </p:txBody>
      </p:sp>
      <p:sp>
        <p:nvSpPr>
          <p:cNvPr id="16" name="Shape 9"/>
          <p:cNvSpPr/>
          <p:nvPr/>
        </p:nvSpPr>
        <p:spPr>
          <a:xfrm>
            <a:off x="7040684" y="2651760"/>
            <a:ext cx="1280160" cy="1280160"/>
          </a:xfrm>
          <a:prstGeom prst="ellipse">
            <a:avLst/>
          </a:prstGeom>
          <a:solidFill>
            <a:srgbClr val="FF4D3D"/>
          </a:solidFill>
          <a:ln/>
        </p:spPr>
      </p:sp>
      <p:pic>
        <p:nvPicPr>
          <p:cNvPr id="17" name="Image 4" descr="preencoded.png">    </p:cNvPr>
          <p:cNvPicPr>
            <a:picLocks noChangeAspect="1"/>
          </p:cNvPicPr>
          <p:nvPr/>
        </p:nvPicPr>
        <p:blipFill>
          <a:blip r:embed="rId5"/>
          <a:stretch>
            <a:fillRect/>
          </a:stretch>
        </p:blipFill>
        <p:spPr>
          <a:xfrm>
            <a:off x="7373526" y="2984602"/>
            <a:ext cx="614477" cy="614477"/>
          </a:xfrm>
          <a:prstGeom prst="rect">
            <a:avLst/>
          </a:prstGeom>
        </p:spPr>
      </p:pic>
      <p:sp>
        <p:nvSpPr>
          <p:cNvPr id="18" name="Text 10"/>
          <p:cNvSpPr txBox="1"/>
          <p:nvPr/>
        </p:nvSpPr>
        <p:spPr>
          <a:xfrm>
            <a:off x="7223564" y="4160520"/>
            <a:ext cx="914400" cy="548640"/>
          </a:xfrm>
          <a:prstGeom prst="rect">
            <a:avLst/>
          </a:prstGeom>
          <a:noFill/>
          <a:ln/>
        </p:spPr>
        <p:txBody>
          <a:bodyPr wrap="square" lIns="0" tIns="0" rIns="0" bIns="0" rtlCol="0" anchor="t"/>
          <a:lstStyle/>
          <a:p>
            <a:pPr algn="ctr" indent="0" marL="0">
              <a:buNone/>
            </a:pPr>
            <a:r>
              <a:rPr lang="en-US" sz="2600" b="1" dirty="0">
                <a:solidFill>
                  <a:srgbClr val="FFC93C"/>
                </a:solidFill>
                <a:latin typeface="Arial" pitchFamily="34" charset="0"/>
                <a:ea typeface="Arial" pitchFamily="34" charset="-122"/>
                <a:cs typeface="Arial" pitchFamily="34" charset="-120"/>
              </a:rPr>
              <a:t>5</a:t>
            </a:r>
            <a:endParaRPr lang="en-US" sz="2600" dirty="0"/>
          </a:p>
        </p:txBody>
      </p:sp>
      <p:sp>
        <p:nvSpPr>
          <p:cNvPr id="19" name="Shape 11"/>
          <p:cNvSpPr/>
          <p:nvPr/>
        </p:nvSpPr>
        <p:spPr>
          <a:xfrm>
            <a:off x="8625601" y="2651760"/>
            <a:ext cx="1280160" cy="1280160"/>
          </a:xfrm>
          <a:prstGeom prst="ellipse">
            <a:avLst/>
          </a:prstGeom>
          <a:solidFill>
            <a:srgbClr val="FF4D3D"/>
          </a:solidFill>
          <a:ln/>
        </p:spPr>
      </p:sp>
      <p:pic>
        <p:nvPicPr>
          <p:cNvPr id="20" name="Image 5" descr="preencoded.png">    </p:cNvPr>
          <p:cNvPicPr>
            <a:picLocks noChangeAspect="1"/>
          </p:cNvPicPr>
          <p:nvPr/>
        </p:nvPicPr>
        <p:blipFill>
          <a:blip r:embed="rId6"/>
          <a:stretch>
            <a:fillRect/>
          </a:stretch>
        </p:blipFill>
        <p:spPr>
          <a:xfrm>
            <a:off x="8958442" y="2984602"/>
            <a:ext cx="614477" cy="614477"/>
          </a:xfrm>
          <a:prstGeom prst="rect">
            <a:avLst/>
          </a:prstGeom>
        </p:spPr>
      </p:pic>
      <p:sp>
        <p:nvSpPr>
          <p:cNvPr id="21" name="Text 12"/>
          <p:cNvSpPr txBox="1"/>
          <p:nvPr/>
        </p:nvSpPr>
        <p:spPr>
          <a:xfrm>
            <a:off x="8808481" y="4160520"/>
            <a:ext cx="914400" cy="548640"/>
          </a:xfrm>
          <a:prstGeom prst="rect">
            <a:avLst/>
          </a:prstGeom>
          <a:noFill/>
          <a:ln/>
        </p:spPr>
        <p:txBody>
          <a:bodyPr wrap="square" lIns="0" tIns="0" rIns="0" bIns="0" rtlCol="0" anchor="t"/>
          <a:lstStyle/>
          <a:p>
            <a:pPr algn="ctr" indent="0" marL="0">
              <a:buNone/>
            </a:pPr>
            <a:r>
              <a:rPr lang="en-US" sz="2600" b="1" dirty="0">
                <a:solidFill>
                  <a:srgbClr val="FFC93C"/>
                </a:solidFill>
                <a:latin typeface="Arial" pitchFamily="34" charset="0"/>
                <a:ea typeface="Arial" pitchFamily="34" charset="-122"/>
                <a:cs typeface="Arial" pitchFamily="34" charset="-120"/>
              </a:rPr>
              <a:t>6</a:t>
            </a:r>
            <a:endParaRPr lang="en-US" sz="2600" dirty="0"/>
          </a:p>
        </p:txBody>
      </p:sp>
      <p:sp>
        <p:nvSpPr>
          <p:cNvPr id="22" name="Shape 13"/>
          <p:cNvSpPr/>
          <p:nvPr/>
        </p:nvSpPr>
        <p:spPr>
          <a:xfrm>
            <a:off x="10210517" y="2651760"/>
            <a:ext cx="1280160" cy="1280160"/>
          </a:xfrm>
          <a:prstGeom prst="ellipse">
            <a:avLst/>
          </a:prstGeom>
          <a:solidFill>
            <a:srgbClr val="FFC93C"/>
          </a:solidFill>
          <a:ln/>
        </p:spPr>
      </p:sp>
      <p:pic>
        <p:nvPicPr>
          <p:cNvPr id="23" name="Image 6" descr="preencoded.png">    </p:cNvPr>
          <p:cNvPicPr>
            <a:picLocks noChangeAspect="1"/>
          </p:cNvPicPr>
          <p:nvPr/>
        </p:nvPicPr>
        <p:blipFill>
          <a:blip r:embed="rId7"/>
          <a:stretch>
            <a:fillRect/>
          </a:stretch>
        </p:blipFill>
        <p:spPr>
          <a:xfrm>
            <a:off x="10543359" y="2984602"/>
            <a:ext cx="614477" cy="614477"/>
          </a:xfrm>
          <a:prstGeom prst="rect">
            <a:avLst/>
          </a:prstGeom>
        </p:spPr>
      </p:pic>
      <p:sp>
        <p:nvSpPr>
          <p:cNvPr id="24" name="Text 14"/>
          <p:cNvSpPr txBox="1"/>
          <p:nvPr/>
        </p:nvSpPr>
        <p:spPr>
          <a:xfrm>
            <a:off x="10393397" y="4160520"/>
            <a:ext cx="914400" cy="548640"/>
          </a:xfrm>
          <a:prstGeom prst="rect">
            <a:avLst/>
          </a:prstGeom>
          <a:noFill/>
          <a:ln/>
        </p:spPr>
        <p:txBody>
          <a:bodyPr wrap="square" lIns="0" tIns="0" rIns="0" bIns="0" rtlCol="0" anchor="t"/>
          <a:lstStyle/>
          <a:p>
            <a:pPr algn="ctr" indent="0" marL="0">
              <a:buNone/>
            </a:pPr>
            <a:r>
              <a:rPr lang="en-US" sz="2600" b="1" dirty="0">
                <a:solidFill>
                  <a:srgbClr val="FFC93C"/>
                </a:solidFill>
                <a:latin typeface="Arial" pitchFamily="34" charset="0"/>
                <a:ea typeface="Arial" pitchFamily="34" charset="-122"/>
                <a:cs typeface="Arial" pitchFamily="34" charset="-120"/>
              </a:rPr>
              <a:t>7</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72</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72</vt:i4>
      </vt:variant>
    </vt:vector>
  </HeadingPairs>
  <TitlesOfParts>
    <vt:vector size="7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Content Machine Masterclass</dc:title>
  <dc:subject>PptxGenJS Presentation</dc:subject>
  <dc:creator>PptxGenJS</dc:creator>
  <cp:lastModifiedBy>PptxGenJS</cp:lastModifiedBy>
  <cp:revision>1</cp:revision>
  <dcterms:created xsi:type="dcterms:W3CDTF">2026-09-28T07:28:47Z</dcterms:created>
  <dcterms:modified xsi:type="dcterms:W3CDTF">2026-09-28T07:28:47Z</dcterms:modified>
</cp:coreProperties>
</file>