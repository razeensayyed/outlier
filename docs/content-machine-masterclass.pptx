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FF4D3D"/>
          </a:solidFill>
          <a:ln/>
        </p:spPr>
      </p:sp>
      <p:sp>
        <p:nvSpPr>
          <p:cNvPr id="3" name="Shape 1"/>
          <p:cNvSpPr/>
          <p:nvPr/>
        </p:nvSpPr>
        <p:spPr>
          <a:xfrm>
            <a:off x="9966960" y="4023360"/>
            <a:ext cx="2377440" cy="2377440"/>
          </a:xfrm>
          <a:prstGeom prst="ellipse">
            <a:avLst/>
          </a:prstGeom>
          <a:solidFill>
            <a:srgbClr val="FFC93C"/>
          </a:solidFill>
          <a:ln/>
        </p:spPr>
      </p:sp>
      <p:sp>
        <p:nvSpPr>
          <p:cNvPr id="4" name="Text 2"/>
          <p:cNvSpPr txBox="1"/>
          <p:nvPr/>
        </p:nvSpPr>
        <p:spPr>
          <a:xfrm>
            <a:off x="548640" y="1463040"/>
            <a:ext cx="7315200" cy="365760"/>
          </a:xfrm>
          <a:prstGeom prst="rect">
            <a:avLst/>
          </a:prstGeom>
          <a:noFill/>
          <a:ln/>
        </p:spPr>
        <p:txBody>
          <a:bodyPr wrap="square" lIns="0" tIns="0" rIns="0" bIns="0" rtlCol="0" anchor="t"/>
          <a:lstStyle/>
          <a:p>
            <a:pPr indent="0" marL="0">
              <a:buNone/>
            </a:pPr>
            <a:r>
              <a:rPr lang="en-US" sz="1400" b="1" spc="400" kern="0" dirty="0">
                <a:solidFill>
                  <a:srgbClr val="FFC93C"/>
                </a:solidFill>
                <a:latin typeface="Arial" pitchFamily="34" charset="0"/>
                <a:ea typeface="Arial" pitchFamily="34" charset="-122"/>
                <a:cs typeface="Arial" pitchFamily="34" charset="-120"/>
              </a:rPr>
              <a:t>MASTERCLASS</a:t>
            </a:r>
            <a:endParaRPr lang="en-US" sz="1400" dirty="0"/>
          </a:p>
        </p:txBody>
      </p:sp>
      <p:sp>
        <p:nvSpPr>
          <p:cNvPr id="5" name="Text 3"/>
          <p:cNvSpPr txBox="1"/>
          <p:nvPr/>
        </p:nvSpPr>
        <p:spPr>
          <a:xfrm>
            <a:off x="548640" y="1920240"/>
            <a:ext cx="7863840" cy="1005840"/>
          </a:xfrm>
          <a:prstGeom prst="rect">
            <a:avLst/>
          </a:prstGeom>
          <a:noFill/>
          <a:ln/>
        </p:spPr>
        <p:txBody>
          <a:bodyPr wrap="square" lIns="0" tIns="0" rIns="0" bIns="0" rtlCol="0" anchor="t"/>
          <a:lstStyle/>
          <a:p>
            <a:pPr indent="0" marL="0">
              <a:buNone/>
            </a:pPr>
            <a:r>
              <a:rPr lang="en-US" sz="5400" b="1" dirty="0">
                <a:solidFill>
                  <a:srgbClr val="FFFFFF"/>
                </a:solidFill>
                <a:latin typeface="Arial" pitchFamily="34" charset="0"/>
                <a:ea typeface="Arial" pitchFamily="34" charset="-122"/>
                <a:cs typeface="Arial" pitchFamily="34" charset="-120"/>
              </a:rPr>
              <a:t>The Content Machine</a:t>
            </a:r>
            <a:endParaRPr lang="en-US" sz="5400" dirty="0"/>
          </a:p>
        </p:txBody>
      </p:sp>
      <p:sp>
        <p:nvSpPr>
          <p:cNvPr id="6" name="Text 4"/>
          <p:cNvSpPr txBox="1"/>
          <p:nvPr/>
        </p:nvSpPr>
        <p:spPr>
          <a:xfrm>
            <a:off x="548640" y="3017520"/>
            <a:ext cx="7863840" cy="457200"/>
          </a:xfrm>
          <a:prstGeom prst="rect">
            <a:avLst/>
          </a:prstGeom>
          <a:noFill/>
          <a:ln/>
        </p:spPr>
        <p:txBody>
          <a:bodyPr wrap="square" lIns="0" tIns="0" rIns="0" bIns="0" rtlCol="0" anchor="t"/>
          <a:lstStyle/>
          <a:p>
            <a:pPr indent="0" marL="0">
              <a:buNone/>
            </a:pPr>
            <a:r>
              <a:rPr lang="en-US" sz="2200" dirty="0">
                <a:solidFill>
                  <a:srgbClr val="C9C9D6"/>
                </a:solidFill>
                <a:latin typeface="Calibri" pitchFamily="34" charset="0"/>
                <a:ea typeface="Calibri" pitchFamily="34" charset="-122"/>
                <a:cs typeface="Calibri" pitchFamily="34" charset="-120"/>
              </a:rPr>
              <a:t>Brand · Content · YouTube · Team · Monetization</a:t>
            </a:r>
            <a:endParaRPr lang="en-US" sz="2200" dirty="0"/>
          </a:p>
        </p:txBody>
      </p:sp>
      <p:sp>
        <p:nvSpPr>
          <p:cNvPr id="7" name="Text 5"/>
          <p:cNvSpPr txBox="1"/>
          <p:nvPr/>
        </p:nvSpPr>
        <p:spPr>
          <a:xfrm>
            <a:off x="548640" y="4206240"/>
            <a:ext cx="7315200" cy="822960"/>
          </a:xfrm>
          <a:prstGeom prst="rect">
            <a:avLst/>
          </a:prstGeom>
          <a:noFill/>
          <a:ln/>
        </p:spPr>
        <p:txBody>
          <a:bodyPr wrap="square" lIns="0" tIns="0" rIns="0" bIns="0" rtlCol="0" anchor="t"/>
          <a:lstStyle/>
          <a:p>
            <a:pPr indent="0" marL="0">
              <a:buNone/>
            </a:pPr>
            <a:r>
              <a:rPr lang="en-US" sz="1600" i="1" dirty="0">
                <a:solidFill>
                  <a:srgbClr val="C9C9D6"/>
                </a:solidFill>
                <a:latin typeface="Calibri" pitchFamily="34" charset="0"/>
                <a:ea typeface="Calibri" pitchFamily="34" charset="-122"/>
                <a:cs typeface="Calibri" pitchFamily="34" charset="-120"/>
              </a:rPr>
              <a:t>14 phases built from Kane Callaway's short-form &amp; YouTube systems and Caleb Ralston's brand-building course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WHERE ARE YOU RIGHT NOW?</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Two paths: forgettable vs. intentional</a:t>
            </a:r>
            <a:endParaRPr lang="en-US" sz="2800" dirty="0"/>
          </a:p>
        </p:txBody>
      </p:sp>
      <p:sp>
        <p:nvSpPr>
          <p:cNvPr id="4" name="Shape 2"/>
          <p:cNvSpPr/>
          <p:nvPr/>
        </p:nvSpPr>
        <p:spPr>
          <a:xfrm>
            <a:off x="548640" y="1645920"/>
            <a:ext cx="5364328" cy="4206240"/>
          </a:xfrm>
          <a:prstGeom prst="roundRect">
            <a:avLst>
              <a:gd name="adj" fmla="val 2609"/>
            </a:avLst>
          </a:prstGeom>
          <a:solidFill>
            <a:srgbClr val="F4F4F8"/>
          </a:solidFill>
          <a:ln/>
        </p:spPr>
      </p:sp>
      <p:sp>
        <p:nvSpPr>
          <p:cNvPr id="5" name="Shape 3"/>
          <p:cNvSpPr/>
          <p:nvPr/>
        </p:nvSpPr>
        <p:spPr>
          <a:xfrm>
            <a:off x="6278728" y="1645920"/>
            <a:ext cx="5364328" cy="4206240"/>
          </a:xfrm>
          <a:prstGeom prst="roundRect">
            <a:avLst>
              <a:gd name="adj" fmla="val 2609"/>
            </a:avLst>
          </a:prstGeom>
          <a:solidFill>
            <a:srgbClr val="14141F"/>
          </a:solidFill>
          <a:ln/>
        </p:spPr>
      </p:sp>
      <p:sp>
        <p:nvSpPr>
          <p:cNvPr id="6" name="Text 4"/>
          <p:cNvSpPr txBox="1"/>
          <p:nvPr/>
        </p:nvSpPr>
        <p:spPr>
          <a:xfrm>
            <a:off x="914400" y="1920240"/>
            <a:ext cx="2743200" cy="274320"/>
          </a:xfrm>
          <a:prstGeom prst="rect">
            <a:avLst/>
          </a:prstGeom>
          <a:noFill/>
          <a:ln/>
        </p:spPr>
        <p:txBody>
          <a:bodyPr wrap="square" lIns="0" tIns="0" rIns="0" bIns="0" rtlCol="0" anchor="t"/>
          <a:lstStyle/>
          <a:p>
            <a:pPr indent="0" marL="0">
              <a:buNone/>
            </a:pPr>
            <a:r>
              <a:rPr lang="en-US" sz="1200" b="1" spc="200" kern="0" dirty="0">
                <a:solidFill>
                  <a:srgbClr val="5B5B6B"/>
                </a:solidFill>
                <a:latin typeface="Arial" pitchFamily="34" charset="0"/>
                <a:ea typeface="Arial" pitchFamily="34" charset="-122"/>
                <a:cs typeface="Arial" pitchFamily="34" charset="-120"/>
              </a:rPr>
              <a:t>PATH 1</a:t>
            </a:r>
            <a:endParaRPr lang="en-US" sz="1200" dirty="0"/>
          </a:p>
        </p:txBody>
      </p:sp>
      <p:sp>
        <p:nvSpPr>
          <p:cNvPr id="7" name="Text 5"/>
          <p:cNvSpPr txBox="1"/>
          <p:nvPr/>
        </p:nvSpPr>
        <p:spPr>
          <a:xfrm>
            <a:off x="914400" y="2240280"/>
            <a:ext cx="4632808" cy="548640"/>
          </a:xfrm>
          <a:prstGeom prst="rect">
            <a:avLst/>
          </a:prstGeom>
          <a:noFill/>
          <a:ln/>
        </p:spPr>
        <p:txBody>
          <a:bodyPr wrap="square" lIns="0" tIns="0" rIns="0" bIns="0" rtlCol="0" anchor="t"/>
          <a:lstStyle/>
          <a:p>
            <a:pPr indent="0" marL="0">
              <a:buNone/>
            </a:pPr>
            <a:r>
              <a:rPr lang="en-US" sz="2600" b="1" dirty="0">
                <a:solidFill>
                  <a:srgbClr val="14141F"/>
                </a:solidFill>
                <a:latin typeface="Arial" pitchFamily="34" charset="0"/>
                <a:ea typeface="Arial" pitchFamily="34" charset="-122"/>
                <a:cs typeface="Arial" pitchFamily="34" charset="-120"/>
              </a:rPr>
              <a:t>The forgettable brand</a:t>
            </a:r>
            <a:endParaRPr lang="en-US" sz="2600" dirty="0"/>
          </a:p>
        </p:txBody>
      </p:sp>
      <p:sp>
        <p:nvSpPr>
          <p:cNvPr id="8" name="Text 6"/>
          <p:cNvSpPr txBox="1"/>
          <p:nvPr/>
        </p:nvSpPr>
        <p:spPr>
          <a:xfrm>
            <a:off x="914400" y="3108960"/>
            <a:ext cx="4632808" cy="23774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4141F"/>
                </a:solidFill>
                <a:latin typeface="Calibri" pitchFamily="34" charset="0"/>
                <a:ea typeface="Calibri" pitchFamily="34" charset="-122"/>
                <a:cs typeface="Calibri" pitchFamily="34" charset="-120"/>
              </a:rPr>
              <a:t>Posts randomly, hoping something sticks</a:t>
            </a:r>
            <a:endParaRPr lang="en-US" sz="1700" dirty="0"/>
          </a:p>
          <a:p>
            <a:pPr marL="342900" indent="-342900">
              <a:spcAft>
                <a:spcPts val="800"/>
              </a:spcAft>
              <a:buSzPct val="100000"/>
              <a:buChar char="•"/>
            </a:pPr>
            <a:r>
              <a:rPr lang="en-US" sz="1700" dirty="0">
                <a:solidFill>
                  <a:srgbClr val="14141F"/>
                </a:solidFill>
                <a:latin typeface="Calibri" pitchFamily="34" charset="0"/>
                <a:ea typeface="Calibri" pitchFamily="34" charset="-122"/>
                <a:cs typeface="Calibri" pitchFamily="34" charset="-120"/>
              </a:rPr>
              <a:t>Nobody knows who you are or what you do</a:t>
            </a:r>
            <a:endParaRPr lang="en-US" sz="1700" dirty="0"/>
          </a:p>
          <a:p>
            <a:pPr marL="342900" indent="-342900">
              <a:spcAft>
                <a:spcPts val="800"/>
              </a:spcAft>
              <a:buSzPct val="100000"/>
              <a:buChar char="•"/>
            </a:pPr>
            <a:r>
              <a:rPr lang="en-US" sz="1700" dirty="0">
                <a:solidFill>
                  <a:srgbClr val="14141F"/>
                </a:solidFill>
                <a:latin typeface="Calibri" pitchFamily="34" charset="0"/>
                <a:ea typeface="Calibri" pitchFamily="34" charset="-122"/>
                <a:cs typeface="Calibri" pitchFamily="34" charset="-120"/>
              </a:rPr>
              <a:t>No engagement, and definitely no buyers</a:t>
            </a:r>
            <a:endParaRPr lang="en-US" sz="1700" dirty="0"/>
          </a:p>
        </p:txBody>
      </p:sp>
      <p:sp>
        <p:nvSpPr>
          <p:cNvPr id="9" name="Text 7"/>
          <p:cNvSpPr txBox="1"/>
          <p:nvPr/>
        </p:nvSpPr>
        <p:spPr>
          <a:xfrm>
            <a:off x="6644488" y="1920240"/>
            <a:ext cx="2743200" cy="274320"/>
          </a:xfrm>
          <a:prstGeom prst="rect">
            <a:avLst/>
          </a:prstGeom>
          <a:noFill/>
          <a:ln/>
        </p:spPr>
        <p:txBody>
          <a:bodyPr wrap="square" lIns="0" tIns="0" rIns="0" bIns="0" rtlCol="0" anchor="t"/>
          <a:lstStyle/>
          <a:p>
            <a:pPr indent="0" marL="0">
              <a:buNone/>
            </a:pPr>
            <a:r>
              <a:rPr lang="en-US" sz="1200" b="1" spc="200" kern="0" dirty="0">
                <a:solidFill>
                  <a:srgbClr val="FFC93C"/>
                </a:solidFill>
                <a:latin typeface="Arial" pitchFamily="34" charset="0"/>
                <a:ea typeface="Arial" pitchFamily="34" charset="-122"/>
                <a:cs typeface="Arial" pitchFamily="34" charset="-120"/>
              </a:rPr>
              <a:t>PATH 2</a:t>
            </a:r>
            <a:endParaRPr lang="en-US" sz="1200" dirty="0"/>
          </a:p>
        </p:txBody>
      </p:sp>
      <p:sp>
        <p:nvSpPr>
          <p:cNvPr id="10" name="Text 8"/>
          <p:cNvSpPr txBox="1"/>
          <p:nvPr/>
        </p:nvSpPr>
        <p:spPr>
          <a:xfrm>
            <a:off x="6644488" y="2240280"/>
            <a:ext cx="4632808" cy="54864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The intentional brand</a:t>
            </a:r>
            <a:endParaRPr lang="en-US" sz="2600" dirty="0"/>
          </a:p>
        </p:txBody>
      </p:sp>
      <p:sp>
        <p:nvSpPr>
          <p:cNvPr id="11" name="Text 9"/>
          <p:cNvSpPr txBox="1"/>
          <p:nvPr/>
        </p:nvSpPr>
        <p:spPr>
          <a:xfrm>
            <a:off x="6644488" y="3108960"/>
            <a:ext cx="4632808" cy="23774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You own what people associate with you</a:t>
            </a:r>
            <a:endParaRPr lang="en-US" sz="1700" dirty="0"/>
          </a:p>
          <a:p>
            <a:pPr marL="342900" indent="-3429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Content builds trust and moves people to a decision</a:t>
            </a:r>
            <a:endParaRPr lang="en-US" sz="1700" dirty="0"/>
          </a:p>
          <a:p>
            <a:pPr marL="342900" indent="-3429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Already here? This breaks your ceiling</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THE ROADMAP</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14 phases, one flow</a:t>
            </a:r>
            <a:endParaRPr lang="en-US" sz="2800" dirty="0"/>
          </a:p>
        </p:txBody>
      </p:sp>
      <p:sp>
        <p:nvSpPr>
          <p:cNvPr id="4" name="Shape 2"/>
          <p:cNvSpPr/>
          <p:nvPr/>
        </p:nvSpPr>
        <p:spPr>
          <a:xfrm>
            <a:off x="548640" y="1645920"/>
            <a:ext cx="1428162" cy="2011680"/>
          </a:xfrm>
          <a:prstGeom prst="roundRect">
            <a:avLst>
              <a:gd name="adj" fmla="val 6403"/>
            </a:avLst>
          </a:prstGeom>
          <a:solidFill>
            <a:srgbClr val="F4F4F8"/>
          </a:solidFill>
          <a:ln/>
        </p:spPr>
      </p:sp>
      <p:sp>
        <p:nvSpPr>
          <p:cNvPr id="5" name="Text 3"/>
          <p:cNvSpPr txBox="1"/>
          <p:nvPr/>
        </p:nvSpPr>
        <p:spPr>
          <a:xfrm>
            <a:off x="685800" y="1828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00</a:t>
            </a:r>
            <a:endParaRPr lang="en-US" sz="3200" dirty="0"/>
          </a:p>
        </p:txBody>
      </p:sp>
      <p:sp>
        <p:nvSpPr>
          <p:cNvPr id="6" name="Text 4"/>
          <p:cNvSpPr txBox="1"/>
          <p:nvPr/>
        </p:nvSpPr>
        <p:spPr>
          <a:xfrm>
            <a:off x="685800" y="2606040"/>
            <a:ext cx="1153842" cy="914400"/>
          </a:xfrm>
          <a:prstGeom prst="rect">
            <a:avLst/>
          </a:prstGeom>
          <a:noFill/>
          <a:ln/>
        </p:spPr>
        <p:txBody>
          <a:bodyPr wrap="square" lIns="0" tIns="0" rIns="0" bIns="0" rtlCol="0" anchor="t"/>
          <a:lstStyle/>
          <a:p>
            <a:pPr indent="0" marL="0">
              <a:buNone/>
            </a:pPr>
            <a:r>
              <a:rPr lang="en-US" sz="1400" b="1" dirty="0">
                <a:solidFill>
                  <a:srgbClr val="14141F"/>
                </a:solidFill>
                <a:latin typeface="Arial" pitchFamily="34" charset="0"/>
                <a:ea typeface="Arial" pitchFamily="34" charset="-122"/>
                <a:cs typeface="Arial" pitchFamily="34" charset="-120"/>
              </a:rPr>
              <a:t>Mindset</a:t>
            </a:r>
            <a:endParaRPr lang="en-US" sz="1400" dirty="0"/>
          </a:p>
        </p:txBody>
      </p:sp>
      <p:sp>
        <p:nvSpPr>
          <p:cNvPr id="7" name="Shape 5"/>
          <p:cNvSpPr/>
          <p:nvPr/>
        </p:nvSpPr>
        <p:spPr>
          <a:xfrm>
            <a:off x="2159682" y="1645920"/>
            <a:ext cx="1428162" cy="2011680"/>
          </a:xfrm>
          <a:prstGeom prst="roundRect">
            <a:avLst>
              <a:gd name="adj" fmla="val 6403"/>
            </a:avLst>
          </a:prstGeom>
          <a:solidFill>
            <a:srgbClr val="F4F4F8"/>
          </a:solidFill>
          <a:ln/>
        </p:spPr>
      </p:sp>
      <p:sp>
        <p:nvSpPr>
          <p:cNvPr id="8" name="Text 6"/>
          <p:cNvSpPr txBox="1"/>
          <p:nvPr/>
        </p:nvSpPr>
        <p:spPr>
          <a:xfrm>
            <a:off x="2296842" y="1828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01</a:t>
            </a:r>
            <a:endParaRPr lang="en-US" sz="3200" dirty="0"/>
          </a:p>
        </p:txBody>
      </p:sp>
      <p:sp>
        <p:nvSpPr>
          <p:cNvPr id="9" name="Text 7"/>
          <p:cNvSpPr txBox="1"/>
          <p:nvPr/>
        </p:nvSpPr>
        <p:spPr>
          <a:xfrm>
            <a:off x="2296842" y="2606040"/>
            <a:ext cx="1153842" cy="914400"/>
          </a:xfrm>
          <a:prstGeom prst="rect">
            <a:avLst/>
          </a:prstGeom>
          <a:noFill/>
          <a:ln/>
        </p:spPr>
        <p:txBody>
          <a:bodyPr wrap="square" lIns="0" tIns="0" rIns="0" bIns="0" rtlCol="0" anchor="t"/>
          <a:lstStyle/>
          <a:p>
            <a:pPr indent="0" marL="0">
              <a:buNone/>
            </a:pPr>
            <a:r>
              <a:rPr lang="en-US" sz="1400" b="1" dirty="0">
                <a:solidFill>
                  <a:srgbClr val="14141F"/>
                </a:solidFill>
                <a:latin typeface="Arial" pitchFamily="34" charset="0"/>
                <a:ea typeface="Arial" pitchFamily="34" charset="-122"/>
                <a:cs typeface="Arial" pitchFamily="34" charset="-120"/>
              </a:rPr>
              <a:t>Pick your game</a:t>
            </a:r>
            <a:endParaRPr lang="en-US" sz="1400" dirty="0"/>
          </a:p>
        </p:txBody>
      </p:sp>
      <p:sp>
        <p:nvSpPr>
          <p:cNvPr id="10" name="Shape 8"/>
          <p:cNvSpPr/>
          <p:nvPr/>
        </p:nvSpPr>
        <p:spPr>
          <a:xfrm>
            <a:off x="3770724" y="1645920"/>
            <a:ext cx="1428162" cy="2011680"/>
          </a:xfrm>
          <a:prstGeom prst="roundRect">
            <a:avLst>
              <a:gd name="adj" fmla="val 6403"/>
            </a:avLst>
          </a:prstGeom>
          <a:solidFill>
            <a:srgbClr val="F4F4F8"/>
          </a:solidFill>
          <a:ln/>
        </p:spPr>
      </p:sp>
      <p:sp>
        <p:nvSpPr>
          <p:cNvPr id="11" name="Text 9"/>
          <p:cNvSpPr txBox="1"/>
          <p:nvPr/>
        </p:nvSpPr>
        <p:spPr>
          <a:xfrm>
            <a:off x="3907884" y="1828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02</a:t>
            </a:r>
            <a:endParaRPr lang="en-US" sz="3200" dirty="0"/>
          </a:p>
        </p:txBody>
      </p:sp>
      <p:sp>
        <p:nvSpPr>
          <p:cNvPr id="12" name="Text 10"/>
          <p:cNvSpPr txBox="1"/>
          <p:nvPr/>
        </p:nvSpPr>
        <p:spPr>
          <a:xfrm>
            <a:off x="3907884" y="2606040"/>
            <a:ext cx="1153842" cy="914400"/>
          </a:xfrm>
          <a:prstGeom prst="rect">
            <a:avLst/>
          </a:prstGeom>
          <a:noFill/>
          <a:ln/>
        </p:spPr>
        <p:txBody>
          <a:bodyPr wrap="square" lIns="0" tIns="0" rIns="0" bIns="0" rtlCol="0" anchor="t"/>
          <a:lstStyle/>
          <a:p>
            <a:pPr indent="0" marL="0">
              <a:buNone/>
            </a:pPr>
            <a:r>
              <a:rPr lang="en-US" sz="1400" b="1" dirty="0">
                <a:solidFill>
                  <a:srgbClr val="14141F"/>
                </a:solidFill>
                <a:latin typeface="Arial" pitchFamily="34" charset="0"/>
                <a:ea typeface="Arial" pitchFamily="34" charset="-122"/>
                <a:cs typeface="Arial" pitchFamily="34" charset="-120"/>
              </a:rPr>
              <a:t>Brand foundation</a:t>
            </a:r>
            <a:endParaRPr lang="en-US" sz="1400" dirty="0"/>
          </a:p>
        </p:txBody>
      </p:sp>
      <p:sp>
        <p:nvSpPr>
          <p:cNvPr id="13" name="Shape 11"/>
          <p:cNvSpPr/>
          <p:nvPr/>
        </p:nvSpPr>
        <p:spPr>
          <a:xfrm>
            <a:off x="5381767" y="1645920"/>
            <a:ext cx="1428162" cy="2011680"/>
          </a:xfrm>
          <a:prstGeom prst="roundRect">
            <a:avLst>
              <a:gd name="adj" fmla="val 6403"/>
            </a:avLst>
          </a:prstGeom>
          <a:solidFill>
            <a:srgbClr val="F4F4F8"/>
          </a:solidFill>
          <a:ln/>
        </p:spPr>
      </p:sp>
      <p:sp>
        <p:nvSpPr>
          <p:cNvPr id="14" name="Text 12"/>
          <p:cNvSpPr txBox="1"/>
          <p:nvPr/>
        </p:nvSpPr>
        <p:spPr>
          <a:xfrm>
            <a:off x="5518927" y="1828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03</a:t>
            </a:r>
            <a:endParaRPr lang="en-US" sz="3200" dirty="0"/>
          </a:p>
        </p:txBody>
      </p:sp>
      <p:sp>
        <p:nvSpPr>
          <p:cNvPr id="15" name="Text 13"/>
          <p:cNvSpPr txBox="1"/>
          <p:nvPr/>
        </p:nvSpPr>
        <p:spPr>
          <a:xfrm>
            <a:off x="5518927" y="2606040"/>
            <a:ext cx="1153842" cy="914400"/>
          </a:xfrm>
          <a:prstGeom prst="rect">
            <a:avLst/>
          </a:prstGeom>
          <a:noFill/>
          <a:ln/>
        </p:spPr>
        <p:txBody>
          <a:bodyPr wrap="square" lIns="0" tIns="0" rIns="0" bIns="0" rtlCol="0" anchor="t"/>
          <a:lstStyle/>
          <a:p>
            <a:pPr indent="0" marL="0">
              <a:buNone/>
            </a:pPr>
            <a:r>
              <a:rPr lang="en-US" sz="1400" b="1" dirty="0">
                <a:solidFill>
                  <a:srgbClr val="14141F"/>
                </a:solidFill>
                <a:latin typeface="Arial" pitchFamily="34" charset="0"/>
                <a:ea typeface="Arial" pitchFamily="34" charset="-122"/>
                <a:cs typeface="Arial" pitchFamily="34" charset="-120"/>
              </a:rPr>
              <a:t>Positioning &amp; algorithm</a:t>
            </a:r>
            <a:endParaRPr lang="en-US" sz="1400" dirty="0"/>
          </a:p>
        </p:txBody>
      </p:sp>
      <p:sp>
        <p:nvSpPr>
          <p:cNvPr id="16" name="Shape 14"/>
          <p:cNvSpPr/>
          <p:nvPr/>
        </p:nvSpPr>
        <p:spPr>
          <a:xfrm>
            <a:off x="6992809" y="1645920"/>
            <a:ext cx="1428162" cy="2011680"/>
          </a:xfrm>
          <a:prstGeom prst="roundRect">
            <a:avLst>
              <a:gd name="adj" fmla="val 6403"/>
            </a:avLst>
          </a:prstGeom>
          <a:solidFill>
            <a:srgbClr val="F4F4F8"/>
          </a:solidFill>
          <a:ln/>
        </p:spPr>
      </p:sp>
      <p:sp>
        <p:nvSpPr>
          <p:cNvPr id="17" name="Text 15"/>
          <p:cNvSpPr txBox="1"/>
          <p:nvPr/>
        </p:nvSpPr>
        <p:spPr>
          <a:xfrm>
            <a:off x="7129969" y="1828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04</a:t>
            </a:r>
            <a:endParaRPr lang="en-US" sz="3200" dirty="0"/>
          </a:p>
        </p:txBody>
      </p:sp>
      <p:sp>
        <p:nvSpPr>
          <p:cNvPr id="18" name="Text 16"/>
          <p:cNvSpPr txBox="1"/>
          <p:nvPr/>
        </p:nvSpPr>
        <p:spPr>
          <a:xfrm>
            <a:off x="7129969" y="2606040"/>
            <a:ext cx="1153842" cy="914400"/>
          </a:xfrm>
          <a:prstGeom prst="rect">
            <a:avLst/>
          </a:prstGeom>
          <a:noFill/>
          <a:ln/>
        </p:spPr>
        <p:txBody>
          <a:bodyPr wrap="square" lIns="0" tIns="0" rIns="0" bIns="0" rtlCol="0" anchor="t"/>
          <a:lstStyle/>
          <a:p>
            <a:pPr indent="0" marL="0">
              <a:buNone/>
            </a:pPr>
            <a:r>
              <a:rPr lang="en-US" sz="1400" b="1" dirty="0">
                <a:solidFill>
                  <a:srgbClr val="14141F"/>
                </a:solidFill>
                <a:latin typeface="Arial" pitchFamily="34" charset="0"/>
                <a:ea typeface="Arial" pitchFamily="34" charset="-122"/>
                <a:cs typeface="Arial" pitchFamily="34" charset="-120"/>
              </a:rPr>
              <a:t>Mediums, platforms, cadence</a:t>
            </a:r>
            <a:endParaRPr lang="en-US" sz="1400" dirty="0"/>
          </a:p>
        </p:txBody>
      </p:sp>
      <p:sp>
        <p:nvSpPr>
          <p:cNvPr id="19" name="Shape 17"/>
          <p:cNvSpPr/>
          <p:nvPr/>
        </p:nvSpPr>
        <p:spPr>
          <a:xfrm>
            <a:off x="8603851" y="1645920"/>
            <a:ext cx="1428162" cy="2011680"/>
          </a:xfrm>
          <a:prstGeom prst="roundRect">
            <a:avLst>
              <a:gd name="adj" fmla="val 6403"/>
            </a:avLst>
          </a:prstGeom>
          <a:solidFill>
            <a:srgbClr val="F4F4F8"/>
          </a:solidFill>
          <a:ln/>
        </p:spPr>
      </p:sp>
      <p:sp>
        <p:nvSpPr>
          <p:cNvPr id="20" name="Text 18"/>
          <p:cNvSpPr txBox="1"/>
          <p:nvPr/>
        </p:nvSpPr>
        <p:spPr>
          <a:xfrm>
            <a:off x="8741011" y="1828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05</a:t>
            </a:r>
            <a:endParaRPr lang="en-US" sz="3200" dirty="0"/>
          </a:p>
        </p:txBody>
      </p:sp>
      <p:sp>
        <p:nvSpPr>
          <p:cNvPr id="21" name="Text 19"/>
          <p:cNvSpPr txBox="1"/>
          <p:nvPr/>
        </p:nvSpPr>
        <p:spPr>
          <a:xfrm>
            <a:off x="8741011" y="2606040"/>
            <a:ext cx="1153842" cy="914400"/>
          </a:xfrm>
          <a:prstGeom prst="rect">
            <a:avLst/>
          </a:prstGeom>
          <a:noFill/>
          <a:ln/>
        </p:spPr>
        <p:txBody>
          <a:bodyPr wrap="square" lIns="0" tIns="0" rIns="0" bIns="0" rtlCol="0" anchor="t"/>
          <a:lstStyle/>
          <a:p>
            <a:pPr indent="0" marL="0">
              <a:buNone/>
            </a:pPr>
            <a:r>
              <a:rPr lang="en-US" sz="1400" b="1" dirty="0">
                <a:solidFill>
                  <a:srgbClr val="14141F"/>
                </a:solidFill>
                <a:latin typeface="Arial" pitchFamily="34" charset="0"/>
                <a:ea typeface="Arial" pitchFamily="34" charset="-122"/>
                <a:cs typeface="Arial" pitchFamily="34" charset="-120"/>
              </a:rPr>
              <a:t>Short-form craft</a:t>
            </a:r>
            <a:endParaRPr lang="en-US" sz="1400" dirty="0"/>
          </a:p>
        </p:txBody>
      </p:sp>
      <p:sp>
        <p:nvSpPr>
          <p:cNvPr id="22" name="Shape 20"/>
          <p:cNvSpPr/>
          <p:nvPr/>
        </p:nvSpPr>
        <p:spPr>
          <a:xfrm>
            <a:off x="10214893" y="1645920"/>
            <a:ext cx="1428162" cy="2011680"/>
          </a:xfrm>
          <a:prstGeom prst="roundRect">
            <a:avLst>
              <a:gd name="adj" fmla="val 6403"/>
            </a:avLst>
          </a:prstGeom>
          <a:solidFill>
            <a:srgbClr val="F4F4F8"/>
          </a:solidFill>
          <a:ln/>
        </p:spPr>
      </p:sp>
      <p:sp>
        <p:nvSpPr>
          <p:cNvPr id="23" name="Text 21"/>
          <p:cNvSpPr txBox="1"/>
          <p:nvPr/>
        </p:nvSpPr>
        <p:spPr>
          <a:xfrm>
            <a:off x="10352053" y="1828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06</a:t>
            </a:r>
            <a:endParaRPr lang="en-US" sz="3200" dirty="0"/>
          </a:p>
        </p:txBody>
      </p:sp>
      <p:sp>
        <p:nvSpPr>
          <p:cNvPr id="24" name="Text 22"/>
          <p:cNvSpPr txBox="1"/>
          <p:nvPr/>
        </p:nvSpPr>
        <p:spPr>
          <a:xfrm>
            <a:off x="10352053" y="2606040"/>
            <a:ext cx="1153842" cy="914400"/>
          </a:xfrm>
          <a:prstGeom prst="rect">
            <a:avLst/>
          </a:prstGeom>
          <a:noFill/>
          <a:ln/>
        </p:spPr>
        <p:txBody>
          <a:bodyPr wrap="square" lIns="0" tIns="0" rIns="0" bIns="0" rtlCol="0" anchor="t"/>
          <a:lstStyle/>
          <a:p>
            <a:pPr indent="0" marL="0">
              <a:buNone/>
            </a:pPr>
            <a:r>
              <a:rPr lang="en-US" sz="1400" b="1" dirty="0">
                <a:solidFill>
                  <a:srgbClr val="14141F"/>
                </a:solidFill>
                <a:latin typeface="Arial" pitchFamily="34" charset="0"/>
                <a:ea typeface="Arial" pitchFamily="34" charset="-122"/>
                <a:cs typeface="Arial" pitchFamily="34" charset="-120"/>
              </a:rPr>
              <a:t>Iteration &amp; analytics</a:t>
            </a:r>
            <a:endParaRPr lang="en-US" sz="1400" dirty="0"/>
          </a:p>
        </p:txBody>
      </p:sp>
      <p:sp>
        <p:nvSpPr>
          <p:cNvPr id="25" name="Shape 23"/>
          <p:cNvSpPr/>
          <p:nvPr/>
        </p:nvSpPr>
        <p:spPr>
          <a:xfrm>
            <a:off x="548640" y="3931920"/>
            <a:ext cx="1428162" cy="2011680"/>
          </a:xfrm>
          <a:prstGeom prst="roundRect">
            <a:avLst>
              <a:gd name="adj" fmla="val 6403"/>
            </a:avLst>
          </a:prstGeom>
          <a:solidFill>
            <a:srgbClr val="14141F"/>
          </a:solidFill>
          <a:ln/>
        </p:spPr>
      </p:sp>
      <p:sp>
        <p:nvSpPr>
          <p:cNvPr id="26" name="Text 24"/>
          <p:cNvSpPr txBox="1"/>
          <p:nvPr/>
        </p:nvSpPr>
        <p:spPr>
          <a:xfrm>
            <a:off x="685800" y="4114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07</a:t>
            </a:r>
            <a:endParaRPr lang="en-US" sz="3200" dirty="0"/>
          </a:p>
        </p:txBody>
      </p:sp>
      <p:sp>
        <p:nvSpPr>
          <p:cNvPr id="27" name="Text 25"/>
          <p:cNvSpPr txBox="1"/>
          <p:nvPr/>
        </p:nvSpPr>
        <p:spPr>
          <a:xfrm>
            <a:off x="685800" y="4892040"/>
            <a:ext cx="1153842"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YouTube long-form</a:t>
            </a:r>
            <a:endParaRPr lang="en-US" sz="1400" dirty="0"/>
          </a:p>
        </p:txBody>
      </p:sp>
      <p:sp>
        <p:nvSpPr>
          <p:cNvPr id="28" name="Shape 26"/>
          <p:cNvSpPr/>
          <p:nvPr/>
        </p:nvSpPr>
        <p:spPr>
          <a:xfrm>
            <a:off x="2159682" y="3931920"/>
            <a:ext cx="1428162" cy="2011680"/>
          </a:xfrm>
          <a:prstGeom prst="roundRect">
            <a:avLst>
              <a:gd name="adj" fmla="val 6403"/>
            </a:avLst>
          </a:prstGeom>
          <a:solidFill>
            <a:srgbClr val="14141F"/>
          </a:solidFill>
          <a:ln/>
        </p:spPr>
      </p:sp>
      <p:sp>
        <p:nvSpPr>
          <p:cNvPr id="29" name="Text 27"/>
          <p:cNvSpPr txBox="1"/>
          <p:nvPr/>
        </p:nvSpPr>
        <p:spPr>
          <a:xfrm>
            <a:off x="2296842" y="4114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08</a:t>
            </a:r>
            <a:endParaRPr lang="en-US" sz="3200" dirty="0"/>
          </a:p>
        </p:txBody>
      </p:sp>
      <p:sp>
        <p:nvSpPr>
          <p:cNvPr id="30" name="Text 28"/>
          <p:cNvSpPr txBox="1"/>
          <p:nvPr/>
        </p:nvSpPr>
        <p:spPr>
          <a:xfrm>
            <a:off x="2296842" y="4892040"/>
            <a:ext cx="1153842"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Storytelling</a:t>
            </a:r>
            <a:endParaRPr lang="en-US" sz="1400" dirty="0"/>
          </a:p>
        </p:txBody>
      </p:sp>
      <p:sp>
        <p:nvSpPr>
          <p:cNvPr id="31" name="Shape 29"/>
          <p:cNvSpPr/>
          <p:nvPr/>
        </p:nvSpPr>
        <p:spPr>
          <a:xfrm>
            <a:off x="3770724" y="3931920"/>
            <a:ext cx="1428162" cy="2011680"/>
          </a:xfrm>
          <a:prstGeom prst="roundRect">
            <a:avLst>
              <a:gd name="adj" fmla="val 6403"/>
            </a:avLst>
          </a:prstGeom>
          <a:solidFill>
            <a:srgbClr val="14141F"/>
          </a:solidFill>
          <a:ln/>
        </p:spPr>
      </p:sp>
      <p:sp>
        <p:nvSpPr>
          <p:cNvPr id="32" name="Text 30"/>
          <p:cNvSpPr txBox="1"/>
          <p:nvPr/>
        </p:nvSpPr>
        <p:spPr>
          <a:xfrm>
            <a:off x="3907884" y="4114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09</a:t>
            </a:r>
            <a:endParaRPr lang="en-US" sz="3200" dirty="0"/>
          </a:p>
        </p:txBody>
      </p:sp>
      <p:sp>
        <p:nvSpPr>
          <p:cNvPr id="33" name="Text 31"/>
          <p:cNvSpPr txBox="1"/>
          <p:nvPr/>
        </p:nvSpPr>
        <p:spPr>
          <a:xfrm>
            <a:off x="3907884" y="4892040"/>
            <a:ext cx="1153842"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Community</a:t>
            </a:r>
            <a:endParaRPr lang="en-US" sz="1400" dirty="0"/>
          </a:p>
        </p:txBody>
      </p:sp>
      <p:sp>
        <p:nvSpPr>
          <p:cNvPr id="34" name="Shape 32"/>
          <p:cNvSpPr/>
          <p:nvPr/>
        </p:nvSpPr>
        <p:spPr>
          <a:xfrm>
            <a:off x="5381767" y="3931920"/>
            <a:ext cx="1428162" cy="2011680"/>
          </a:xfrm>
          <a:prstGeom prst="roundRect">
            <a:avLst>
              <a:gd name="adj" fmla="val 6403"/>
            </a:avLst>
          </a:prstGeom>
          <a:solidFill>
            <a:srgbClr val="14141F"/>
          </a:solidFill>
          <a:ln/>
        </p:spPr>
      </p:sp>
      <p:sp>
        <p:nvSpPr>
          <p:cNvPr id="35" name="Text 33"/>
          <p:cNvSpPr txBox="1"/>
          <p:nvPr/>
        </p:nvSpPr>
        <p:spPr>
          <a:xfrm>
            <a:off x="5518927" y="4114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10</a:t>
            </a:r>
            <a:endParaRPr lang="en-US" sz="3200" dirty="0"/>
          </a:p>
        </p:txBody>
      </p:sp>
      <p:sp>
        <p:nvSpPr>
          <p:cNvPr id="36" name="Text 34"/>
          <p:cNvSpPr txBox="1"/>
          <p:nvPr/>
        </p:nvSpPr>
        <p:spPr>
          <a:xfrm>
            <a:off x="5518927" y="4892040"/>
            <a:ext cx="1153842"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Monetization</a:t>
            </a:r>
            <a:endParaRPr lang="en-US" sz="1400" dirty="0"/>
          </a:p>
        </p:txBody>
      </p:sp>
      <p:sp>
        <p:nvSpPr>
          <p:cNvPr id="37" name="Shape 35"/>
          <p:cNvSpPr/>
          <p:nvPr/>
        </p:nvSpPr>
        <p:spPr>
          <a:xfrm>
            <a:off x="6992809" y="3931920"/>
            <a:ext cx="1428162" cy="2011680"/>
          </a:xfrm>
          <a:prstGeom prst="roundRect">
            <a:avLst>
              <a:gd name="adj" fmla="val 6403"/>
            </a:avLst>
          </a:prstGeom>
          <a:solidFill>
            <a:srgbClr val="14141F"/>
          </a:solidFill>
          <a:ln/>
        </p:spPr>
      </p:sp>
      <p:sp>
        <p:nvSpPr>
          <p:cNvPr id="38" name="Text 36"/>
          <p:cNvSpPr txBox="1"/>
          <p:nvPr/>
        </p:nvSpPr>
        <p:spPr>
          <a:xfrm>
            <a:off x="7129969" y="4114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11</a:t>
            </a:r>
            <a:endParaRPr lang="en-US" sz="3200" dirty="0"/>
          </a:p>
        </p:txBody>
      </p:sp>
      <p:sp>
        <p:nvSpPr>
          <p:cNvPr id="39" name="Text 37"/>
          <p:cNvSpPr txBox="1"/>
          <p:nvPr/>
        </p:nvSpPr>
        <p:spPr>
          <a:xfrm>
            <a:off x="7129969" y="4892040"/>
            <a:ext cx="1153842"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Scale the machine</a:t>
            </a:r>
            <a:endParaRPr lang="en-US" sz="1400" dirty="0"/>
          </a:p>
        </p:txBody>
      </p:sp>
      <p:sp>
        <p:nvSpPr>
          <p:cNvPr id="40" name="Shape 38"/>
          <p:cNvSpPr/>
          <p:nvPr/>
        </p:nvSpPr>
        <p:spPr>
          <a:xfrm>
            <a:off x="8603851" y="3931920"/>
            <a:ext cx="1428162" cy="2011680"/>
          </a:xfrm>
          <a:prstGeom prst="roundRect">
            <a:avLst>
              <a:gd name="adj" fmla="val 6403"/>
            </a:avLst>
          </a:prstGeom>
          <a:solidFill>
            <a:srgbClr val="14141F"/>
          </a:solidFill>
          <a:ln/>
        </p:spPr>
      </p:sp>
      <p:sp>
        <p:nvSpPr>
          <p:cNvPr id="41" name="Text 39"/>
          <p:cNvSpPr txBox="1"/>
          <p:nvPr/>
        </p:nvSpPr>
        <p:spPr>
          <a:xfrm>
            <a:off x="8741011" y="4114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12</a:t>
            </a:r>
            <a:endParaRPr lang="en-US" sz="3200" dirty="0"/>
          </a:p>
        </p:txBody>
      </p:sp>
      <p:sp>
        <p:nvSpPr>
          <p:cNvPr id="42" name="Text 40"/>
          <p:cNvSpPr txBox="1"/>
          <p:nvPr/>
        </p:nvSpPr>
        <p:spPr>
          <a:xfrm>
            <a:off x="8741011" y="4892040"/>
            <a:ext cx="1153842"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Build the team</a:t>
            </a:r>
            <a:endParaRPr lang="en-US" sz="1400" dirty="0"/>
          </a:p>
        </p:txBody>
      </p:sp>
      <p:sp>
        <p:nvSpPr>
          <p:cNvPr id="43" name="Shape 41"/>
          <p:cNvSpPr/>
          <p:nvPr/>
        </p:nvSpPr>
        <p:spPr>
          <a:xfrm>
            <a:off x="10214893" y="3931920"/>
            <a:ext cx="1428162" cy="2011680"/>
          </a:xfrm>
          <a:prstGeom prst="roundRect">
            <a:avLst>
              <a:gd name="adj" fmla="val 6403"/>
            </a:avLst>
          </a:prstGeom>
          <a:solidFill>
            <a:srgbClr val="14141F"/>
          </a:solidFill>
          <a:ln/>
        </p:spPr>
      </p:sp>
      <p:sp>
        <p:nvSpPr>
          <p:cNvPr id="44" name="Text 42"/>
          <p:cNvSpPr txBox="1"/>
          <p:nvPr/>
        </p:nvSpPr>
        <p:spPr>
          <a:xfrm>
            <a:off x="10352053" y="4114800"/>
            <a:ext cx="1153842" cy="640080"/>
          </a:xfrm>
          <a:prstGeom prst="rect">
            <a:avLst/>
          </a:prstGeom>
          <a:noFill/>
          <a:ln/>
        </p:spPr>
        <p:txBody>
          <a:bodyPr wrap="square" lIns="0" tIns="0" rIns="0" bIns="0" rtlCol="0" anchor="t"/>
          <a:lstStyle/>
          <a:p>
            <a:pPr indent="0" marL="0">
              <a:buNone/>
            </a:pPr>
            <a:r>
              <a:rPr lang="en-US" sz="3200" b="1" dirty="0">
                <a:solidFill>
                  <a:srgbClr val="FF4D3D"/>
                </a:solidFill>
                <a:latin typeface="Arial" pitchFamily="34" charset="0"/>
                <a:ea typeface="Arial" pitchFamily="34" charset="-122"/>
                <a:cs typeface="Arial" pitchFamily="34" charset="-120"/>
              </a:rPr>
              <a:t>13</a:t>
            </a:r>
            <a:endParaRPr lang="en-US" sz="3200" dirty="0"/>
          </a:p>
        </p:txBody>
      </p:sp>
      <p:sp>
        <p:nvSpPr>
          <p:cNvPr id="45" name="Text 43"/>
          <p:cNvSpPr txBox="1"/>
          <p:nvPr/>
        </p:nvSpPr>
        <p:spPr>
          <a:xfrm>
            <a:off x="10352053" y="4892040"/>
            <a:ext cx="1153842"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Future &amp; lessons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00</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0</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Mindset: pick a game you'll play forever</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Before any tactic, install the right operating system. Most people quit exactly where the real learning starts.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0 · MINDSET</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operating system</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0 · Mindset: pick a game you'll play forever</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Play forever</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Pick a game you're willing to die on the field for. There's no finish line to productive growth, so winning becomes inevitable.</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Train, don't max out</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Don't start on Ronnie Coleman's routine. The best program is the one you'll stick with. Build the habit of posting before anything else.</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Volume negates luck</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Strategy is commoditized. The edge is iteration distance: how much better rep #2 is than rep #1.</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The fork at reps 10–30</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You'll think you should be good by now, and it'll feel like it takes ~500 reps. Most people quit here. Don't.</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Self-diagnosis (A vs. B)</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Taste says "that's cool." Skill says "my hook was slower than the winner's." Compare every piece to the best, and get a coach for your blind spots.</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Ego out</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Everyone is bad at the start. Caleb thought he looked fat in his footage and posted anyway. Your inner critic doesn't grow the channel. Results do.</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01</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1</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Strategy: pick your game</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The right strategy depends on what you sell. Pick the game first, and the tactics follow.</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 · STRATEGY</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5 content games</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 · Strategy: pick your game</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548640"/>
                <a:gridCol w="2926080"/>
                <a:gridCol w="4572000"/>
                <a:gridCol w="3044952"/>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Game</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Example</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Goal</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Entertainment media</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MrBeast, streamers, anything not tactically usable</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Max views (CPM, brand deals)</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Education media</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Content you can apply to fix a problem</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Max views</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Commodity consumer product</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Couches, hats, clothing, needing no explanation</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Awareness: just show it</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Consumer product needing education</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AG1 ("green powder in a box")</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Awareness plus a quick explainer</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B2B</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Services, coaching, info products, SaaS</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Deep trust through lots of education</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bl>
          </a:graphicData>
        </a:graphic>
      </p:graphicFrame>
      <p:sp>
        <p:nvSpPr>
          <p:cNvPr id="6" name="Shape 3"/>
          <p:cNvSpPr/>
          <p:nvPr/>
        </p:nvSpPr>
        <p:spPr>
          <a:xfrm>
            <a:off x="548640" y="4892040"/>
            <a:ext cx="11094415" cy="1188720"/>
          </a:xfrm>
          <a:prstGeom prst="roundRect">
            <a:avLst>
              <a:gd name="adj" fmla="val 7692"/>
            </a:avLst>
          </a:prstGeom>
          <a:solidFill>
            <a:srgbClr val="FFF4D6"/>
          </a:solidFill>
          <a:ln/>
        </p:spPr>
      </p:sp>
      <p:sp>
        <p:nvSpPr>
          <p:cNvPr id="7" name="Text 4"/>
          <p:cNvSpPr txBox="1"/>
          <p:nvPr/>
        </p:nvSpPr>
        <p:spPr>
          <a:xfrm>
            <a:off x="777240" y="505663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WARNING</a:t>
            </a:r>
            <a:endParaRPr lang="en-US" sz="1100" dirty="0"/>
          </a:p>
        </p:txBody>
      </p:sp>
      <p:sp>
        <p:nvSpPr>
          <p:cNvPr id="8" name="Text 5"/>
          <p:cNvSpPr txBox="1"/>
          <p:nvPr/>
        </p:nvSpPr>
        <p:spPr>
          <a:xfrm>
            <a:off x="777240" y="5349240"/>
            <a:ext cx="10637215" cy="64008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The pure media game is arbing to zero. You'd be competing with MrBeast, Netflix and the NFL, plus AI. If you play it, play the brand game: a narrow, well-matched audience earns premium rates.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 · STRATEGY</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Business = Traffic → Funnels → Offers</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 · Strategy: pick your game</a:t>
            </a:r>
            <a:endParaRPr lang="en-US" sz="1000" dirty="0"/>
          </a:p>
        </p:txBody>
      </p:sp>
      <p:sp>
        <p:nvSpPr>
          <p:cNvPr id="5" name="Shape 3"/>
          <p:cNvSpPr/>
          <p:nvPr/>
        </p:nvSpPr>
        <p:spPr>
          <a:xfrm>
            <a:off x="1935442" y="2057400"/>
            <a:ext cx="8320811" cy="0"/>
          </a:xfrm>
          <a:prstGeom prst="line">
            <a:avLst/>
          </a:prstGeom>
          <a:noFill/>
          <a:ln w="25400">
            <a:solidFill>
              <a:srgbClr val="D9D9E3"/>
            </a:solidFill>
            <a:prstDash val="solid"/>
          </a:ln>
        </p:spPr>
      </p:sp>
      <p:sp>
        <p:nvSpPr>
          <p:cNvPr id="6" name="Shape 4"/>
          <p:cNvSpPr/>
          <p:nvPr/>
        </p:nvSpPr>
        <p:spPr>
          <a:xfrm>
            <a:off x="1615402" y="1737360"/>
            <a:ext cx="640080" cy="640080"/>
          </a:xfrm>
          <a:prstGeom prst="ellipse">
            <a:avLst/>
          </a:prstGeom>
          <a:solidFill>
            <a:srgbClr val="FF4D3D"/>
          </a:solidFill>
          <a:ln/>
        </p:spPr>
      </p:sp>
      <p:sp>
        <p:nvSpPr>
          <p:cNvPr id="7" name="Text 5"/>
          <p:cNvSpPr txBox="1"/>
          <p:nvPr/>
        </p:nvSpPr>
        <p:spPr>
          <a:xfrm>
            <a:off x="161540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Chase views</a:t>
            </a:r>
            <a:endParaRPr lang="en-US" sz="1500" dirty="0"/>
          </a:p>
        </p:txBody>
      </p:sp>
      <p:sp>
        <p:nvSpPr>
          <p:cNvPr id="9" name="Text 7"/>
          <p:cNvSpPr txBox="1"/>
          <p:nvPr/>
        </p:nvSpPr>
        <p:spPr>
          <a:xfrm>
            <a:off x="640080"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You start traffic-first, get hooked on views and broaden your topics.</a:t>
            </a:r>
            <a:endParaRPr lang="en-US" sz="1400" dirty="0"/>
          </a:p>
        </p:txBody>
      </p:sp>
      <p:sp>
        <p:nvSpPr>
          <p:cNvPr id="10" name="Shape 8"/>
          <p:cNvSpPr/>
          <p:nvPr/>
        </p:nvSpPr>
        <p:spPr>
          <a:xfrm>
            <a:off x="4389006" y="1737360"/>
            <a:ext cx="640080" cy="640080"/>
          </a:xfrm>
          <a:prstGeom prst="ellipse">
            <a:avLst/>
          </a:prstGeom>
          <a:solidFill>
            <a:srgbClr val="FF4D3D"/>
          </a:solidFill>
          <a:ln/>
        </p:spPr>
      </p:sp>
      <p:sp>
        <p:nvSpPr>
          <p:cNvPr id="11" name="Text 9"/>
          <p:cNvSpPr txBox="1"/>
          <p:nvPr/>
        </p:nvSpPr>
        <p:spPr>
          <a:xfrm>
            <a:off x="4389006"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413684"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Revenue caps</a:t>
            </a:r>
            <a:endParaRPr lang="en-US" sz="1500" dirty="0"/>
          </a:p>
        </p:txBody>
      </p:sp>
      <p:sp>
        <p:nvSpPr>
          <p:cNvPr id="13" name="Text 11"/>
          <p:cNvSpPr txBox="1"/>
          <p:nvPr/>
        </p:nvSpPr>
        <p:spPr>
          <a:xfrm>
            <a:off x="3413684"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Media income plateaus, then decays as competition and AI rise.</a:t>
            </a:r>
            <a:endParaRPr lang="en-US" sz="1400" dirty="0"/>
          </a:p>
        </p:txBody>
      </p:sp>
      <p:sp>
        <p:nvSpPr>
          <p:cNvPr id="14" name="Shape 12"/>
          <p:cNvSpPr/>
          <p:nvPr/>
        </p:nvSpPr>
        <p:spPr>
          <a:xfrm>
            <a:off x="7162610" y="1737360"/>
            <a:ext cx="640080" cy="640080"/>
          </a:xfrm>
          <a:prstGeom prst="ellipse">
            <a:avLst/>
          </a:prstGeom>
          <a:solidFill>
            <a:srgbClr val="FF4D3D"/>
          </a:solidFill>
          <a:ln/>
        </p:spPr>
      </p:sp>
      <p:sp>
        <p:nvSpPr>
          <p:cNvPr id="15" name="Text 13"/>
          <p:cNvSpPr txBox="1"/>
          <p:nvPr/>
        </p:nvSpPr>
        <p:spPr>
          <a:xfrm>
            <a:off x="7162610"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187288"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Offer flops</a:t>
            </a:r>
            <a:endParaRPr lang="en-US" sz="1500" dirty="0"/>
          </a:p>
        </p:txBody>
      </p:sp>
      <p:sp>
        <p:nvSpPr>
          <p:cNvPr id="17" name="Text 15"/>
          <p:cNvSpPr txBox="1"/>
          <p:nvPr/>
        </p:nvSpPr>
        <p:spPr>
          <a:xfrm>
            <a:off x="6187288"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The broad audience doesn't want your offer, and polls come back all over the place.</a:t>
            </a:r>
            <a:endParaRPr lang="en-US" sz="1400" dirty="0"/>
          </a:p>
        </p:txBody>
      </p:sp>
      <p:sp>
        <p:nvSpPr>
          <p:cNvPr id="18" name="Shape 16"/>
          <p:cNvSpPr/>
          <p:nvPr/>
        </p:nvSpPr>
        <p:spPr>
          <a:xfrm>
            <a:off x="9936213" y="1737360"/>
            <a:ext cx="640080" cy="640080"/>
          </a:xfrm>
          <a:prstGeom prst="ellipse">
            <a:avLst/>
          </a:prstGeom>
          <a:solidFill>
            <a:srgbClr val="FFC93C"/>
          </a:solidFill>
          <a:ln/>
        </p:spPr>
      </p:sp>
      <p:sp>
        <p:nvSpPr>
          <p:cNvPr id="19" name="Text 17"/>
          <p:cNvSpPr txBox="1"/>
          <p:nvPr/>
        </p:nvSpPr>
        <p:spPr>
          <a:xfrm>
            <a:off x="9936213"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8960891"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Rebuild narrow</a:t>
            </a:r>
            <a:endParaRPr lang="en-US" sz="1500" dirty="0"/>
          </a:p>
        </p:txBody>
      </p:sp>
      <p:sp>
        <p:nvSpPr>
          <p:cNvPr id="21" name="Text 19"/>
          <p:cNvSpPr txBox="1"/>
          <p:nvPr/>
        </p:nvSpPr>
        <p:spPr>
          <a:xfrm>
            <a:off x="8960891"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You end up building a second, narrow audience around the offer. Avoid this by sketching your offer early.</a:t>
            </a:r>
            <a:endParaRPr lang="en-US" sz="1400" dirty="0"/>
          </a:p>
        </p:txBody>
      </p:sp>
      <p:sp>
        <p:nvSpPr>
          <p:cNvPr id="22" name="Shape 20"/>
          <p:cNvSpPr/>
          <p:nvPr/>
        </p:nvSpPr>
        <p:spPr>
          <a:xfrm>
            <a:off x="548640" y="4846320"/>
            <a:ext cx="11094415" cy="1234440"/>
          </a:xfrm>
          <a:prstGeom prst="roundRect">
            <a:avLst>
              <a:gd name="adj" fmla="val 7407"/>
            </a:avLst>
          </a:prstGeom>
          <a:solidFill>
            <a:srgbClr val="FFF4D6"/>
          </a:solidFill>
          <a:ln/>
        </p:spPr>
      </p:sp>
      <p:sp>
        <p:nvSpPr>
          <p:cNvPr id="23" name="Text 21"/>
          <p:cNvSpPr txBox="1"/>
          <p:nvPr/>
        </p:nvSpPr>
        <p:spPr>
          <a:xfrm>
            <a:off x="777240" y="501091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CREATOR vs. ENTREPRENEUR</a:t>
            </a:r>
            <a:endParaRPr lang="en-US" sz="1100" dirty="0"/>
          </a:p>
        </p:txBody>
      </p:sp>
      <p:sp>
        <p:nvSpPr>
          <p:cNvPr id="24" name="Text 22"/>
          <p:cNvSpPr txBox="1"/>
          <p:nvPr/>
        </p:nvSpPr>
        <p:spPr>
          <a:xfrm>
            <a:off x="777240" y="5303520"/>
            <a:ext cx="10637215" cy="6858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Creators chase fame, and seven figures there is rare. Entrepreneurs use content as a lever: "I just need to be known by my potential customers." Wider audiences mean less certain brands and lower pay.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 · THE MASTER LAW</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Content minutes: 1 watched minute = 1 trust block</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 · Strategy: pick your game</a:t>
            </a:r>
            <a:endParaRPr lang="en-US" sz="1000" dirty="0"/>
          </a:p>
        </p:txBody>
      </p:sp>
      <p:sp>
        <p:nvSpPr>
          <p:cNvPr id="5" name="Shape 3"/>
          <p:cNvSpPr/>
          <p:nvPr/>
        </p:nvSpPr>
        <p:spPr>
          <a:xfrm>
            <a:off x="548640" y="1645920"/>
            <a:ext cx="2567864" cy="2194560"/>
          </a:xfrm>
          <a:prstGeom prst="roundRect">
            <a:avLst>
              <a:gd name="adj" fmla="val 5000"/>
            </a:avLst>
          </a:prstGeom>
          <a:solidFill>
            <a:srgbClr val="F4F4F8"/>
          </a:solidFill>
          <a:ln/>
        </p:spPr>
      </p:sp>
      <p:sp>
        <p:nvSpPr>
          <p:cNvPr id="6" name="Text 4"/>
          <p:cNvSpPr txBox="1"/>
          <p:nvPr/>
        </p:nvSpPr>
        <p:spPr>
          <a:xfrm>
            <a:off x="731520" y="1874520"/>
            <a:ext cx="2202104"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4</a:t>
            </a:r>
            <a:endParaRPr lang="en-US" sz="5400" dirty="0"/>
          </a:p>
        </p:txBody>
      </p:sp>
      <p:sp>
        <p:nvSpPr>
          <p:cNvPr id="7" name="Text 5"/>
          <p:cNvSpPr txBox="1"/>
          <p:nvPr/>
        </p:nvSpPr>
        <p:spPr>
          <a:xfrm>
            <a:off x="731520" y="2926080"/>
            <a:ext cx="2202104"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blocks to earn an email lead</a:t>
            </a:r>
            <a:endParaRPr lang="en-US" sz="1400" dirty="0"/>
          </a:p>
        </p:txBody>
      </p:sp>
      <p:sp>
        <p:nvSpPr>
          <p:cNvPr id="8" name="Shape 6"/>
          <p:cNvSpPr/>
          <p:nvPr/>
        </p:nvSpPr>
        <p:spPr>
          <a:xfrm>
            <a:off x="3390824" y="1645920"/>
            <a:ext cx="2567864" cy="2194560"/>
          </a:xfrm>
          <a:prstGeom prst="roundRect">
            <a:avLst>
              <a:gd name="adj" fmla="val 5000"/>
            </a:avLst>
          </a:prstGeom>
          <a:solidFill>
            <a:srgbClr val="F4F4F8"/>
          </a:solidFill>
          <a:ln/>
        </p:spPr>
      </p:sp>
      <p:sp>
        <p:nvSpPr>
          <p:cNvPr id="9" name="Text 7"/>
          <p:cNvSpPr txBox="1"/>
          <p:nvPr/>
        </p:nvSpPr>
        <p:spPr>
          <a:xfrm>
            <a:off x="3573704" y="1874520"/>
            <a:ext cx="2202104"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12</a:t>
            </a:r>
            <a:endParaRPr lang="en-US" sz="5400" dirty="0"/>
          </a:p>
        </p:txBody>
      </p:sp>
      <p:sp>
        <p:nvSpPr>
          <p:cNvPr id="10" name="Text 8"/>
          <p:cNvSpPr txBox="1"/>
          <p:nvPr/>
        </p:nvSpPr>
        <p:spPr>
          <a:xfrm>
            <a:off x="3573704" y="2926080"/>
            <a:ext cx="2202104"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blocks to sell a $97 product</a:t>
            </a:r>
            <a:endParaRPr lang="en-US" sz="1400" dirty="0"/>
          </a:p>
        </p:txBody>
      </p:sp>
      <p:sp>
        <p:nvSpPr>
          <p:cNvPr id="11" name="Shape 9"/>
          <p:cNvSpPr/>
          <p:nvPr/>
        </p:nvSpPr>
        <p:spPr>
          <a:xfrm>
            <a:off x="6233008" y="1645920"/>
            <a:ext cx="2567864" cy="2194560"/>
          </a:xfrm>
          <a:prstGeom prst="roundRect">
            <a:avLst>
              <a:gd name="adj" fmla="val 5000"/>
            </a:avLst>
          </a:prstGeom>
          <a:solidFill>
            <a:srgbClr val="F4F4F8"/>
          </a:solidFill>
          <a:ln/>
        </p:spPr>
      </p:sp>
      <p:sp>
        <p:nvSpPr>
          <p:cNvPr id="12" name="Text 10"/>
          <p:cNvSpPr txBox="1"/>
          <p:nvPr/>
        </p:nvSpPr>
        <p:spPr>
          <a:xfrm>
            <a:off x="6415888" y="1874520"/>
            <a:ext cx="2202104"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400</a:t>
            </a:r>
            <a:endParaRPr lang="en-US" sz="5400" dirty="0"/>
          </a:p>
        </p:txBody>
      </p:sp>
      <p:sp>
        <p:nvSpPr>
          <p:cNvPr id="13" name="Text 11"/>
          <p:cNvSpPr txBox="1"/>
          <p:nvPr/>
        </p:nvSpPr>
        <p:spPr>
          <a:xfrm>
            <a:off x="6415888" y="2926080"/>
            <a:ext cx="2202104"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blocks to sell a $10k product</a:t>
            </a:r>
            <a:endParaRPr lang="en-US" sz="1400" dirty="0"/>
          </a:p>
        </p:txBody>
      </p:sp>
      <p:sp>
        <p:nvSpPr>
          <p:cNvPr id="14" name="Shape 12"/>
          <p:cNvSpPr/>
          <p:nvPr/>
        </p:nvSpPr>
        <p:spPr>
          <a:xfrm>
            <a:off x="9075191" y="1645920"/>
            <a:ext cx="2567864" cy="2194560"/>
          </a:xfrm>
          <a:prstGeom prst="roundRect">
            <a:avLst>
              <a:gd name="adj" fmla="val 5000"/>
            </a:avLst>
          </a:prstGeom>
          <a:solidFill>
            <a:srgbClr val="F4F4F8"/>
          </a:solidFill>
          <a:ln/>
        </p:spPr>
      </p:sp>
      <p:sp>
        <p:nvSpPr>
          <p:cNvPr id="15" name="Text 13"/>
          <p:cNvSpPr txBox="1"/>
          <p:nvPr/>
        </p:nvSpPr>
        <p:spPr>
          <a:xfrm>
            <a:off x="9258071" y="1874520"/>
            <a:ext cx="2202104"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20:1</a:t>
            </a:r>
            <a:endParaRPr lang="en-US" sz="5400" dirty="0"/>
          </a:p>
        </p:txBody>
      </p:sp>
      <p:sp>
        <p:nvSpPr>
          <p:cNvPr id="16" name="Text 14"/>
          <p:cNvSpPr txBox="1"/>
          <p:nvPr/>
        </p:nvSpPr>
        <p:spPr>
          <a:xfrm>
            <a:off x="9258071" y="2926080"/>
            <a:ext cx="2202104"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shorts needed to equal one long-form video in trust</a:t>
            </a:r>
            <a:endParaRPr lang="en-US" sz="1400" dirty="0"/>
          </a:p>
        </p:txBody>
      </p:sp>
      <p:sp>
        <p:nvSpPr>
          <p:cNvPr id="17" name="Text 15"/>
          <p:cNvSpPr txBox="1"/>
          <p:nvPr/>
        </p:nvSpPr>
        <p:spPr>
          <a:xfrm>
            <a:off x="548640" y="4160520"/>
            <a:ext cx="11094415"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4141F"/>
                </a:solidFill>
                <a:latin typeface="Calibri" pitchFamily="34" charset="0"/>
                <a:ea typeface="Calibri" pitchFamily="34" charset="-122"/>
                <a:cs typeface="Calibri" pitchFamily="34" charset="-120"/>
              </a:rPr>
              <a:t>Bingeability stacks blocks fast: get 8 minutes watched in one session and they'll buy the 8-block offer.</a:t>
            </a:r>
            <a:endParaRPr lang="en-US" sz="1600" dirty="0"/>
          </a:p>
          <a:p>
            <a:pPr marL="342900" indent="-342900">
              <a:spcAft>
                <a:spcPts val="800"/>
              </a:spcAft>
              <a:buSzPct val="100000"/>
              <a:buChar char="•"/>
            </a:pPr>
            <a:r>
              <a:rPr lang="en-US" sz="1600" dirty="0">
                <a:solidFill>
                  <a:srgbClr val="14141F"/>
                </a:solidFill>
                <a:latin typeface="Calibri" pitchFamily="34" charset="0"/>
                <a:ea typeface="Calibri" pitchFamily="34" charset="-122"/>
                <a:cs typeface="Calibri" pitchFamily="34" charset="-120"/>
              </a:rPr>
              <a:t>A 25-minute YouTube video earns ~8–10 blocks per view. A short earns ~0.5.</a:t>
            </a:r>
            <a:endParaRPr lang="en-US" sz="1600" dirty="0"/>
          </a:p>
          <a:p>
            <a:pPr marL="342900" indent="-342900">
              <a:spcAft>
                <a:spcPts val="800"/>
              </a:spcAft>
              <a:buSzPct val="100000"/>
              <a:buChar char="•"/>
            </a:pPr>
            <a:r>
              <a:rPr lang="en-US" sz="1600" dirty="0">
                <a:solidFill>
                  <a:srgbClr val="14141F"/>
                </a:solidFill>
                <a:latin typeface="Calibri" pitchFamily="34" charset="0"/>
                <a:ea typeface="Calibri" pitchFamily="34" charset="-122"/>
                <a:cs typeface="Calibri" pitchFamily="34" charset="-120"/>
              </a:rPr>
              <a:t>Harley dealership sunk cost: the longer someone spends with you, the likelier they buy. Short form = awareness, long form = conversion.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02</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2</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Brand foundation: define who you are</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Your brand exists whether you define it or not. If you don't, your audience will do it for you.</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2 · BRAND</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What brand actually is</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2 · Brand foundation: define who you are</a:t>
            </a:r>
            <a:endParaRPr lang="en-US" sz="1000" dirty="0"/>
          </a:p>
        </p:txBody>
      </p:sp>
      <p:sp>
        <p:nvSpPr>
          <p:cNvPr id="5" name="Shape 3"/>
          <p:cNvSpPr/>
          <p:nvPr/>
        </p:nvSpPr>
        <p:spPr>
          <a:xfrm>
            <a:off x="548640" y="1645920"/>
            <a:ext cx="3515258" cy="1920240"/>
          </a:xfrm>
          <a:prstGeom prst="roundRect">
            <a:avLst>
              <a:gd name="adj" fmla="val 5714"/>
            </a:avLst>
          </a:prstGeom>
          <a:solidFill>
            <a:srgbClr val="F4F4F8"/>
          </a:solidFill>
          <a:ln/>
        </p:spPr>
      </p:sp>
      <p:sp>
        <p:nvSpPr>
          <p:cNvPr id="6" name="Text 4"/>
          <p:cNvSpPr txBox="1"/>
          <p:nvPr/>
        </p:nvSpPr>
        <p:spPr>
          <a:xfrm>
            <a:off x="731520" y="1874520"/>
            <a:ext cx="3149498" cy="1005840"/>
          </a:xfrm>
          <a:prstGeom prst="rect">
            <a:avLst/>
          </a:prstGeom>
          <a:noFill/>
          <a:ln/>
        </p:spPr>
        <p:txBody>
          <a:bodyPr wrap="square" lIns="0" tIns="0" rIns="0" bIns="0" rtlCol="0" anchor="ctr"/>
          <a:lstStyle/>
          <a:p>
            <a:pPr algn="ctr" indent="0" marL="0">
              <a:buNone/>
            </a:pPr>
            <a:r>
              <a:rPr lang="en-US" sz="3000" b="1" dirty="0">
                <a:solidFill>
                  <a:srgbClr val="FF4D3D"/>
                </a:solidFill>
                <a:latin typeface="Arial" pitchFamily="34" charset="0"/>
                <a:ea typeface="Arial" pitchFamily="34" charset="-122"/>
                <a:cs typeface="Arial" pitchFamily="34" charset="-120"/>
              </a:rPr>
              <a:t>Branding</a:t>
            </a:r>
            <a:endParaRPr lang="en-US" sz="3000" dirty="0"/>
          </a:p>
        </p:txBody>
      </p:sp>
      <p:sp>
        <p:nvSpPr>
          <p:cNvPr id="7" name="Text 5"/>
          <p:cNvSpPr txBox="1"/>
          <p:nvPr/>
        </p:nvSpPr>
        <p:spPr>
          <a:xfrm>
            <a:off x="731520" y="2926080"/>
            <a:ext cx="3149498" cy="54864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A pairing of things</a:t>
            </a:r>
            <a:endParaRPr lang="en-US" sz="1400" dirty="0"/>
          </a:p>
        </p:txBody>
      </p:sp>
      <p:sp>
        <p:nvSpPr>
          <p:cNvPr id="8" name="Shape 6"/>
          <p:cNvSpPr/>
          <p:nvPr/>
        </p:nvSpPr>
        <p:spPr>
          <a:xfrm>
            <a:off x="4338218" y="1645920"/>
            <a:ext cx="3515258" cy="1920240"/>
          </a:xfrm>
          <a:prstGeom prst="roundRect">
            <a:avLst>
              <a:gd name="adj" fmla="val 5714"/>
            </a:avLst>
          </a:prstGeom>
          <a:solidFill>
            <a:srgbClr val="F4F4F8"/>
          </a:solidFill>
          <a:ln/>
        </p:spPr>
      </p:sp>
      <p:sp>
        <p:nvSpPr>
          <p:cNvPr id="9" name="Text 7"/>
          <p:cNvSpPr txBox="1"/>
          <p:nvPr/>
        </p:nvSpPr>
        <p:spPr>
          <a:xfrm>
            <a:off x="4521098" y="1874520"/>
            <a:ext cx="3149498" cy="1005840"/>
          </a:xfrm>
          <a:prstGeom prst="rect">
            <a:avLst/>
          </a:prstGeom>
          <a:noFill/>
          <a:ln/>
        </p:spPr>
        <p:txBody>
          <a:bodyPr wrap="square" lIns="0" tIns="0" rIns="0" bIns="0" rtlCol="0" anchor="ctr"/>
          <a:lstStyle/>
          <a:p>
            <a:pPr algn="ctr" indent="0" marL="0">
              <a:buNone/>
            </a:pPr>
            <a:r>
              <a:rPr lang="en-US" sz="3000" b="1" dirty="0">
                <a:solidFill>
                  <a:srgbClr val="FF4D3D"/>
                </a:solidFill>
                <a:latin typeface="Arial" pitchFamily="34" charset="0"/>
                <a:ea typeface="Arial" pitchFamily="34" charset="-122"/>
                <a:cs typeface="Arial" pitchFamily="34" charset="-120"/>
              </a:rPr>
              <a:t>Good branding</a:t>
            </a:r>
            <a:endParaRPr lang="en-US" sz="3000" dirty="0"/>
          </a:p>
        </p:txBody>
      </p:sp>
      <p:sp>
        <p:nvSpPr>
          <p:cNvPr id="10" name="Text 8"/>
          <p:cNvSpPr txBox="1"/>
          <p:nvPr/>
        </p:nvSpPr>
        <p:spPr>
          <a:xfrm>
            <a:off x="4521098" y="2926080"/>
            <a:ext cx="3149498" cy="54864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An intentional pairing of relevant things, done consistently</a:t>
            </a:r>
            <a:endParaRPr lang="en-US" sz="1400" dirty="0"/>
          </a:p>
        </p:txBody>
      </p:sp>
      <p:sp>
        <p:nvSpPr>
          <p:cNvPr id="11" name="Shape 9"/>
          <p:cNvSpPr/>
          <p:nvPr/>
        </p:nvSpPr>
        <p:spPr>
          <a:xfrm>
            <a:off x="8127797" y="1645920"/>
            <a:ext cx="3515258" cy="1920240"/>
          </a:xfrm>
          <a:prstGeom prst="roundRect">
            <a:avLst>
              <a:gd name="adj" fmla="val 5714"/>
            </a:avLst>
          </a:prstGeom>
          <a:solidFill>
            <a:srgbClr val="F4F4F8"/>
          </a:solidFill>
          <a:ln/>
        </p:spPr>
      </p:sp>
      <p:sp>
        <p:nvSpPr>
          <p:cNvPr id="12" name="Text 10"/>
          <p:cNvSpPr txBox="1"/>
          <p:nvPr/>
        </p:nvSpPr>
        <p:spPr>
          <a:xfrm>
            <a:off x="8310677" y="1874520"/>
            <a:ext cx="3149498" cy="1005840"/>
          </a:xfrm>
          <a:prstGeom prst="rect">
            <a:avLst/>
          </a:prstGeom>
          <a:noFill/>
          <a:ln/>
        </p:spPr>
        <p:txBody>
          <a:bodyPr wrap="square" lIns="0" tIns="0" rIns="0" bIns="0" rtlCol="0" anchor="ctr"/>
          <a:lstStyle/>
          <a:p>
            <a:pPr algn="ctr" indent="0" marL="0">
              <a:buNone/>
            </a:pPr>
            <a:r>
              <a:rPr lang="en-US" sz="3000" b="1" dirty="0">
                <a:solidFill>
                  <a:srgbClr val="FF4D3D"/>
                </a:solidFill>
                <a:latin typeface="Arial" pitchFamily="34" charset="0"/>
                <a:ea typeface="Arial" pitchFamily="34" charset="-122"/>
                <a:cs typeface="Arial" pitchFamily="34" charset="-120"/>
              </a:rPr>
              <a:t>Brand</a:t>
            </a:r>
            <a:endParaRPr lang="en-US" sz="3000" dirty="0"/>
          </a:p>
        </p:txBody>
      </p:sp>
      <p:sp>
        <p:nvSpPr>
          <p:cNvPr id="13" name="Text 11"/>
          <p:cNvSpPr txBox="1"/>
          <p:nvPr/>
        </p:nvSpPr>
        <p:spPr>
          <a:xfrm>
            <a:off x="8310677" y="2926080"/>
            <a:ext cx="3149498" cy="54864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The byproduct: the audience inherently associates those things</a:t>
            </a:r>
            <a:endParaRPr lang="en-US" sz="1400" dirty="0"/>
          </a:p>
        </p:txBody>
      </p:sp>
      <p:sp>
        <p:nvSpPr>
          <p:cNvPr id="14" name="Shape 12"/>
          <p:cNvSpPr/>
          <p:nvPr/>
        </p:nvSpPr>
        <p:spPr>
          <a:xfrm>
            <a:off x="548640" y="3886200"/>
            <a:ext cx="3515258" cy="2377440"/>
          </a:xfrm>
          <a:prstGeom prst="roundRect">
            <a:avLst>
              <a:gd name="adj" fmla="val 4615"/>
            </a:avLst>
          </a:prstGeom>
          <a:solidFill>
            <a:srgbClr val="F4F4F8"/>
          </a:solidFill>
          <a:ln/>
        </p:spPr>
      </p:sp>
      <p:sp>
        <p:nvSpPr>
          <p:cNvPr id="15" name="Shape 13"/>
          <p:cNvSpPr/>
          <p:nvPr/>
        </p:nvSpPr>
        <p:spPr>
          <a:xfrm>
            <a:off x="777240" y="4114800"/>
            <a:ext cx="411480" cy="411480"/>
          </a:xfrm>
          <a:prstGeom prst="ellipse">
            <a:avLst/>
          </a:prstGeom>
          <a:solidFill>
            <a:srgbClr val="FF4D3D"/>
          </a:solidFill>
          <a:ln/>
        </p:spPr>
      </p:sp>
      <p:sp>
        <p:nvSpPr>
          <p:cNvPr id="16" name="Text 14"/>
          <p:cNvSpPr txBox="1"/>
          <p:nvPr/>
        </p:nvSpPr>
        <p:spPr>
          <a:xfrm>
            <a:off x="777240" y="411480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Text 15"/>
          <p:cNvSpPr txBox="1"/>
          <p:nvPr/>
        </p:nvSpPr>
        <p:spPr>
          <a:xfrm>
            <a:off x="1325880" y="408736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Nike + Jordan</a:t>
            </a:r>
            <a:endParaRPr lang="en-US" sz="1600" dirty="0"/>
          </a:p>
        </p:txBody>
      </p:sp>
      <p:sp>
        <p:nvSpPr>
          <p:cNvPr id="18" name="Text 16"/>
          <p:cNvSpPr txBox="1"/>
          <p:nvPr/>
        </p:nvSpPr>
        <p:spPr>
          <a:xfrm>
            <a:off x="777240" y="4709160"/>
            <a:ext cx="3058058" cy="141732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Paired with the greatest winner in basketball, so Nike means athletic greatness.</a:t>
            </a:r>
            <a:endParaRPr lang="en-US" sz="1450" dirty="0"/>
          </a:p>
        </p:txBody>
      </p:sp>
      <p:sp>
        <p:nvSpPr>
          <p:cNvPr id="19" name="Shape 17"/>
          <p:cNvSpPr/>
          <p:nvPr/>
        </p:nvSpPr>
        <p:spPr>
          <a:xfrm>
            <a:off x="4338218" y="3886200"/>
            <a:ext cx="3515258" cy="2377440"/>
          </a:xfrm>
          <a:prstGeom prst="roundRect">
            <a:avLst>
              <a:gd name="adj" fmla="val 4615"/>
            </a:avLst>
          </a:prstGeom>
          <a:solidFill>
            <a:srgbClr val="F4F4F8"/>
          </a:solidFill>
          <a:ln/>
        </p:spPr>
      </p:sp>
      <p:sp>
        <p:nvSpPr>
          <p:cNvPr id="20" name="Shape 18"/>
          <p:cNvSpPr/>
          <p:nvPr/>
        </p:nvSpPr>
        <p:spPr>
          <a:xfrm>
            <a:off x="4566818" y="4114800"/>
            <a:ext cx="411480" cy="411480"/>
          </a:xfrm>
          <a:prstGeom prst="ellipse">
            <a:avLst/>
          </a:prstGeom>
          <a:solidFill>
            <a:srgbClr val="FF4D3D"/>
          </a:solidFill>
          <a:ln/>
        </p:spPr>
      </p:sp>
      <p:sp>
        <p:nvSpPr>
          <p:cNvPr id="21" name="Text 19"/>
          <p:cNvSpPr txBox="1"/>
          <p:nvPr/>
        </p:nvSpPr>
        <p:spPr>
          <a:xfrm>
            <a:off x="4566818" y="411480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txBox="1"/>
          <p:nvPr/>
        </p:nvSpPr>
        <p:spPr>
          <a:xfrm>
            <a:off x="5115458" y="408736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Gary Vee + content</a:t>
            </a:r>
            <a:endParaRPr lang="en-US" sz="1600" dirty="0"/>
          </a:p>
        </p:txBody>
      </p:sp>
      <p:sp>
        <p:nvSpPr>
          <p:cNvPr id="23" name="Text 21"/>
          <p:cNvSpPr txBox="1"/>
          <p:nvPr/>
        </p:nvSpPr>
        <p:spPr>
          <a:xfrm>
            <a:off x="4566818" y="4709160"/>
            <a:ext cx="3058058" cy="141732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Crush It (~2009), then 15+ years of repetition, so he means content.</a:t>
            </a:r>
            <a:endParaRPr lang="en-US" sz="1450" dirty="0"/>
          </a:p>
        </p:txBody>
      </p:sp>
      <p:sp>
        <p:nvSpPr>
          <p:cNvPr id="24" name="Shape 22"/>
          <p:cNvSpPr/>
          <p:nvPr/>
        </p:nvSpPr>
        <p:spPr>
          <a:xfrm>
            <a:off x="8127797" y="3886200"/>
            <a:ext cx="3515258" cy="2377440"/>
          </a:xfrm>
          <a:prstGeom prst="roundRect">
            <a:avLst>
              <a:gd name="adj" fmla="val 4615"/>
            </a:avLst>
          </a:prstGeom>
          <a:solidFill>
            <a:srgbClr val="F4F4F8"/>
          </a:solidFill>
          <a:ln/>
        </p:spPr>
      </p:sp>
      <p:sp>
        <p:nvSpPr>
          <p:cNvPr id="25" name="Shape 23"/>
          <p:cNvSpPr/>
          <p:nvPr/>
        </p:nvSpPr>
        <p:spPr>
          <a:xfrm>
            <a:off x="8356397" y="4114800"/>
            <a:ext cx="411480" cy="411480"/>
          </a:xfrm>
          <a:prstGeom prst="ellipse">
            <a:avLst/>
          </a:prstGeom>
          <a:solidFill>
            <a:srgbClr val="FF4D3D"/>
          </a:solidFill>
          <a:ln/>
        </p:spPr>
      </p:sp>
      <p:sp>
        <p:nvSpPr>
          <p:cNvPr id="26" name="Text 24"/>
          <p:cNvSpPr txBox="1"/>
          <p:nvPr/>
        </p:nvSpPr>
        <p:spPr>
          <a:xfrm>
            <a:off x="8356397" y="411480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Text 25"/>
          <p:cNvSpPr txBox="1"/>
          <p:nvPr/>
        </p:nvSpPr>
        <p:spPr>
          <a:xfrm>
            <a:off x="8905037" y="408736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Harley + freedom</a:t>
            </a:r>
            <a:endParaRPr lang="en-US" sz="1600" dirty="0"/>
          </a:p>
        </p:txBody>
      </p:sp>
      <p:sp>
        <p:nvSpPr>
          <p:cNvPr id="28" name="Text 26"/>
          <p:cNvSpPr txBox="1"/>
          <p:nvPr/>
        </p:nvSpPr>
        <p:spPr>
          <a:xfrm>
            <a:off x="8356397" y="4709160"/>
            <a:ext cx="3058058" cy="141732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Years of marketing the open road, so Harley means freedom.</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2 · BRAND</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Brand Journey: reverse-engineer from the end</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2 · Brand foundation: define who you are</a:t>
            </a:r>
            <a:endParaRPr lang="en-US" sz="1000" dirty="0"/>
          </a:p>
        </p:txBody>
      </p:sp>
      <p:sp>
        <p:nvSpPr>
          <p:cNvPr id="5" name="Shape 3"/>
          <p:cNvSpPr/>
          <p:nvPr/>
        </p:nvSpPr>
        <p:spPr>
          <a:xfrm>
            <a:off x="1935442" y="2057400"/>
            <a:ext cx="8320811" cy="0"/>
          </a:xfrm>
          <a:prstGeom prst="line">
            <a:avLst/>
          </a:prstGeom>
          <a:noFill/>
          <a:ln w="25400">
            <a:solidFill>
              <a:srgbClr val="D9D9E3"/>
            </a:solidFill>
            <a:prstDash val="solid"/>
          </a:ln>
        </p:spPr>
      </p:sp>
      <p:sp>
        <p:nvSpPr>
          <p:cNvPr id="6" name="Shape 4"/>
          <p:cNvSpPr/>
          <p:nvPr/>
        </p:nvSpPr>
        <p:spPr>
          <a:xfrm>
            <a:off x="1615402" y="1737360"/>
            <a:ext cx="640080" cy="640080"/>
          </a:xfrm>
          <a:prstGeom prst="ellipse">
            <a:avLst/>
          </a:prstGeom>
          <a:solidFill>
            <a:srgbClr val="FF4D3D"/>
          </a:solidFill>
          <a:ln/>
        </p:spPr>
      </p:sp>
      <p:sp>
        <p:nvSpPr>
          <p:cNvPr id="7" name="Text 5"/>
          <p:cNvSpPr txBox="1"/>
          <p:nvPr/>
        </p:nvSpPr>
        <p:spPr>
          <a:xfrm>
            <a:off x="161540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Desired outcome</a:t>
            </a:r>
            <a:endParaRPr lang="en-US" sz="1500" dirty="0"/>
          </a:p>
        </p:txBody>
      </p:sp>
      <p:sp>
        <p:nvSpPr>
          <p:cNvPr id="9" name="Text 7"/>
          <p:cNvSpPr txBox="1"/>
          <p:nvPr/>
        </p:nvSpPr>
        <p:spPr>
          <a:xfrm>
            <a:off x="640080"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What do I want to happen?</a:t>
            </a:r>
            <a:endParaRPr lang="en-US" sz="1400" dirty="0"/>
          </a:p>
        </p:txBody>
      </p:sp>
      <p:sp>
        <p:nvSpPr>
          <p:cNvPr id="10" name="Shape 8"/>
          <p:cNvSpPr/>
          <p:nvPr/>
        </p:nvSpPr>
        <p:spPr>
          <a:xfrm>
            <a:off x="4389006" y="1737360"/>
            <a:ext cx="640080" cy="640080"/>
          </a:xfrm>
          <a:prstGeom prst="ellipse">
            <a:avLst/>
          </a:prstGeom>
          <a:solidFill>
            <a:srgbClr val="FF4D3D"/>
          </a:solidFill>
          <a:ln/>
        </p:spPr>
      </p:sp>
      <p:sp>
        <p:nvSpPr>
          <p:cNvPr id="11" name="Text 9"/>
          <p:cNvSpPr txBox="1"/>
          <p:nvPr/>
        </p:nvSpPr>
        <p:spPr>
          <a:xfrm>
            <a:off x="4389006"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413684"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Known for</a:t>
            </a:r>
            <a:endParaRPr lang="en-US" sz="1500" dirty="0"/>
          </a:p>
        </p:txBody>
      </p:sp>
      <p:sp>
        <p:nvSpPr>
          <p:cNvPr id="13" name="Text 11"/>
          <p:cNvSpPr txBox="1"/>
          <p:nvPr/>
        </p:nvSpPr>
        <p:spPr>
          <a:xfrm>
            <a:off x="3413684"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What do I have to be known for to get there?</a:t>
            </a:r>
            <a:endParaRPr lang="en-US" sz="1400" dirty="0"/>
          </a:p>
        </p:txBody>
      </p:sp>
      <p:sp>
        <p:nvSpPr>
          <p:cNvPr id="14" name="Shape 12"/>
          <p:cNvSpPr/>
          <p:nvPr/>
        </p:nvSpPr>
        <p:spPr>
          <a:xfrm>
            <a:off x="7162610" y="1737360"/>
            <a:ext cx="640080" cy="640080"/>
          </a:xfrm>
          <a:prstGeom prst="ellipse">
            <a:avLst/>
          </a:prstGeom>
          <a:solidFill>
            <a:srgbClr val="FF4D3D"/>
          </a:solidFill>
          <a:ln/>
        </p:spPr>
      </p:sp>
      <p:sp>
        <p:nvSpPr>
          <p:cNvPr id="15" name="Text 13"/>
          <p:cNvSpPr txBox="1"/>
          <p:nvPr/>
        </p:nvSpPr>
        <p:spPr>
          <a:xfrm>
            <a:off x="7162610"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187288"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Do</a:t>
            </a:r>
            <a:endParaRPr lang="en-US" sz="1500" dirty="0"/>
          </a:p>
        </p:txBody>
      </p:sp>
      <p:sp>
        <p:nvSpPr>
          <p:cNvPr id="17" name="Text 15"/>
          <p:cNvSpPr txBox="1"/>
          <p:nvPr/>
        </p:nvSpPr>
        <p:spPr>
          <a:xfrm>
            <a:off x="6187288"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What must I actually do to be known for it? Brand is actions.</a:t>
            </a:r>
            <a:endParaRPr lang="en-US" sz="1400" dirty="0"/>
          </a:p>
        </p:txBody>
      </p:sp>
      <p:sp>
        <p:nvSpPr>
          <p:cNvPr id="18" name="Shape 16"/>
          <p:cNvSpPr/>
          <p:nvPr/>
        </p:nvSpPr>
        <p:spPr>
          <a:xfrm>
            <a:off x="9936213" y="1737360"/>
            <a:ext cx="640080" cy="640080"/>
          </a:xfrm>
          <a:prstGeom prst="ellipse">
            <a:avLst/>
          </a:prstGeom>
          <a:solidFill>
            <a:srgbClr val="FFC93C"/>
          </a:solidFill>
          <a:ln/>
        </p:spPr>
      </p:sp>
      <p:sp>
        <p:nvSpPr>
          <p:cNvPr id="19" name="Text 17"/>
          <p:cNvSpPr txBox="1"/>
          <p:nvPr/>
        </p:nvSpPr>
        <p:spPr>
          <a:xfrm>
            <a:off x="9936213"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8960891"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Learn</a:t>
            </a:r>
            <a:endParaRPr lang="en-US" sz="1500" dirty="0"/>
          </a:p>
        </p:txBody>
      </p:sp>
      <p:sp>
        <p:nvSpPr>
          <p:cNvPr id="21" name="Text 19"/>
          <p:cNvSpPr txBox="1"/>
          <p:nvPr/>
        </p:nvSpPr>
        <p:spPr>
          <a:xfrm>
            <a:off x="8960891" y="3200400"/>
            <a:ext cx="2590724" cy="21031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What must I learn to do that? This is your day-one to-do list.</a:t>
            </a:r>
            <a:endParaRPr lang="en-US" sz="1400" dirty="0"/>
          </a:p>
        </p:txBody>
      </p:sp>
      <p:sp>
        <p:nvSpPr>
          <p:cNvPr id="22" name="Shape 20"/>
          <p:cNvSpPr/>
          <p:nvPr/>
        </p:nvSpPr>
        <p:spPr>
          <a:xfrm>
            <a:off x="548640" y="4846320"/>
            <a:ext cx="11094415" cy="1234440"/>
          </a:xfrm>
          <a:prstGeom prst="roundRect">
            <a:avLst>
              <a:gd name="adj" fmla="val 7407"/>
            </a:avLst>
          </a:prstGeom>
          <a:solidFill>
            <a:srgbClr val="FFF4D6"/>
          </a:solidFill>
          <a:ln/>
        </p:spPr>
      </p:sp>
      <p:sp>
        <p:nvSpPr>
          <p:cNvPr id="23" name="Text 21"/>
          <p:cNvSpPr txBox="1"/>
          <p:nvPr/>
        </p:nvSpPr>
        <p:spPr>
          <a:xfrm>
            <a:off x="777240" y="501091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THE CHESHIRE CAT</a:t>
            </a:r>
            <a:endParaRPr lang="en-US" sz="1100" dirty="0"/>
          </a:p>
        </p:txBody>
      </p:sp>
      <p:sp>
        <p:nvSpPr>
          <p:cNvPr id="24" name="Text 22"/>
          <p:cNvSpPr txBox="1"/>
          <p:nvPr/>
        </p:nvSpPr>
        <p:spPr>
          <a:xfrm>
            <a:off x="777240" y="5303520"/>
            <a:ext cx="10637215" cy="6858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"Which way should I go?" "Where are you trying to end up?" "I don't know." "Then either way will take you there." 99% of creators don't know what they're trying to accomplish.</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2 · BRAND</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Choose your associations, and your anti-associations</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2 · Brand foundation: define who you are</a:t>
            </a:r>
            <a:endParaRPr lang="en-US" sz="1000" dirty="0"/>
          </a:p>
        </p:txBody>
      </p:sp>
      <p:sp>
        <p:nvSpPr>
          <p:cNvPr id="5" name="Shape 3"/>
          <p:cNvSpPr/>
          <p:nvPr/>
        </p:nvSpPr>
        <p:spPr>
          <a:xfrm>
            <a:off x="548640" y="1645920"/>
            <a:ext cx="5410048" cy="4572000"/>
          </a:xfrm>
          <a:prstGeom prst="roundRect">
            <a:avLst>
              <a:gd name="adj" fmla="val 2400"/>
            </a:avLst>
          </a:prstGeom>
          <a:solidFill>
            <a:srgbClr val="F4F4F8"/>
          </a:solidFill>
          <a:ln/>
        </p:spPr>
      </p:sp>
      <p:sp>
        <p:nvSpPr>
          <p:cNvPr id="6" name="Shape 4"/>
          <p:cNvSpPr/>
          <p:nvPr/>
        </p:nvSpPr>
        <p:spPr>
          <a:xfrm>
            <a:off x="777240" y="1874520"/>
            <a:ext cx="411480" cy="411480"/>
          </a:xfrm>
          <a:prstGeom prst="ellipse">
            <a:avLst/>
          </a:prstGeom>
          <a:solidFill>
            <a:srgbClr val="FF4D3D"/>
          </a:solidFill>
          <a:ln/>
        </p:spPr>
      </p:sp>
      <p:sp>
        <p:nvSpPr>
          <p:cNvPr id="7" name="Text 5"/>
          <p:cNvSpPr txBox="1"/>
          <p:nvPr/>
        </p:nvSpPr>
        <p:spPr>
          <a:xfrm>
            <a:off x="777240"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847088"/>
            <a:ext cx="4449928" cy="502920"/>
          </a:xfrm>
          <a:prstGeom prst="rect">
            <a:avLst/>
          </a:prstGeom>
          <a:noFill/>
          <a:ln/>
        </p:spPr>
        <p:txBody>
          <a:bodyPr wrap="square" lIns="0" tIns="0" rIns="0" bIns="0" rtlCol="0" anchor="ctr"/>
          <a:lstStyle/>
          <a:p>
            <a:pPr indent="0" marL="0">
              <a:buNone/>
            </a:pPr>
            <a:r>
              <a:rPr lang="en-US" sz="1800" b="1" dirty="0">
                <a:solidFill>
                  <a:srgbClr val="14141F"/>
                </a:solidFill>
                <a:latin typeface="Arial" pitchFamily="34" charset="0"/>
                <a:ea typeface="Arial" pitchFamily="34" charset="-122"/>
                <a:cs typeface="Arial" pitchFamily="34" charset="-120"/>
              </a:rPr>
              <a:t>Pair WITH</a:t>
            </a:r>
            <a:endParaRPr lang="en-US" sz="1800" dirty="0"/>
          </a:p>
        </p:txBody>
      </p:sp>
      <p:sp>
        <p:nvSpPr>
          <p:cNvPr id="9" name="Text 7"/>
          <p:cNvSpPr txBox="1"/>
          <p:nvPr/>
        </p:nvSpPr>
        <p:spPr>
          <a:xfrm>
            <a:off x="777240" y="2468880"/>
            <a:ext cx="4952848" cy="3611880"/>
          </a:xfrm>
          <a:prstGeom prst="rect">
            <a:avLst/>
          </a:prstGeom>
          <a:noFill/>
          <a:ln/>
        </p:spPr>
        <p:txBody>
          <a:bodyPr wrap="square" lIns="0" tIns="0" rIns="0" bIns="0" rtlCol="0" anchor="t"/>
          <a:lstStyle/>
          <a:p>
            <a:pPr indent="0" marL="0">
              <a:buNone/>
            </a:pPr>
            <a:r>
              <a:rPr lang="en-US" sz="1600" dirty="0">
                <a:solidFill>
                  <a:srgbClr val="14141F"/>
                </a:solidFill>
                <a:latin typeface="Calibri" pitchFamily="34" charset="0"/>
                <a:ea typeface="Calibri" pitchFamily="34" charset="-122"/>
                <a:cs typeface="Calibri" pitchFamily="34" charset="-120"/>
              </a:rPr>
              <a:t>What should people think when they hear your name? Business? Trust? Well-being? Every piece of content should reinforce it.</a:t>
            </a:r>
            <a:endParaRPr lang="en-US" sz="1600" dirty="0"/>
          </a:p>
          <a:p>
            <a:pPr indent="0" marL="0">
              <a:buNone/>
            </a:pPr>
            <a:endParaRPr lang="en-US" sz="1600" dirty="0"/>
          </a:p>
          <a:p>
            <a:pPr indent="0" marL="0">
              <a:buNone/>
            </a:pPr>
            <a:r>
              <a:rPr lang="en-US" sz="1600" dirty="0">
                <a:solidFill>
                  <a:srgbClr val="14141F"/>
                </a:solidFill>
                <a:latin typeface="Calibri" pitchFamily="34" charset="0"/>
                <a:ea typeface="Calibri" pitchFamily="34" charset="-122"/>
                <a:cs typeface="Calibri" pitchFamily="34" charset="-120"/>
              </a:rPr>
              <a:t>Example: Caleb's free course pairs his firm with value, scaling brands and trust.</a:t>
            </a:r>
            <a:endParaRPr lang="en-US" sz="1600" dirty="0"/>
          </a:p>
        </p:txBody>
      </p:sp>
      <p:sp>
        <p:nvSpPr>
          <p:cNvPr id="10" name="Shape 8"/>
          <p:cNvSpPr/>
          <p:nvPr/>
        </p:nvSpPr>
        <p:spPr>
          <a:xfrm>
            <a:off x="6233008" y="1645920"/>
            <a:ext cx="5410048" cy="4572000"/>
          </a:xfrm>
          <a:prstGeom prst="roundRect">
            <a:avLst>
              <a:gd name="adj" fmla="val 2400"/>
            </a:avLst>
          </a:prstGeom>
          <a:solidFill>
            <a:srgbClr val="F4F4F8"/>
          </a:solidFill>
          <a:ln/>
        </p:spPr>
      </p:sp>
      <p:sp>
        <p:nvSpPr>
          <p:cNvPr id="11" name="Shape 9"/>
          <p:cNvSpPr/>
          <p:nvPr/>
        </p:nvSpPr>
        <p:spPr>
          <a:xfrm>
            <a:off x="6461608" y="1874520"/>
            <a:ext cx="411480" cy="411480"/>
          </a:xfrm>
          <a:prstGeom prst="ellipse">
            <a:avLst/>
          </a:prstGeom>
          <a:solidFill>
            <a:srgbClr val="FF4D3D"/>
          </a:solidFill>
          <a:ln/>
        </p:spPr>
      </p:sp>
      <p:sp>
        <p:nvSpPr>
          <p:cNvPr id="12" name="Text 10"/>
          <p:cNvSpPr txBox="1"/>
          <p:nvPr/>
        </p:nvSpPr>
        <p:spPr>
          <a:xfrm>
            <a:off x="6461608"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7010248" y="1847088"/>
            <a:ext cx="4449928" cy="502920"/>
          </a:xfrm>
          <a:prstGeom prst="rect">
            <a:avLst/>
          </a:prstGeom>
          <a:noFill/>
          <a:ln/>
        </p:spPr>
        <p:txBody>
          <a:bodyPr wrap="square" lIns="0" tIns="0" rIns="0" bIns="0" rtlCol="0" anchor="ctr"/>
          <a:lstStyle/>
          <a:p>
            <a:pPr indent="0" marL="0">
              <a:buNone/>
            </a:pPr>
            <a:r>
              <a:rPr lang="en-US" sz="1800" b="1" dirty="0">
                <a:solidFill>
                  <a:srgbClr val="14141F"/>
                </a:solidFill>
                <a:latin typeface="Arial" pitchFamily="34" charset="0"/>
                <a:ea typeface="Arial" pitchFamily="34" charset="-122"/>
                <a:cs typeface="Arial" pitchFamily="34" charset="-120"/>
              </a:rPr>
              <a:t>Refuse to pair with</a:t>
            </a:r>
            <a:endParaRPr lang="en-US" sz="1800" dirty="0"/>
          </a:p>
        </p:txBody>
      </p:sp>
      <p:sp>
        <p:nvSpPr>
          <p:cNvPr id="14" name="Text 12"/>
          <p:cNvSpPr txBox="1"/>
          <p:nvPr/>
        </p:nvSpPr>
        <p:spPr>
          <a:xfrm>
            <a:off x="6461608" y="2468880"/>
            <a:ext cx="4952848" cy="3611880"/>
          </a:xfrm>
          <a:prstGeom prst="rect">
            <a:avLst/>
          </a:prstGeom>
          <a:noFill/>
          <a:ln/>
        </p:spPr>
        <p:txBody>
          <a:bodyPr wrap="square" lIns="0" tIns="0" rIns="0" bIns="0" rtlCol="0" anchor="t"/>
          <a:lstStyle/>
          <a:p>
            <a:pPr indent="0" marL="0">
              <a:buNone/>
            </a:pPr>
            <a:r>
              <a:rPr lang="en-US" sz="1600" dirty="0">
                <a:solidFill>
                  <a:srgbClr val="14141F"/>
                </a:solidFill>
                <a:latin typeface="Calibri" pitchFamily="34" charset="0"/>
                <a:ea typeface="Calibri" pitchFamily="34" charset="-122"/>
                <a:cs typeface="Calibri" pitchFamily="34" charset="-120"/>
              </a:rPr>
              <a:t>"Intentional" isn't the same as "good." Keep showing up on podcasts with snake-oil sellers and people will lump you in with them.</a:t>
            </a:r>
            <a:endParaRPr lang="en-US" sz="1600" dirty="0"/>
          </a:p>
          <a:p>
            <a:pPr indent="0" marL="0">
              <a:buNone/>
            </a:pPr>
            <a:endParaRPr lang="en-US" sz="1600" dirty="0"/>
          </a:p>
          <a:p>
            <a:pPr indent="0" marL="0">
              <a:buNone/>
            </a:pPr>
            <a:r>
              <a:rPr lang="en-US" sz="1600" dirty="0">
                <a:solidFill>
                  <a:srgbClr val="14141F"/>
                </a:solidFill>
                <a:latin typeface="Calibri" pitchFamily="34" charset="0"/>
                <a:ea typeface="Calibri" pitchFamily="34" charset="-122"/>
                <a:cs typeface="Calibri" pitchFamily="34" charset="-120"/>
              </a:rPr>
              <a:t>Awareness isn't worth the trade. If your gut says no, skip even the biggest show.</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2 · BRAND</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brand story: Catalyst → Core Truth → Proof</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2 · Brand foundation: define who you are</a:t>
            </a:r>
            <a:endParaRPr lang="en-US" sz="1000" dirty="0"/>
          </a:p>
        </p:txBody>
      </p:sp>
      <p:sp>
        <p:nvSpPr>
          <p:cNvPr id="5" name="Shape 3"/>
          <p:cNvSpPr/>
          <p:nvPr/>
        </p:nvSpPr>
        <p:spPr>
          <a:xfrm>
            <a:off x="548640" y="1645920"/>
            <a:ext cx="3515258" cy="4617720"/>
          </a:xfrm>
          <a:prstGeom prst="roundRect">
            <a:avLst>
              <a:gd name="adj" fmla="val 3121"/>
            </a:avLst>
          </a:prstGeom>
          <a:solidFill>
            <a:srgbClr val="F4F4F8"/>
          </a:solidFill>
          <a:ln/>
        </p:spPr>
      </p:sp>
      <p:sp>
        <p:nvSpPr>
          <p:cNvPr id="6" name="Shape 4"/>
          <p:cNvSpPr/>
          <p:nvPr/>
        </p:nvSpPr>
        <p:spPr>
          <a:xfrm>
            <a:off x="777240" y="1874520"/>
            <a:ext cx="411480" cy="411480"/>
          </a:xfrm>
          <a:prstGeom prst="ellipse">
            <a:avLst/>
          </a:prstGeom>
          <a:solidFill>
            <a:srgbClr val="FF4D3D"/>
          </a:solidFill>
          <a:ln/>
        </p:spPr>
      </p:sp>
      <p:sp>
        <p:nvSpPr>
          <p:cNvPr id="7" name="Text 5"/>
          <p:cNvSpPr txBox="1"/>
          <p:nvPr/>
        </p:nvSpPr>
        <p:spPr>
          <a:xfrm>
            <a:off x="777240"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847088"/>
            <a:ext cx="255513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Catalyst</a:t>
            </a:r>
            <a:endParaRPr lang="en-US" sz="1700" dirty="0"/>
          </a:p>
        </p:txBody>
      </p:sp>
      <p:sp>
        <p:nvSpPr>
          <p:cNvPr id="9" name="Text 7"/>
          <p:cNvSpPr txBox="1"/>
          <p:nvPr/>
        </p:nvSpPr>
        <p:spPr>
          <a:xfrm>
            <a:off x="777240" y="2468880"/>
            <a:ext cx="3058058" cy="36576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Why you exist. What needs to change? What do you see that others don't? Why must you act?</a:t>
            </a:r>
            <a:endParaRPr lang="en-US" sz="1400" dirty="0"/>
          </a:p>
          <a:p>
            <a:pPr indent="0" marL="0">
              <a:buNone/>
            </a:pPr>
            <a:endParaRPr lang="en-US" sz="1400" dirty="0"/>
          </a:p>
          <a:p>
            <a:pPr indent="0" marL="0">
              <a:buNone/>
            </a:pPr>
            <a:r>
              <a:rPr lang="en-US" sz="1400" dirty="0">
                <a:solidFill>
                  <a:srgbClr val="14141F"/>
                </a:solidFill>
                <a:latin typeface="Calibri" pitchFamily="34" charset="0"/>
                <a:ea typeface="Calibri" pitchFamily="34" charset="-122"/>
                <a:cs typeface="Calibri" pitchFamily="34" charset="-120"/>
              </a:rPr>
              <a:t>Phil Knight saw unmet demand.</a:t>
            </a:r>
            <a:endParaRPr lang="en-US" sz="1400" dirty="0"/>
          </a:p>
        </p:txBody>
      </p:sp>
      <p:sp>
        <p:nvSpPr>
          <p:cNvPr id="10" name="Shape 8"/>
          <p:cNvSpPr/>
          <p:nvPr/>
        </p:nvSpPr>
        <p:spPr>
          <a:xfrm>
            <a:off x="4338218" y="1645920"/>
            <a:ext cx="3515258" cy="4617720"/>
          </a:xfrm>
          <a:prstGeom prst="roundRect">
            <a:avLst>
              <a:gd name="adj" fmla="val 3121"/>
            </a:avLst>
          </a:prstGeom>
          <a:solidFill>
            <a:srgbClr val="F4F4F8"/>
          </a:solidFill>
          <a:ln/>
        </p:spPr>
      </p:sp>
      <p:sp>
        <p:nvSpPr>
          <p:cNvPr id="11" name="Shape 9"/>
          <p:cNvSpPr/>
          <p:nvPr/>
        </p:nvSpPr>
        <p:spPr>
          <a:xfrm>
            <a:off x="4566818" y="1874520"/>
            <a:ext cx="411480" cy="411480"/>
          </a:xfrm>
          <a:prstGeom prst="ellipse">
            <a:avLst/>
          </a:prstGeom>
          <a:solidFill>
            <a:srgbClr val="FF4D3D"/>
          </a:solidFill>
          <a:ln/>
        </p:spPr>
      </p:sp>
      <p:sp>
        <p:nvSpPr>
          <p:cNvPr id="12" name="Text 10"/>
          <p:cNvSpPr txBox="1"/>
          <p:nvPr/>
        </p:nvSpPr>
        <p:spPr>
          <a:xfrm>
            <a:off x="4566818"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847088"/>
            <a:ext cx="255513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Core Truth</a:t>
            </a:r>
            <a:endParaRPr lang="en-US" sz="1700" dirty="0"/>
          </a:p>
        </p:txBody>
      </p:sp>
      <p:sp>
        <p:nvSpPr>
          <p:cNvPr id="14" name="Text 12"/>
          <p:cNvSpPr txBox="1"/>
          <p:nvPr/>
        </p:nvSpPr>
        <p:spPr>
          <a:xfrm>
            <a:off x="4566818" y="2468880"/>
            <a:ext cx="3058058" cy="36576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What makes you different: a conviction you share publicly (not controversy for its own sake).</a:t>
            </a:r>
            <a:endParaRPr lang="en-US" sz="1400" dirty="0"/>
          </a:p>
          <a:p>
            <a:pPr indent="0" marL="0">
              <a:buNone/>
            </a:pPr>
            <a:endParaRPr lang="en-US" sz="1400" dirty="0"/>
          </a:p>
          <a:p>
            <a:pPr indent="0" marL="0">
              <a:buNone/>
            </a:pPr>
            <a:r>
              <a:rPr lang="en-US" sz="1400" dirty="0">
                <a:solidFill>
                  <a:srgbClr val="14141F"/>
                </a:solidFill>
                <a:latin typeface="Calibri" pitchFamily="34" charset="0"/>
                <a:ea typeface="Calibri" pitchFamily="34" charset="-122"/>
                <a:cs typeface="Calibri" pitchFamily="34" charset="-120"/>
              </a:rPr>
              <a:t>Russ preaches artist independence in his songs and interviews.</a:t>
            </a:r>
            <a:endParaRPr lang="en-US" sz="1400" dirty="0"/>
          </a:p>
        </p:txBody>
      </p:sp>
      <p:sp>
        <p:nvSpPr>
          <p:cNvPr id="15" name="Shape 13"/>
          <p:cNvSpPr/>
          <p:nvPr/>
        </p:nvSpPr>
        <p:spPr>
          <a:xfrm>
            <a:off x="8127797" y="1645920"/>
            <a:ext cx="3515258" cy="4617720"/>
          </a:xfrm>
          <a:prstGeom prst="roundRect">
            <a:avLst>
              <a:gd name="adj" fmla="val 3121"/>
            </a:avLst>
          </a:prstGeom>
          <a:solidFill>
            <a:srgbClr val="F4F4F8"/>
          </a:solidFill>
          <a:ln/>
        </p:spPr>
      </p:sp>
      <p:sp>
        <p:nvSpPr>
          <p:cNvPr id="16" name="Shape 14"/>
          <p:cNvSpPr/>
          <p:nvPr/>
        </p:nvSpPr>
        <p:spPr>
          <a:xfrm>
            <a:off x="8356397" y="1874520"/>
            <a:ext cx="411480" cy="411480"/>
          </a:xfrm>
          <a:prstGeom prst="ellipse">
            <a:avLst/>
          </a:prstGeom>
          <a:solidFill>
            <a:srgbClr val="FF4D3D"/>
          </a:solidFill>
          <a:ln/>
        </p:spPr>
      </p:sp>
      <p:sp>
        <p:nvSpPr>
          <p:cNvPr id="17" name="Text 15"/>
          <p:cNvSpPr txBox="1"/>
          <p:nvPr/>
        </p:nvSpPr>
        <p:spPr>
          <a:xfrm>
            <a:off x="8356397"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847088"/>
            <a:ext cx="255513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Proof</a:t>
            </a:r>
            <a:endParaRPr lang="en-US" sz="1700" dirty="0"/>
          </a:p>
        </p:txBody>
      </p:sp>
      <p:sp>
        <p:nvSpPr>
          <p:cNvPr id="19" name="Text 17"/>
          <p:cNvSpPr txBox="1"/>
          <p:nvPr/>
        </p:nvSpPr>
        <p:spPr>
          <a:xfrm>
            <a:off x="8356397" y="2468880"/>
            <a:ext cx="3058058" cy="36576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A brand is what you do, repeatedly. Build an ongoing pattern of credibility.</a:t>
            </a:r>
            <a:endParaRPr lang="en-US" sz="1400" dirty="0"/>
          </a:p>
          <a:p>
            <a:pPr indent="0" marL="0">
              <a:buNone/>
            </a:pPr>
            <a:endParaRPr lang="en-US" sz="1400" dirty="0"/>
          </a:p>
          <a:p>
            <a:pPr indent="0" marL="0">
              <a:buNone/>
            </a:pPr>
            <a:r>
              <a:rPr lang="en-US" sz="1400" dirty="0">
                <a:solidFill>
                  <a:srgbClr val="14141F"/>
                </a:solidFill>
                <a:latin typeface="Calibri" pitchFamily="34" charset="0"/>
                <a:ea typeface="Calibri" pitchFamily="34" charset="-122"/>
                <a:cs typeface="Calibri" pitchFamily="34" charset="-120"/>
              </a:rPr>
              <a:t>Gary proves "volume" through 15 years of practice and VaynerMedia's Super Bowl testing.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03</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3</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Positioning, topics &amp; the algorithm</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Be legible to the algorithm, to viewers and to memory. Then own the gap nobody fills.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3 · POSITIONING</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Stand out: gap, story, term</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3 · Positioning, topics &amp; the algorithm</a:t>
            </a:r>
            <a:endParaRPr lang="en-US" sz="1000" dirty="0"/>
          </a:p>
        </p:txBody>
      </p:sp>
      <p:sp>
        <p:nvSpPr>
          <p:cNvPr id="5" name="Shape 3"/>
          <p:cNvSpPr/>
          <p:nvPr/>
        </p:nvSpPr>
        <p:spPr>
          <a:xfrm>
            <a:off x="548640" y="1645920"/>
            <a:ext cx="3515258" cy="4617720"/>
          </a:xfrm>
          <a:prstGeom prst="roundRect">
            <a:avLst>
              <a:gd name="adj" fmla="val 3121"/>
            </a:avLst>
          </a:prstGeom>
          <a:solidFill>
            <a:srgbClr val="F4F4F8"/>
          </a:solidFill>
          <a:ln/>
        </p:spPr>
      </p:sp>
      <p:sp>
        <p:nvSpPr>
          <p:cNvPr id="6" name="Shape 4"/>
          <p:cNvSpPr/>
          <p:nvPr/>
        </p:nvSpPr>
        <p:spPr>
          <a:xfrm>
            <a:off x="777240" y="1874520"/>
            <a:ext cx="411480" cy="411480"/>
          </a:xfrm>
          <a:prstGeom prst="ellipse">
            <a:avLst/>
          </a:prstGeom>
          <a:solidFill>
            <a:srgbClr val="FF4D3D"/>
          </a:solidFill>
          <a:ln/>
        </p:spPr>
      </p:sp>
      <p:sp>
        <p:nvSpPr>
          <p:cNvPr id="7" name="Text 5"/>
          <p:cNvSpPr txBox="1"/>
          <p:nvPr/>
        </p:nvSpPr>
        <p:spPr>
          <a:xfrm>
            <a:off x="777240"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847088"/>
            <a:ext cx="255513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Find the gap</a:t>
            </a:r>
            <a:endParaRPr lang="en-US" sz="1700" dirty="0"/>
          </a:p>
        </p:txBody>
      </p:sp>
      <p:sp>
        <p:nvSpPr>
          <p:cNvPr id="9" name="Text 7"/>
          <p:cNvSpPr txBox="1"/>
          <p:nvPr/>
        </p:nvSpPr>
        <p:spPr>
          <a:xfrm>
            <a:off x="777240" y="2468880"/>
            <a:ext cx="3058058" cy="36576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What does your space say that you disagree with? If everyone preaches virality, own long-term trust. When the algorithm shifts, trusted names get searched for.</a:t>
            </a:r>
            <a:endParaRPr lang="en-US" sz="1500" dirty="0"/>
          </a:p>
        </p:txBody>
      </p:sp>
      <p:sp>
        <p:nvSpPr>
          <p:cNvPr id="10" name="Shape 8"/>
          <p:cNvSpPr/>
          <p:nvPr/>
        </p:nvSpPr>
        <p:spPr>
          <a:xfrm>
            <a:off x="4338218" y="1645920"/>
            <a:ext cx="3515258" cy="4617720"/>
          </a:xfrm>
          <a:prstGeom prst="roundRect">
            <a:avLst>
              <a:gd name="adj" fmla="val 3121"/>
            </a:avLst>
          </a:prstGeom>
          <a:solidFill>
            <a:srgbClr val="F4F4F8"/>
          </a:solidFill>
          <a:ln/>
        </p:spPr>
      </p:sp>
      <p:sp>
        <p:nvSpPr>
          <p:cNvPr id="11" name="Shape 9"/>
          <p:cNvSpPr/>
          <p:nvPr/>
        </p:nvSpPr>
        <p:spPr>
          <a:xfrm>
            <a:off x="4566818" y="1874520"/>
            <a:ext cx="411480" cy="411480"/>
          </a:xfrm>
          <a:prstGeom prst="ellipse">
            <a:avLst/>
          </a:prstGeom>
          <a:solidFill>
            <a:srgbClr val="FF4D3D"/>
          </a:solidFill>
          <a:ln/>
        </p:spPr>
      </p:sp>
      <p:sp>
        <p:nvSpPr>
          <p:cNvPr id="12" name="Text 10"/>
          <p:cNvSpPr txBox="1"/>
          <p:nvPr/>
        </p:nvSpPr>
        <p:spPr>
          <a:xfrm>
            <a:off x="4566818"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847088"/>
            <a:ext cx="255513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Story = secret weapon</a:t>
            </a:r>
            <a:endParaRPr lang="en-US" sz="1700" dirty="0"/>
          </a:p>
        </p:txBody>
      </p:sp>
      <p:sp>
        <p:nvSpPr>
          <p:cNvPr id="14" name="Text 12"/>
          <p:cNvSpPr txBox="1"/>
          <p:nvPr/>
        </p:nvSpPr>
        <p:spPr>
          <a:xfrm>
            <a:off x="4566818" y="2468880"/>
            <a:ext cx="3058058" cy="36576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List your pivotal moments. Show, don't tell: "32 hours straight editing Gary's series" beats "I'm a hard worker." So does Bezos's door-desk.</a:t>
            </a:r>
            <a:endParaRPr lang="en-US" sz="1500" dirty="0"/>
          </a:p>
        </p:txBody>
      </p:sp>
      <p:sp>
        <p:nvSpPr>
          <p:cNvPr id="15" name="Shape 13"/>
          <p:cNvSpPr/>
          <p:nvPr/>
        </p:nvSpPr>
        <p:spPr>
          <a:xfrm>
            <a:off x="8127797" y="1645920"/>
            <a:ext cx="3515258" cy="4617720"/>
          </a:xfrm>
          <a:prstGeom prst="roundRect">
            <a:avLst>
              <a:gd name="adj" fmla="val 3121"/>
            </a:avLst>
          </a:prstGeom>
          <a:solidFill>
            <a:srgbClr val="F4F4F8"/>
          </a:solidFill>
          <a:ln/>
        </p:spPr>
      </p:sp>
      <p:sp>
        <p:nvSpPr>
          <p:cNvPr id="16" name="Shape 14"/>
          <p:cNvSpPr/>
          <p:nvPr/>
        </p:nvSpPr>
        <p:spPr>
          <a:xfrm>
            <a:off x="8356397" y="1874520"/>
            <a:ext cx="411480" cy="411480"/>
          </a:xfrm>
          <a:prstGeom prst="ellipse">
            <a:avLst/>
          </a:prstGeom>
          <a:solidFill>
            <a:srgbClr val="FF4D3D"/>
          </a:solidFill>
          <a:ln/>
        </p:spPr>
      </p:sp>
      <p:sp>
        <p:nvSpPr>
          <p:cNvPr id="17" name="Text 15"/>
          <p:cNvSpPr txBox="1"/>
          <p:nvPr/>
        </p:nvSpPr>
        <p:spPr>
          <a:xfrm>
            <a:off x="8356397"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847088"/>
            <a:ext cx="255513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Own a term</a:t>
            </a:r>
            <a:endParaRPr lang="en-US" sz="1700" dirty="0"/>
          </a:p>
        </p:txBody>
      </p:sp>
      <p:sp>
        <p:nvSpPr>
          <p:cNvPr id="19" name="Text 17"/>
          <p:cNvSpPr txBox="1"/>
          <p:nvPr/>
        </p:nvSpPr>
        <p:spPr>
          <a:xfrm>
            <a:off x="8356397" y="2468880"/>
            <a:ext cx="3058058" cy="36576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People hold ~200–300 names. Say "ManyChat" and one person comes to mind. Claim a niche term nobody owns yet, before a broad one.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3 · TOPICS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Start narrow, then expand in layers, not leaps</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3 · Positioning, topics &amp; the algorithm</a:t>
            </a:r>
            <a:endParaRPr lang="en-US" sz="1000" dirty="0"/>
          </a:p>
        </p:txBody>
      </p:sp>
      <p:sp>
        <p:nvSpPr>
          <p:cNvPr id="5" name="Text 3"/>
          <p:cNvSpPr txBox="1"/>
          <p:nvPr/>
        </p:nvSpPr>
        <p:spPr>
          <a:xfrm>
            <a:off x="548640" y="1645920"/>
            <a:ext cx="6675120" cy="3931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4141F"/>
                </a:solidFill>
                <a:latin typeface="Calibri" pitchFamily="34" charset="0"/>
                <a:ea typeface="Calibri" pitchFamily="34" charset="-122"/>
                <a:cs typeface="Calibri" pitchFamily="34" charset="-120"/>
              </a:rPr>
              <a:t>Start narrow: the woodworking-obsessed friend is trusted, and the know-it-all isn't. Gary did Wine Library TV for years before marketing.</a:t>
            </a:r>
            <a:endParaRPr lang="en-US" sz="1600" dirty="0"/>
          </a:p>
          <a:p>
            <a:pPr marL="342900" indent="-342900">
              <a:spcAft>
                <a:spcPts val="800"/>
              </a:spcAft>
              <a:buSzPct val="100000"/>
              <a:buChar char="•"/>
            </a:pPr>
            <a:r>
              <a:rPr lang="en-US" sz="1600" dirty="0">
                <a:solidFill>
                  <a:srgbClr val="14141F"/>
                </a:solidFill>
                <a:latin typeface="Calibri" pitchFamily="34" charset="0"/>
                <a:ea typeface="Calibri" pitchFamily="34" charset="-122"/>
                <a:cs typeface="Calibri" pitchFamily="34" charset="-120"/>
              </a:rPr>
              <a:t>Expand when you're world-class, getting steady engagement, and your audience asks for it. Move to adjacent topics only.</a:t>
            </a:r>
            <a:endParaRPr lang="en-US" sz="1600" dirty="0"/>
          </a:p>
          <a:p>
            <a:pPr marL="342900" indent="-342900">
              <a:spcAft>
                <a:spcPts val="800"/>
              </a:spcAft>
              <a:buSzPct val="100000"/>
              <a:buChar char="•"/>
            </a:pPr>
            <a:r>
              <a:rPr lang="en-US" sz="1600" dirty="0">
                <a:solidFill>
                  <a:srgbClr val="14141F"/>
                </a:solidFill>
                <a:latin typeface="Calibri" pitchFamily="34" charset="0"/>
                <a:ea typeface="Calibri" pitchFamily="34" charset="-122"/>
                <a:cs typeface="Calibri" pitchFamily="34" charset="-120"/>
              </a:rPr>
              <a:t>Honor your roots: Amazon added Audible, Crayola revived 8 colors, Knocked Loose still plays its early tracks. Nostalgia wins.</a:t>
            </a:r>
            <a:endParaRPr lang="en-US" sz="1600" dirty="0"/>
          </a:p>
          <a:p>
            <a:pPr marL="342900" indent="-342900">
              <a:spcAft>
                <a:spcPts val="800"/>
              </a:spcAft>
              <a:buSzPct val="100000"/>
              <a:buChar char="•"/>
            </a:pPr>
            <a:r>
              <a:rPr lang="en-US" sz="1600" dirty="0">
                <a:solidFill>
                  <a:srgbClr val="14141F"/>
                </a:solidFill>
                <a:latin typeface="Calibri" pitchFamily="34" charset="0"/>
                <a:ea typeface="Calibri" pitchFamily="34" charset="-122"/>
                <a:cs typeface="Calibri" pitchFamily="34" charset="-120"/>
              </a:rPr>
              <a:t>Pick topics by asking: am I passionate? Does it resonate now? Will it change their actions most?</a:t>
            </a:r>
            <a:endParaRPr lang="en-US" sz="1600" dirty="0"/>
          </a:p>
        </p:txBody>
      </p:sp>
      <p:sp>
        <p:nvSpPr>
          <p:cNvPr id="6" name="Shape 4"/>
          <p:cNvSpPr/>
          <p:nvPr/>
        </p:nvSpPr>
        <p:spPr>
          <a:xfrm>
            <a:off x="7589520" y="1645920"/>
            <a:ext cx="4050792" cy="2286000"/>
          </a:xfrm>
          <a:prstGeom prst="roundRect">
            <a:avLst>
              <a:gd name="adj" fmla="val 4800"/>
            </a:avLst>
          </a:prstGeom>
          <a:solidFill>
            <a:srgbClr val="14141F"/>
          </a:solidFill>
          <a:ln/>
        </p:spPr>
      </p:sp>
      <p:sp>
        <p:nvSpPr>
          <p:cNvPr id="7" name="Text 5"/>
          <p:cNvSpPr txBox="1"/>
          <p:nvPr/>
        </p:nvSpPr>
        <p:spPr>
          <a:xfrm>
            <a:off x="7772400" y="1783080"/>
            <a:ext cx="3685032" cy="914400"/>
          </a:xfrm>
          <a:prstGeom prst="rect">
            <a:avLst/>
          </a:prstGeom>
          <a:noFill/>
          <a:ln/>
        </p:spPr>
        <p:txBody>
          <a:bodyPr wrap="square" lIns="0" tIns="0" rIns="0" bIns="0" rtlCol="0" anchor="t"/>
          <a:lstStyle/>
          <a:p>
            <a:pPr algn="ctr" indent="0" marL="0">
              <a:buNone/>
            </a:pPr>
            <a:r>
              <a:rPr lang="en-US" sz="5400" b="1" dirty="0">
                <a:solidFill>
                  <a:srgbClr val="FF4D3D"/>
                </a:solidFill>
                <a:latin typeface="Arial" pitchFamily="34" charset="0"/>
                <a:ea typeface="Arial" pitchFamily="34" charset="-122"/>
                <a:cs typeface="Arial" pitchFamily="34" charset="-120"/>
              </a:rPr>
              <a:t>80 / 20</a:t>
            </a:r>
            <a:endParaRPr lang="en-US" sz="5400" dirty="0"/>
          </a:p>
        </p:txBody>
      </p:sp>
      <p:sp>
        <p:nvSpPr>
          <p:cNvPr id="8" name="Text 6"/>
          <p:cNvSpPr txBox="1"/>
          <p:nvPr/>
        </p:nvSpPr>
        <p:spPr>
          <a:xfrm>
            <a:off x="7772400" y="2743200"/>
            <a:ext cx="3685032" cy="109728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80% core topic tied to your offer. 20% your human interests (interest stacking, Rogan-style).</a:t>
            </a:r>
            <a:endParaRPr lang="en-US" sz="1400" dirty="0"/>
          </a:p>
        </p:txBody>
      </p:sp>
      <p:sp>
        <p:nvSpPr>
          <p:cNvPr id="9" name="Shape 7"/>
          <p:cNvSpPr/>
          <p:nvPr/>
        </p:nvSpPr>
        <p:spPr>
          <a:xfrm>
            <a:off x="7589520" y="4114800"/>
            <a:ext cx="4050792" cy="2148840"/>
          </a:xfrm>
          <a:prstGeom prst="roundRect">
            <a:avLst>
              <a:gd name="adj" fmla="val 4255"/>
            </a:avLst>
          </a:prstGeom>
          <a:solidFill>
            <a:srgbClr val="FFF4D6"/>
          </a:solidFill>
          <a:ln/>
        </p:spPr>
      </p:sp>
      <p:sp>
        <p:nvSpPr>
          <p:cNvPr id="10" name="Text 8"/>
          <p:cNvSpPr txBox="1"/>
          <p:nvPr/>
        </p:nvSpPr>
        <p:spPr>
          <a:xfrm>
            <a:off x="7818120" y="4279392"/>
            <a:ext cx="3593592"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RECONCILE</a:t>
            </a:r>
            <a:endParaRPr lang="en-US" sz="1100" dirty="0"/>
          </a:p>
        </p:txBody>
      </p:sp>
      <p:sp>
        <p:nvSpPr>
          <p:cNvPr id="11" name="Text 9"/>
          <p:cNvSpPr txBox="1"/>
          <p:nvPr/>
        </p:nvSpPr>
        <p:spPr>
          <a:xfrm>
            <a:off x="7818120" y="4572000"/>
            <a:ext cx="3593592" cy="160020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Kane: "one topic until retirement" (for the algorithm). Caleb: 80/20 (for humans). Keep ~80% on topic. The 20% is seasoning, not a second channel.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3 · THE ALGORITHM</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How a video actually gets distributed</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3 · Positioning, topics &amp; the algorithm</a:t>
            </a:r>
            <a:endParaRPr lang="en-US" sz="1000" dirty="0"/>
          </a:p>
        </p:txBody>
      </p:sp>
      <p:sp>
        <p:nvSpPr>
          <p:cNvPr id="5" name="Shape 3"/>
          <p:cNvSpPr/>
          <p:nvPr/>
        </p:nvSpPr>
        <p:spPr>
          <a:xfrm>
            <a:off x="1935442" y="2057400"/>
            <a:ext cx="8320811" cy="0"/>
          </a:xfrm>
          <a:prstGeom prst="line">
            <a:avLst/>
          </a:prstGeom>
          <a:noFill/>
          <a:ln w="25400">
            <a:solidFill>
              <a:srgbClr val="D9D9E3"/>
            </a:solidFill>
            <a:prstDash val="solid"/>
          </a:ln>
        </p:spPr>
      </p:sp>
      <p:sp>
        <p:nvSpPr>
          <p:cNvPr id="6" name="Shape 4"/>
          <p:cNvSpPr/>
          <p:nvPr/>
        </p:nvSpPr>
        <p:spPr>
          <a:xfrm>
            <a:off x="1615402" y="1737360"/>
            <a:ext cx="640080" cy="640080"/>
          </a:xfrm>
          <a:prstGeom prst="ellipse">
            <a:avLst/>
          </a:prstGeom>
          <a:solidFill>
            <a:srgbClr val="FF4D3D"/>
          </a:solidFill>
          <a:ln/>
        </p:spPr>
      </p:sp>
      <p:sp>
        <p:nvSpPr>
          <p:cNvPr id="7" name="Text 5"/>
          <p:cNvSpPr txBox="1"/>
          <p:nvPr/>
        </p:nvSpPr>
        <p:spPr>
          <a:xfrm>
            <a:off x="161540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Transcribe</a:t>
            </a:r>
            <a:endParaRPr lang="en-US" sz="1500" dirty="0"/>
          </a:p>
        </p:txBody>
      </p:sp>
      <p:sp>
        <p:nvSpPr>
          <p:cNvPr id="9" name="Text 7"/>
          <p:cNvSpPr txBox="1"/>
          <p:nvPr/>
        </p:nvSpPr>
        <p:spPr>
          <a:xfrm>
            <a:off x="640080" y="3200400"/>
            <a:ext cx="2590724" cy="146304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The platform transcribes your video into a context map. Niche terms work like SEO.</a:t>
            </a:r>
            <a:endParaRPr lang="en-US" sz="1400" dirty="0"/>
          </a:p>
        </p:txBody>
      </p:sp>
      <p:sp>
        <p:nvSpPr>
          <p:cNvPr id="10" name="Shape 8"/>
          <p:cNvSpPr/>
          <p:nvPr/>
        </p:nvSpPr>
        <p:spPr>
          <a:xfrm>
            <a:off x="4389006" y="1737360"/>
            <a:ext cx="640080" cy="640080"/>
          </a:xfrm>
          <a:prstGeom prst="ellipse">
            <a:avLst/>
          </a:prstGeom>
          <a:solidFill>
            <a:srgbClr val="FF4D3D"/>
          </a:solidFill>
          <a:ln/>
        </p:spPr>
      </p:sp>
      <p:sp>
        <p:nvSpPr>
          <p:cNvPr id="11" name="Text 9"/>
          <p:cNvSpPr txBox="1"/>
          <p:nvPr/>
        </p:nvSpPr>
        <p:spPr>
          <a:xfrm>
            <a:off x="4389006"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413684"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~200 test</a:t>
            </a:r>
            <a:endParaRPr lang="en-US" sz="1500" dirty="0"/>
          </a:p>
        </p:txBody>
      </p:sp>
      <p:sp>
        <p:nvSpPr>
          <p:cNvPr id="13" name="Text 11"/>
          <p:cNvSpPr txBox="1"/>
          <p:nvPr/>
        </p:nvSpPr>
        <p:spPr>
          <a:xfrm>
            <a:off x="3413684" y="3200400"/>
            <a:ext cx="2590724" cy="146304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It's shown to a sample of subscribers plus likely fans.</a:t>
            </a:r>
            <a:endParaRPr lang="en-US" sz="1400" dirty="0"/>
          </a:p>
        </p:txBody>
      </p:sp>
      <p:sp>
        <p:nvSpPr>
          <p:cNvPr id="14" name="Shape 12"/>
          <p:cNvSpPr/>
          <p:nvPr/>
        </p:nvSpPr>
        <p:spPr>
          <a:xfrm>
            <a:off x="7162610" y="1737360"/>
            <a:ext cx="640080" cy="640080"/>
          </a:xfrm>
          <a:prstGeom prst="ellipse">
            <a:avLst/>
          </a:prstGeom>
          <a:solidFill>
            <a:srgbClr val="FF4D3D"/>
          </a:solidFill>
          <a:ln/>
        </p:spPr>
      </p:sp>
      <p:sp>
        <p:nvSpPr>
          <p:cNvPr id="15" name="Text 13"/>
          <p:cNvSpPr txBox="1"/>
          <p:nvPr/>
        </p:nvSpPr>
        <p:spPr>
          <a:xfrm>
            <a:off x="7162610"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187288"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~2,000</a:t>
            </a:r>
            <a:endParaRPr lang="en-US" sz="1500" dirty="0"/>
          </a:p>
        </p:txBody>
      </p:sp>
      <p:sp>
        <p:nvSpPr>
          <p:cNvPr id="17" name="Text 15"/>
          <p:cNvSpPr txBox="1"/>
          <p:nvPr/>
        </p:nvSpPr>
        <p:spPr>
          <a:xfrm>
            <a:off x="6187288" y="3200400"/>
            <a:ext cx="2590724" cy="146304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Better than usual? It expands to similar people in concentric circles.</a:t>
            </a:r>
            <a:endParaRPr lang="en-US" sz="1400" dirty="0"/>
          </a:p>
        </p:txBody>
      </p:sp>
      <p:sp>
        <p:nvSpPr>
          <p:cNvPr id="18" name="Shape 16"/>
          <p:cNvSpPr/>
          <p:nvPr/>
        </p:nvSpPr>
        <p:spPr>
          <a:xfrm>
            <a:off x="9936213" y="1737360"/>
            <a:ext cx="640080" cy="640080"/>
          </a:xfrm>
          <a:prstGeom prst="ellipse">
            <a:avLst/>
          </a:prstGeom>
          <a:solidFill>
            <a:srgbClr val="FF4D3D"/>
          </a:solidFill>
          <a:ln/>
        </p:spPr>
      </p:sp>
      <p:sp>
        <p:nvSpPr>
          <p:cNvPr id="19" name="Text 17"/>
          <p:cNvSpPr txBox="1"/>
          <p:nvPr/>
        </p:nvSpPr>
        <p:spPr>
          <a:xfrm>
            <a:off x="9936213"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8960891" y="2560320"/>
            <a:ext cx="2590724"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Muddy edge</a:t>
            </a:r>
            <a:endParaRPr lang="en-US" sz="1500" dirty="0"/>
          </a:p>
        </p:txBody>
      </p:sp>
      <p:sp>
        <p:nvSpPr>
          <p:cNvPr id="21" name="Text 19"/>
          <p:cNvSpPr txBox="1"/>
          <p:nvPr/>
        </p:nvSpPr>
        <p:spPr>
          <a:xfrm>
            <a:off x="8960891" y="3200400"/>
            <a:ext cx="2590724" cy="146304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Circles get muddier until nobody's left who likes it. A bad signal throttles it at ~200.</a:t>
            </a:r>
            <a:endParaRPr lang="en-US" sz="1400" dirty="0"/>
          </a:p>
        </p:txBody>
      </p:sp>
      <p:sp>
        <p:nvSpPr>
          <p:cNvPr id="22" name="Shape 20"/>
          <p:cNvSpPr/>
          <p:nvPr/>
        </p:nvSpPr>
        <p:spPr>
          <a:xfrm>
            <a:off x="548640" y="4754880"/>
            <a:ext cx="11094415" cy="1325880"/>
          </a:xfrm>
          <a:prstGeom prst="roundRect">
            <a:avLst>
              <a:gd name="adj" fmla="val 6897"/>
            </a:avLst>
          </a:prstGeom>
          <a:solidFill>
            <a:srgbClr val="FFF4D6"/>
          </a:solidFill>
          <a:ln/>
        </p:spPr>
      </p:sp>
      <p:sp>
        <p:nvSpPr>
          <p:cNvPr id="23" name="Text 21"/>
          <p:cNvSpPr txBox="1"/>
          <p:nvPr/>
        </p:nvSpPr>
        <p:spPr>
          <a:xfrm>
            <a:off x="777240" y="491947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THE RULE</a:t>
            </a:r>
            <a:endParaRPr lang="en-US" sz="1100" dirty="0"/>
          </a:p>
        </p:txBody>
      </p:sp>
      <p:sp>
        <p:nvSpPr>
          <p:cNvPr id="24" name="Text 22"/>
          <p:cNvSpPr txBox="1"/>
          <p:nvPr/>
        </p:nvSpPr>
        <p:spPr>
          <a:xfrm>
            <a:off x="777240" y="5212080"/>
            <a:ext cx="10637215" cy="77724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Topic-hopping (tech → science → basketball) builds a mixed follower base, so every test pool sends back a weak signal. Pick one topic. Media players can go wider inside it, but never jump categories.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3 · AUDIENCE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Anti-views: on-target beats total</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3 · Positioning, topics &amp; the algorithm</a:t>
            </a:r>
            <a:endParaRPr lang="en-US" sz="1000" dirty="0"/>
          </a:p>
        </p:txBody>
      </p:sp>
      <p:sp>
        <p:nvSpPr>
          <p:cNvPr id="5" name="Shape 3"/>
          <p:cNvSpPr/>
          <p:nvPr/>
        </p:nvSpPr>
        <p:spPr>
          <a:xfrm>
            <a:off x="548640" y="1645920"/>
            <a:ext cx="3515258" cy="2194560"/>
          </a:xfrm>
          <a:prstGeom prst="roundRect">
            <a:avLst>
              <a:gd name="adj" fmla="val 5000"/>
            </a:avLst>
          </a:prstGeom>
          <a:solidFill>
            <a:srgbClr val="F4F4F8"/>
          </a:solidFill>
          <a:ln/>
        </p:spPr>
      </p:sp>
      <p:sp>
        <p:nvSpPr>
          <p:cNvPr id="6" name="Text 4"/>
          <p:cNvSpPr txBox="1"/>
          <p:nvPr/>
        </p:nvSpPr>
        <p:spPr>
          <a:xfrm>
            <a:off x="731520" y="1874520"/>
            <a:ext cx="3149498" cy="1005840"/>
          </a:xfrm>
          <a:prstGeom prst="rect">
            <a:avLst/>
          </a:prstGeom>
          <a:noFill/>
          <a:ln/>
        </p:spPr>
        <p:txBody>
          <a:bodyPr wrap="square" lIns="0" tIns="0" rIns="0" bIns="0" rtlCol="0" anchor="ctr"/>
          <a:lstStyle/>
          <a:p>
            <a:pPr algn="ctr" indent="0" marL="0">
              <a:buNone/>
            </a:pPr>
            <a:r>
              <a:rPr lang="en-US" sz="4800" b="1" dirty="0">
                <a:solidFill>
                  <a:srgbClr val="FF4D3D"/>
                </a:solidFill>
                <a:latin typeface="Arial" pitchFamily="34" charset="0"/>
                <a:ea typeface="Arial" pitchFamily="34" charset="-122"/>
                <a:cs typeface="Arial" pitchFamily="34" charset="-120"/>
              </a:rPr>
              <a:t>$/view</a:t>
            </a:r>
            <a:endParaRPr lang="en-US" sz="4800" dirty="0"/>
          </a:p>
        </p:txBody>
      </p:sp>
      <p:sp>
        <p:nvSpPr>
          <p:cNvPr id="7" name="Text 5"/>
          <p:cNvSpPr txBox="1"/>
          <p:nvPr/>
        </p:nvSpPr>
        <p:spPr>
          <a:xfrm>
            <a:off x="731520" y="2926080"/>
            <a:ext cx="3149498"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The business metric that matters, not total views</a:t>
            </a:r>
            <a:endParaRPr lang="en-US" sz="1400" dirty="0"/>
          </a:p>
        </p:txBody>
      </p:sp>
      <p:sp>
        <p:nvSpPr>
          <p:cNvPr id="8" name="Shape 6"/>
          <p:cNvSpPr/>
          <p:nvPr/>
        </p:nvSpPr>
        <p:spPr>
          <a:xfrm>
            <a:off x="4338218" y="1645920"/>
            <a:ext cx="3515258" cy="2194560"/>
          </a:xfrm>
          <a:prstGeom prst="roundRect">
            <a:avLst>
              <a:gd name="adj" fmla="val 5000"/>
            </a:avLst>
          </a:prstGeom>
          <a:solidFill>
            <a:srgbClr val="F4F4F8"/>
          </a:solidFill>
          <a:ln/>
        </p:spPr>
      </p:sp>
      <p:sp>
        <p:nvSpPr>
          <p:cNvPr id="9" name="Text 7"/>
          <p:cNvSpPr txBox="1"/>
          <p:nvPr/>
        </p:nvSpPr>
        <p:spPr>
          <a:xfrm>
            <a:off x="4521098" y="1874520"/>
            <a:ext cx="3149498" cy="1005840"/>
          </a:xfrm>
          <a:prstGeom prst="rect">
            <a:avLst/>
          </a:prstGeom>
          <a:noFill/>
          <a:ln/>
        </p:spPr>
        <p:txBody>
          <a:bodyPr wrap="square" lIns="0" tIns="0" rIns="0" bIns="0" rtlCol="0" anchor="ctr"/>
          <a:lstStyle/>
          <a:p>
            <a:pPr algn="ctr" indent="0" marL="0">
              <a:buNone/>
            </a:pPr>
            <a:r>
              <a:rPr lang="en-US" sz="4800" b="1" dirty="0">
                <a:solidFill>
                  <a:srgbClr val="FF4D3D"/>
                </a:solidFill>
                <a:latin typeface="Arial" pitchFamily="34" charset="0"/>
                <a:ea typeface="Arial" pitchFamily="34" charset="-122"/>
                <a:cs typeface="Arial" pitchFamily="34" charset="-120"/>
              </a:rPr>
              <a:t>&lt;10k</a:t>
            </a:r>
            <a:endParaRPr lang="en-US" sz="4800" dirty="0"/>
          </a:p>
        </p:txBody>
      </p:sp>
      <p:sp>
        <p:nvSpPr>
          <p:cNvPr id="10" name="Text 8"/>
          <p:cNvSpPr txBox="1"/>
          <p:nvPr/>
        </p:nvSpPr>
        <p:spPr>
          <a:xfrm>
            <a:off x="4521098" y="2926080"/>
            <a:ext cx="3149498"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Followers some creators have while making millions, because they're buyers</a:t>
            </a:r>
            <a:endParaRPr lang="en-US" sz="1400" dirty="0"/>
          </a:p>
        </p:txBody>
      </p:sp>
      <p:sp>
        <p:nvSpPr>
          <p:cNvPr id="11" name="Shape 9"/>
          <p:cNvSpPr/>
          <p:nvPr/>
        </p:nvSpPr>
        <p:spPr>
          <a:xfrm>
            <a:off x="8127797" y="1645920"/>
            <a:ext cx="3515258" cy="2194560"/>
          </a:xfrm>
          <a:prstGeom prst="roundRect">
            <a:avLst>
              <a:gd name="adj" fmla="val 5000"/>
            </a:avLst>
          </a:prstGeom>
          <a:solidFill>
            <a:srgbClr val="F4F4F8"/>
          </a:solidFill>
          <a:ln/>
        </p:spPr>
      </p:sp>
      <p:sp>
        <p:nvSpPr>
          <p:cNvPr id="12" name="Text 10"/>
          <p:cNvSpPr txBox="1"/>
          <p:nvPr/>
        </p:nvSpPr>
        <p:spPr>
          <a:xfrm>
            <a:off x="8310677" y="1874520"/>
            <a:ext cx="3149498" cy="1005840"/>
          </a:xfrm>
          <a:prstGeom prst="rect">
            <a:avLst/>
          </a:prstGeom>
          <a:noFill/>
          <a:ln/>
        </p:spPr>
        <p:txBody>
          <a:bodyPr wrap="square" lIns="0" tIns="0" rIns="0" bIns="0" rtlCol="0" anchor="ctr"/>
          <a:lstStyle/>
          <a:p>
            <a:pPr algn="ctr" indent="0" marL="0">
              <a:buNone/>
            </a:pPr>
            <a:r>
              <a:rPr lang="en-US" sz="4800" b="1" dirty="0">
                <a:solidFill>
                  <a:srgbClr val="FF4D3D"/>
                </a:solidFill>
                <a:latin typeface="Arial" pitchFamily="34" charset="0"/>
                <a:ea typeface="Arial" pitchFamily="34" charset="-122"/>
                <a:cs typeface="Arial" pitchFamily="34" charset="-120"/>
              </a:rPr>
              <a:t>~10k</a:t>
            </a:r>
            <a:endParaRPr lang="en-US" sz="4800" dirty="0"/>
          </a:p>
        </p:txBody>
      </p:sp>
      <p:sp>
        <p:nvSpPr>
          <p:cNvPr id="13" name="Text 11"/>
          <p:cNvSpPr txBox="1"/>
          <p:nvPr/>
        </p:nvSpPr>
        <p:spPr>
          <a:xfrm>
            <a:off x="8310677" y="2926080"/>
            <a:ext cx="3149498"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Rough credibility line on Instagram and YouTube (X: a few thousand)</a:t>
            </a:r>
            <a:endParaRPr lang="en-US" sz="1400" dirty="0"/>
          </a:p>
        </p:txBody>
      </p:sp>
      <p:sp>
        <p:nvSpPr>
          <p:cNvPr id="14" name="Text 12"/>
          <p:cNvSpPr txBox="1"/>
          <p:nvPr/>
        </p:nvSpPr>
        <p:spPr>
          <a:xfrm>
            <a:off x="548640" y="4114800"/>
            <a:ext cx="11094415"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Followers act as a trust threshold. Above the line, 180k vs. 365k makes little difference.</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Brand deals are priced on average views of your last 10 videos, engagement and followers. Fake engagement doesn't fool marketers.</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Caleb's 68k Instagram came from landscape photography. They're the wrong audience, so he has to convert or lose them.</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04</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4</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Mediums, platforms &amp; cadence</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Choose the form you'll lead with, the places you'll post and a rhythm you can keep for years.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4 · MEDIUMS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Pick your 80% medium</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4 · Mediums, platforms &amp; cadence</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377440"/>
                <a:gridCol w="3291840"/>
                <a:gridCol w="5422392"/>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Medium</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Where</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Best for you if…</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Written</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LinkedIn, X, email, newsletters, articles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You journal, it makes sense without explaining, and you enjoy rewriting 10 times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Video (highest leverage)</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YouTube, TikTok, Reels, LinkedIn video</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You'll improve on camera in public and can take criticism. Rambling ("bunny brain") just means you need a good editor</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Audio</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Podcasts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The camera scares you. You can paint pictures with words, and a monotone voice can be your bit</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Graphic</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Carousels, infographics, PDF carousels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You simplify ideas visually (Canva, Figma). See Visualize Value, or photos of physical notes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5166360"/>
            <a:ext cx="11094415" cy="960120"/>
          </a:xfrm>
          <a:prstGeom prst="roundRect">
            <a:avLst>
              <a:gd name="adj" fmla="val 9524"/>
            </a:avLst>
          </a:prstGeom>
          <a:solidFill>
            <a:srgbClr val="FFF4D6"/>
          </a:solidFill>
          <a:ln/>
        </p:spPr>
      </p:sp>
      <p:sp>
        <p:nvSpPr>
          <p:cNvPr id="7" name="Text 4"/>
          <p:cNvSpPr txBox="1"/>
          <p:nvPr/>
        </p:nvSpPr>
        <p:spPr>
          <a:xfrm>
            <a:off x="777240" y="533095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WHY VIDEO WINS</a:t>
            </a:r>
            <a:endParaRPr lang="en-US" sz="1100" dirty="0"/>
          </a:p>
        </p:txBody>
      </p:sp>
      <p:sp>
        <p:nvSpPr>
          <p:cNvPr id="8" name="Text 5"/>
          <p:cNvSpPr txBox="1"/>
          <p:nvPr/>
        </p:nvSpPr>
        <p:spPr>
          <a:xfrm>
            <a:off x="777240" y="5623560"/>
            <a:ext cx="10637215" cy="41148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One shoot becomes long form, shorts, podcast audio, quote posts, LinkedIn posts, newsletter copy and stills.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4 · PLATFORMS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Go deep on 2–3 platforms, not everywhere</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4 · Mediums, platforms &amp; cadence</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Avoid single-platform risk</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TikTok went dark in the US for 12 hours in January 2025. Algorithms change constantly.</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Eye of Sauron</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Focus hard on one platform while the others run in maintenance mode. Then rotate.</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How to pick</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Where are you comfortable? Where do you already scroll? Where is your audience? Test the hypothesis against real leads.</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Double down on winners</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When one platform or medium pops, pour gas on it. Don't use that moment to fix weak skills.</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Conversions &gt; vanity</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Streams, sales, gigs, email signups. Take 30–40% fewer likes for a higher conversion rate.</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Short vs. long</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Short form builds awareness at a low barrier. Long form is where people convert.</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4 · CADENCE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accordion: volume to learn, then effort to win</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4 · Mediums, platforms &amp; cadence</a:t>
            </a:r>
            <a:endParaRPr lang="en-US" sz="1000" dirty="0"/>
          </a:p>
        </p:txBody>
      </p:sp>
      <p:sp>
        <p:nvSpPr>
          <p:cNvPr id="5" name="Shape 3"/>
          <p:cNvSpPr/>
          <p:nvPr/>
        </p:nvSpPr>
        <p:spPr>
          <a:xfrm>
            <a:off x="2397709" y="2057400"/>
            <a:ext cx="7396277" cy="0"/>
          </a:xfrm>
          <a:prstGeom prst="line">
            <a:avLst/>
          </a:prstGeom>
          <a:noFill/>
          <a:ln w="25400">
            <a:solidFill>
              <a:srgbClr val="D9D9E3"/>
            </a:solidFill>
            <a:prstDash val="solid"/>
          </a:ln>
        </p:spPr>
      </p:sp>
      <p:sp>
        <p:nvSpPr>
          <p:cNvPr id="6" name="Shape 4"/>
          <p:cNvSpPr/>
          <p:nvPr/>
        </p:nvSpPr>
        <p:spPr>
          <a:xfrm>
            <a:off x="2077669" y="1737360"/>
            <a:ext cx="640080" cy="640080"/>
          </a:xfrm>
          <a:prstGeom prst="ellipse">
            <a:avLst/>
          </a:prstGeom>
          <a:solidFill>
            <a:srgbClr val="FF4D3D"/>
          </a:solidFill>
          <a:ln/>
        </p:spPr>
      </p:sp>
      <p:sp>
        <p:nvSpPr>
          <p:cNvPr id="7" name="Text 5"/>
          <p:cNvSpPr txBox="1"/>
          <p:nvPr/>
        </p:nvSpPr>
        <p:spPr>
          <a:xfrm>
            <a:off x="2077669"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Post volume</a:t>
            </a:r>
            <a:endParaRPr lang="en-US" sz="1500" dirty="0"/>
          </a:p>
        </p:txBody>
      </p:sp>
      <p:sp>
        <p:nvSpPr>
          <p:cNvPr id="9" name="Text 7"/>
          <p:cNvSpPr txBox="1"/>
          <p:nvPr/>
        </p:nvSpPr>
        <p:spPr>
          <a:xfrm>
            <a:off x="640080" y="3200400"/>
            <a:ext cx="3515258"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You don't define quality. The audience does. 10 posts in a week teach more than 10 in a month.</a:t>
            </a:r>
            <a:endParaRPr lang="en-US" sz="1400" dirty="0"/>
          </a:p>
        </p:txBody>
      </p:sp>
      <p:sp>
        <p:nvSpPr>
          <p:cNvPr id="10" name="Shape 8"/>
          <p:cNvSpPr/>
          <p:nvPr/>
        </p:nvSpPr>
        <p:spPr>
          <a:xfrm>
            <a:off x="5775808" y="1737360"/>
            <a:ext cx="640080" cy="640080"/>
          </a:xfrm>
          <a:prstGeom prst="ellipse">
            <a:avLst/>
          </a:prstGeom>
          <a:solidFill>
            <a:srgbClr val="FF4D3D"/>
          </a:solidFill>
          <a:ln/>
        </p:spPr>
      </p:sp>
      <p:sp>
        <p:nvSpPr>
          <p:cNvPr id="11" name="Text 9"/>
          <p:cNvSpPr txBox="1"/>
          <p:nvPr/>
        </p:nvSpPr>
        <p:spPr>
          <a:xfrm>
            <a:off x="5775808"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338218" y="256032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Read signals</a:t>
            </a:r>
            <a:endParaRPr lang="en-US" sz="1500" dirty="0"/>
          </a:p>
        </p:txBody>
      </p:sp>
      <p:sp>
        <p:nvSpPr>
          <p:cNvPr id="13" name="Text 11"/>
          <p:cNvSpPr txBox="1"/>
          <p:nvPr/>
        </p:nvSpPr>
        <p:spPr>
          <a:xfrm>
            <a:off x="4338218" y="3200400"/>
            <a:ext cx="3515258"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What gets likes, comments and questions? Check conversion % as well as totals (LinkedIn converted best).</a:t>
            </a:r>
            <a:endParaRPr lang="en-US" sz="1400" dirty="0"/>
          </a:p>
        </p:txBody>
      </p:sp>
      <p:sp>
        <p:nvSpPr>
          <p:cNvPr id="14" name="Shape 12"/>
          <p:cNvSpPr/>
          <p:nvPr/>
        </p:nvSpPr>
        <p:spPr>
          <a:xfrm>
            <a:off x="9473946" y="1737360"/>
            <a:ext cx="640080" cy="640080"/>
          </a:xfrm>
          <a:prstGeom prst="ellipse">
            <a:avLst/>
          </a:prstGeom>
          <a:solidFill>
            <a:srgbClr val="FFC93C"/>
          </a:solidFill>
          <a:ln/>
        </p:spPr>
      </p:sp>
      <p:sp>
        <p:nvSpPr>
          <p:cNvPr id="15" name="Text 13"/>
          <p:cNvSpPr txBox="1"/>
          <p:nvPr/>
        </p:nvSpPr>
        <p:spPr>
          <a:xfrm>
            <a:off x="9473946"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8036357" y="256032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Compress</a:t>
            </a:r>
            <a:endParaRPr lang="en-US" sz="1500" dirty="0"/>
          </a:p>
        </p:txBody>
      </p:sp>
      <p:sp>
        <p:nvSpPr>
          <p:cNvPr id="17" name="Text 15"/>
          <p:cNvSpPr txBox="1"/>
          <p:nvPr/>
        </p:nvSpPr>
        <p:spPr>
          <a:xfrm>
            <a:off x="8036357" y="3200400"/>
            <a:ext cx="3515258"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Put 5 posts' worth of effort into 1–3 better pieces aimed at what they told you.</a:t>
            </a:r>
            <a:endParaRPr lang="en-US" sz="1400" dirty="0"/>
          </a:p>
        </p:txBody>
      </p:sp>
      <p:sp>
        <p:nvSpPr>
          <p:cNvPr id="18" name="Shape 16"/>
          <p:cNvSpPr/>
          <p:nvPr/>
        </p:nvSpPr>
        <p:spPr>
          <a:xfrm>
            <a:off x="548640" y="4846320"/>
            <a:ext cx="11094415" cy="1234440"/>
          </a:xfrm>
          <a:prstGeom prst="roundRect">
            <a:avLst>
              <a:gd name="adj" fmla="val 7407"/>
            </a:avLst>
          </a:prstGeom>
          <a:solidFill>
            <a:srgbClr val="FFF4D6"/>
          </a:solidFill>
          <a:ln/>
        </p:spPr>
      </p:sp>
      <p:sp>
        <p:nvSpPr>
          <p:cNvPr id="19" name="Text 17"/>
          <p:cNvSpPr txBox="1"/>
          <p:nvPr/>
        </p:nvSpPr>
        <p:spPr>
          <a:xfrm>
            <a:off x="777240" y="501091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PERFECT IS THE ENEMY OF POSTED</a:t>
            </a:r>
            <a:endParaRPr lang="en-US" sz="1100" dirty="0"/>
          </a:p>
        </p:txBody>
      </p:sp>
      <p:sp>
        <p:nvSpPr>
          <p:cNvPr id="20" name="Text 18"/>
          <p:cNvSpPr txBox="1"/>
          <p:nvPr/>
        </p:nvSpPr>
        <p:spPr>
          <a:xfrm>
            <a:off x="777240" y="5303520"/>
            <a:ext cx="10637215" cy="6858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Sirens and trucks interrupted Caleb's shoot, and he shipped it anyway. Reconcile: Kane's reps and Caleb's volume phase are the same early stage. Compress once you have the data.</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05</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5</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Short-form craft</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Make one great video, brick by brick: hook, script, visuals, edit, format, cover.</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5 · THE CORE MODEL</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7 Lego bricks of a short</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5 · Short-form craft</a:t>
            </a:r>
            <a:endParaRPr lang="en-US" sz="1000" dirty="0"/>
          </a:p>
        </p:txBody>
      </p:sp>
      <p:sp>
        <p:nvSpPr>
          <p:cNvPr id="5" name="Shape 3"/>
          <p:cNvSpPr/>
          <p:nvPr/>
        </p:nvSpPr>
        <p:spPr>
          <a:xfrm>
            <a:off x="548640" y="1645920"/>
            <a:ext cx="1443838" cy="2011680"/>
          </a:xfrm>
          <a:prstGeom prst="roundRect">
            <a:avLst>
              <a:gd name="adj" fmla="val 6333"/>
            </a:avLst>
          </a:prstGeom>
          <a:solidFill>
            <a:srgbClr val="FF4D3D"/>
          </a:solidFill>
          <a:ln/>
        </p:spPr>
      </p:sp>
      <p:sp>
        <p:nvSpPr>
          <p:cNvPr id="6" name="Text 4"/>
          <p:cNvSpPr txBox="1"/>
          <p:nvPr/>
        </p:nvSpPr>
        <p:spPr>
          <a:xfrm>
            <a:off x="658368" y="1737360"/>
            <a:ext cx="1224382" cy="54864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1</a:t>
            </a:r>
            <a:endParaRPr lang="en-US" sz="2800" dirty="0"/>
          </a:p>
        </p:txBody>
      </p:sp>
      <p:sp>
        <p:nvSpPr>
          <p:cNvPr id="7" name="Text 5"/>
          <p:cNvSpPr txBox="1"/>
          <p:nvPr/>
        </p:nvSpPr>
        <p:spPr>
          <a:xfrm>
            <a:off x="658368" y="2331720"/>
            <a:ext cx="1224382" cy="5486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Topic</a:t>
            </a:r>
            <a:endParaRPr lang="en-US" sz="1400" dirty="0"/>
          </a:p>
        </p:txBody>
      </p:sp>
      <p:sp>
        <p:nvSpPr>
          <p:cNvPr id="8" name="Text 6"/>
          <p:cNvSpPr txBox="1"/>
          <p:nvPr/>
        </p:nvSpPr>
        <p:spPr>
          <a:xfrm>
            <a:off x="658368" y="2880360"/>
            <a:ext cx="1224382"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What it's about</a:t>
            </a:r>
            <a:endParaRPr lang="en-US" sz="1200" dirty="0"/>
          </a:p>
        </p:txBody>
      </p:sp>
      <p:sp>
        <p:nvSpPr>
          <p:cNvPr id="9" name="Shape 7"/>
          <p:cNvSpPr/>
          <p:nvPr/>
        </p:nvSpPr>
        <p:spPr>
          <a:xfrm>
            <a:off x="2157070" y="1645920"/>
            <a:ext cx="1443838" cy="2011680"/>
          </a:xfrm>
          <a:prstGeom prst="roundRect">
            <a:avLst>
              <a:gd name="adj" fmla="val 6333"/>
            </a:avLst>
          </a:prstGeom>
          <a:solidFill>
            <a:srgbClr val="14141F"/>
          </a:solidFill>
          <a:ln/>
        </p:spPr>
      </p:sp>
      <p:sp>
        <p:nvSpPr>
          <p:cNvPr id="10" name="Text 8"/>
          <p:cNvSpPr txBox="1"/>
          <p:nvPr/>
        </p:nvSpPr>
        <p:spPr>
          <a:xfrm>
            <a:off x="2266798" y="1737360"/>
            <a:ext cx="1224382" cy="548640"/>
          </a:xfrm>
          <a:prstGeom prst="rect">
            <a:avLst/>
          </a:prstGeom>
          <a:noFill/>
          <a:ln/>
        </p:spPr>
        <p:txBody>
          <a:bodyPr wrap="square" lIns="0" tIns="0" rIns="0" bIns="0" rtlCol="0" anchor="t"/>
          <a:lstStyle/>
          <a:p>
            <a:pPr indent="0" marL="0">
              <a:buNone/>
            </a:pPr>
            <a:r>
              <a:rPr lang="en-US" sz="2800" b="1" dirty="0">
                <a:solidFill>
                  <a:srgbClr val="FFC93C"/>
                </a:solidFill>
                <a:latin typeface="Arial" pitchFamily="34" charset="0"/>
                <a:ea typeface="Arial" pitchFamily="34" charset="-122"/>
                <a:cs typeface="Arial" pitchFamily="34" charset="-120"/>
              </a:rPr>
              <a:t>2</a:t>
            </a:r>
            <a:endParaRPr lang="en-US" sz="2800" dirty="0"/>
          </a:p>
        </p:txBody>
      </p:sp>
      <p:sp>
        <p:nvSpPr>
          <p:cNvPr id="11" name="Text 9"/>
          <p:cNvSpPr txBox="1"/>
          <p:nvPr/>
        </p:nvSpPr>
        <p:spPr>
          <a:xfrm>
            <a:off x="2266798" y="2331720"/>
            <a:ext cx="1224382" cy="5486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Angle</a:t>
            </a:r>
            <a:endParaRPr lang="en-US" sz="1400" dirty="0"/>
          </a:p>
        </p:txBody>
      </p:sp>
      <p:sp>
        <p:nvSpPr>
          <p:cNvPr id="12" name="Text 10"/>
          <p:cNvSpPr txBox="1"/>
          <p:nvPr/>
        </p:nvSpPr>
        <p:spPr>
          <a:xfrm>
            <a:off x="2266798" y="2880360"/>
            <a:ext cx="1224382"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What's interesting about it</a:t>
            </a:r>
            <a:endParaRPr lang="en-US" sz="1200" dirty="0"/>
          </a:p>
        </p:txBody>
      </p:sp>
      <p:sp>
        <p:nvSpPr>
          <p:cNvPr id="13" name="Shape 11"/>
          <p:cNvSpPr/>
          <p:nvPr/>
        </p:nvSpPr>
        <p:spPr>
          <a:xfrm>
            <a:off x="3765499" y="1645920"/>
            <a:ext cx="1443838" cy="2011680"/>
          </a:xfrm>
          <a:prstGeom prst="roundRect">
            <a:avLst>
              <a:gd name="adj" fmla="val 6333"/>
            </a:avLst>
          </a:prstGeom>
          <a:solidFill>
            <a:srgbClr val="FF4D3D"/>
          </a:solidFill>
          <a:ln/>
        </p:spPr>
      </p:sp>
      <p:sp>
        <p:nvSpPr>
          <p:cNvPr id="14" name="Text 12"/>
          <p:cNvSpPr txBox="1"/>
          <p:nvPr/>
        </p:nvSpPr>
        <p:spPr>
          <a:xfrm>
            <a:off x="3875227" y="1737360"/>
            <a:ext cx="1224382" cy="54864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3</a:t>
            </a:r>
            <a:endParaRPr lang="en-US" sz="2800" dirty="0"/>
          </a:p>
        </p:txBody>
      </p:sp>
      <p:sp>
        <p:nvSpPr>
          <p:cNvPr id="15" name="Text 13"/>
          <p:cNvSpPr txBox="1"/>
          <p:nvPr/>
        </p:nvSpPr>
        <p:spPr>
          <a:xfrm>
            <a:off x="3875227" y="2331720"/>
            <a:ext cx="1224382" cy="5486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Hook</a:t>
            </a:r>
            <a:endParaRPr lang="en-US" sz="1400" dirty="0"/>
          </a:p>
        </p:txBody>
      </p:sp>
      <p:sp>
        <p:nvSpPr>
          <p:cNvPr id="16" name="Text 14"/>
          <p:cNvSpPr txBox="1"/>
          <p:nvPr/>
        </p:nvSpPr>
        <p:spPr>
          <a:xfrm>
            <a:off x="3875227" y="2880360"/>
            <a:ext cx="1224382"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Visual + text + spoken</a:t>
            </a:r>
            <a:endParaRPr lang="en-US" sz="1200" dirty="0"/>
          </a:p>
        </p:txBody>
      </p:sp>
      <p:sp>
        <p:nvSpPr>
          <p:cNvPr id="17" name="Shape 15"/>
          <p:cNvSpPr/>
          <p:nvPr/>
        </p:nvSpPr>
        <p:spPr>
          <a:xfrm>
            <a:off x="5373929" y="1645920"/>
            <a:ext cx="1443838" cy="2011680"/>
          </a:xfrm>
          <a:prstGeom prst="roundRect">
            <a:avLst>
              <a:gd name="adj" fmla="val 6333"/>
            </a:avLst>
          </a:prstGeom>
          <a:solidFill>
            <a:srgbClr val="14141F"/>
          </a:solidFill>
          <a:ln/>
        </p:spPr>
      </p:sp>
      <p:sp>
        <p:nvSpPr>
          <p:cNvPr id="18" name="Text 16"/>
          <p:cNvSpPr txBox="1"/>
          <p:nvPr/>
        </p:nvSpPr>
        <p:spPr>
          <a:xfrm>
            <a:off x="5483657" y="1737360"/>
            <a:ext cx="1224382" cy="548640"/>
          </a:xfrm>
          <a:prstGeom prst="rect">
            <a:avLst/>
          </a:prstGeom>
          <a:noFill/>
          <a:ln/>
        </p:spPr>
        <p:txBody>
          <a:bodyPr wrap="square" lIns="0" tIns="0" rIns="0" bIns="0" rtlCol="0" anchor="t"/>
          <a:lstStyle/>
          <a:p>
            <a:pPr indent="0" marL="0">
              <a:buNone/>
            </a:pPr>
            <a:r>
              <a:rPr lang="en-US" sz="2800" b="1" dirty="0">
                <a:solidFill>
                  <a:srgbClr val="FFC93C"/>
                </a:solidFill>
                <a:latin typeface="Arial" pitchFamily="34" charset="0"/>
                <a:ea typeface="Arial" pitchFamily="34" charset="-122"/>
                <a:cs typeface="Arial" pitchFamily="34" charset="-120"/>
              </a:rPr>
              <a:t>4</a:t>
            </a:r>
            <a:endParaRPr lang="en-US" sz="2800" dirty="0"/>
          </a:p>
        </p:txBody>
      </p:sp>
      <p:sp>
        <p:nvSpPr>
          <p:cNvPr id="19" name="Text 17"/>
          <p:cNvSpPr txBox="1"/>
          <p:nvPr/>
        </p:nvSpPr>
        <p:spPr>
          <a:xfrm>
            <a:off x="5483657" y="2331720"/>
            <a:ext cx="1224382" cy="5486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Story structure</a:t>
            </a:r>
            <a:endParaRPr lang="en-US" sz="1400" dirty="0"/>
          </a:p>
        </p:txBody>
      </p:sp>
      <p:sp>
        <p:nvSpPr>
          <p:cNvPr id="20" name="Text 18"/>
          <p:cNvSpPr txBox="1"/>
          <p:nvPr/>
        </p:nvSpPr>
        <p:spPr>
          <a:xfrm>
            <a:off x="5483657" y="2880360"/>
            <a:ext cx="1224382"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Case study, listicle, narrative…</a:t>
            </a:r>
            <a:endParaRPr lang="en-US" sz="1200" dirty="0"/>
          </a:p>
        </p:txBody>
      </p:sp>
      <p:sp>
        <p:nvSpPr>
          <p:cNvPr id="21" name="Shape 19"/>
          <p:cNvSpPr/>
          <p:nvPr/>
        </p:nvSpPr>
        <p:spPr>
          <a:xfrm>
            <a:off x="6982358" y="1645920"/>
            <a:ext cx="1443838" cy="2011680"/>
          </a:xfrm>
          <a:prstGeom prst="roundRect">
            <a:avLst>
              <a:gd name="adj" fmla="val 6333"/>
            </a:avLst>
          </a:prstGeom>
          <a:solidFill>
            <a:srgbClr val="FF4D3D"/>
          </a:solidFill>
          <a:ln/>
        </p:spPr>
      </p:sp>
      <p:sp>
        <p:nvSpPr>
          <p:cNvPr id="22" name="Text 20"/>
          <p:cNvSpPr txBox="1"/>
          <p:nvPr/>
        </p:nvSpPr>
        <p:spPr>
          <a:xfrm>
            <a:off x="7092086" y="1737360"/>
            <a:ext cx="1224382" cy="54864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5</a:t>
            </a:r>
            <a:endParaRPr lang="en-US" sz="2800" dirty="0"/>
          </a:p>
        </p:txBody>
      </p:sp>
      <p:sp>
        <p:nvSpPr>
          <p:cNvPr id="23" name="Text 21"/>
          <p:cNvSpPr txBox="1"/>
          <p:nvPr/>
        </p:nvSpPr>
        <p:spPr>
          <a:xfrm>
            <a:off x="7092086" y="2331720"/>
            <a:ext cx="1224382" cy="5486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Visual format</a:t>
            </a:r>
            <a:endParaRPr lang="en-US" sz="1400" dirty="0"/>
          </a:p>
        </p:txBody>
      </p:sp>
      <p:sp>
        <p:nvSpPr>
          <p:cNvPr id="24" name="Text 22"/>
          <p:cNvSpPr txBox="1"/>
          <p:nvPr/>
        </p:nvSpPr>
        <p:spPr>
          <a:xfrm>
            <a:off x="7092086" y="2880360"/>
            <a:ext cx="1224382"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Split screen, full, vlog POV</a:t>
            </a:r>
            <a:endParaRPr lang="en-US" sz="1200" dirty="0"/>
          </a:p>
        </p:txBody>
      </p:sp>
      <p:sp>
        <p:nvSpPr>
          <p:cNvPr id="25" name="Shape 23"/>
          <p:cNvSpPr/>
          <p:nvPr/>
        </p:nvSpPr>
        <p:spPr>
          <a:xfrm>
            <a:off x="8590788" y="1645920"/>
            <a:ext cx="1443838" cy="2011680"/>
          </a:xfrm>
          <a:prstGeom prst="roundRect">
            <a:avLst>
              <a:gd name="adj" fmla="val 6333"/>
            </a:avLst>
          </a:prstGeom>
          <a:solidFill>
            <a:srgbClr val="14141F"/>
          </a:solidFill>
          <a:ln/>
        </p:spPr>
      </p:sp>
      <p:sp>
        <p:nvSpPr>
          <p:cNvPr id="26" name="Text 24"/>
          <p:cNvSpPr txBox="1"/>
          <p:nvPr/>
        </p:nvSpPr>
        <p:spPr>
          <a:xfrm>
            <a:off x="8700516" y="1737360"/>
            <a:ext cx="1224382" cy="548640"/>
          </a:xfrm>
          <a:prstGeom prst="rect">
            <a:avLst/>
          </a:prstGeom>
          <a:noFill/>
          <a:ln/>
        </p:spPr>
        <p:txBody>
          <a:bodyPr wrap="square" lIns="0" tIns="0" rIns="0" bIns="0" rtlCol="0" anchor="t"/>
          <a:lstStyle/>
          <a:p>
            <a:pPr indent="0" marL="0">
              <a:buNone/>
            </a:pPr>
            <a:r>
              <a:rPr lang="en-US" sz="2800" b="1" dirty="0">
                <a:solidFill>
                  <a:srgbClr val="FFC93C"/>
                </a:solidFill>
                <a:latin typeface="Arial" pitchFamily="34" charset="0"/>
                <a:ea typeface="Arial" pitchFamily="34" charset="-122"/>
                <a:cs typeface="Arial" pitchFamily="34" charset="-120"/>
              </a:rPr>
              <a:t>6</a:t>
            </a:r>
            <a:endParaRPr lang="en-US" sz="2800" dirty="0"/>
          </a:p>
        </p:txBody>
      </p:sp>
      <p:sp>
        <p:nvSpPr>
          <p:cNvPr id="27" name="Text 25"/>
          <p:cNvSpPr txBox="1"/>
          <p:nvPr/>
        </p:nvSpPr>
        <p:spPr>
          <a:xfrm>
            <a:off x="8700516" y="2331720"/>
            <a:ext cx="1224382" cy="5486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Key visuals</a:t>
            </a:r>
            <a:endParaRPr lang="en-US" sz="1400" dirty="0"/>
          </a:p>
        </p:txBody>
      </p:sp>
      <p:sp>
        <p:nvSpPr>
          <p:cNvPr id="28" name="Text 26"/>
          <p:cNvSpPr txBox="1"/>
          <p:nvPr/>
        </p:nvSpPr>
        <p:spPr>
          <a:xfrm>
            <a:off x="8700516" y="2880360"/>
            <a:ext cx="1224382"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A-roll, B-roll, graphics</a:t>
            </a:r>
            <a:endParaRPr lang="en-US" sz="1200" dirty="0"/>
          </a:p>
        </p:txBody>
      </p:sp>
      <p:sp>
        <p:nvSpPr>
          <p:cNvPr id="29" name="Shape 27"/>
          <p:cNvSpPr/>
          <p:nvPr/>
        </p:nvSpPr>
        <p:spPr>
          <a:xfrm>
            <a:off x="10199218" y="1645920"/>
            <a:ext cx="1443838" cy="2011680"/>
          </a:xfrm>
          <a:prstGeom prst="roundRect">
            <a:avLst>
              <a:gd name="adj" fmla="val 6333"/>
            </a:avLst>
          </a:prstGeom>
          <a:solidFill>
            <a:srgbClr val="FF4D3D"/>
          </a:solidFill>
          <a:ln/>
        </p:spPr>
      </p:sp>
      <p:sp>
        <p:nvSpPr>
          <p:cNvPr id="30" name="Text 28"/>
          <p:cNvSpPr txBox="1"/>
          <p:nvPr/>
        </p:nvSpPr>
        <p:spPr>
          <a:xfrm>
            <a:off x="10308946" y="1737360"/>
            <a:ext cx="1224382" cy="54864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7</a:t>
            </a:r>
            <a:endParaRPr lang="en-US" sz="2800" dirty="0"/>
          </a:p>
        </p:txBody>
      </p:sp>
      <p:sp>
        <p:nvSpPr>
          <p:cNvPr id="31" name="Text 29"/>
          <p:cNvSpPr txBox="1"/>
          <p:nvPr/>
        </p:nvSpPr>
        <p:spPr>
          <a:xfrm>
            <a:off x="10308946" y="2331720"/>
            <a:ext cx="1224382" cy="5486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Audio</a:t>
            </a:r>
            <a:endParaRPr lang="en-US" sz="1400" dirty="0"/>
          </a:p>
        </p:txBody>
      </p:sp>
      <p:sp>
        <p:nvSpPr>
          <p:cNvPr id="32" name="Text 30"/>
          <p:cNvSpPr txBox="1"/>
          <p:nvPr/>
        </p:nvSpPr>
        <p:spPr>
          <a:xfrm>
            <a:off x="10308946" y="2880360"/>
            <a:ext cx="1224382"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Music and SFX</a:t>
            </a:r>
            <a:endParaRPr lang="en-US" sz="1200" dirty="0"/>
          </a:p>
        </p:txBody>
      </p:sp>
      <p:sp>
        <p:nvSpPr>
          <p:cNvPr id="33" name="Shape 31"/>
          <p:cNvSpPr/>
          <p:nvPr/>
        </p:nvSpPr>
        <p:spPr>
          <a:xfrm>
            <a:off x="548640" y="3931920"/>
            <a:ext cx="3515258" cy="2331720"/>
          </a:xfrm>
          <a:prstGeom prst="roundRect">
            <a:avLst>
              <a:gd name="adj" fmla="val 4706"/>
            </a:avLst>
          </a:prstGeom>
          <a:solidFill>
            <a:srgbClr val="F4F4F8"/>
          </a:solidFill>
          <a:ln/>
        </p:spPr>
      </p:sp>
      <p:sp>
        <p:nvSpPr>
          <p:cNvPr id="34" name="Shape 32"/>
          <p:cNvSpPr/>
          <p:nvPr/>
        </p:nvSpPr>
        <p:spPr>
          <a:xfrm>
            <a:off x="777240" y="4160520"/>
            <a:ext cx="411480" cy="411480"/>
          </a:xfrm>
          <a:prstGeom prst="ellipse">
            <a:avLst/>
          </a:prstGeom>
          <a:solidFill>
            <a:srgbClr val="FF4D3D"/>
          </a:solidFill>
          <a:ln/>
        </p:spPr>
      </p:sp>
      <p:sp>
        <p:nvSpPr>
          <p:cNvPr id="35" name="Text 33"/>
          <p:cNvSpPr txBox="1"/>
          <p:nvPr/>
        </p:nvSpPr>
        <p:spPr>
          <a:xfrm>
            <a:off x="777240" y="4160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6" name="Text 34"/>
          <p:cNvSpPr txBox="1"/>
          <p:nvPr/>
        </p:nvSpPr>
        <p:spPr>
          <a:xfrm>
            <a:off x="1325880" y="4133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The process</a:t>
            </a:r>
            <a:endParaRPr lang="en-US" sz="1600" dirty="0"/>
          </a:p>
        </p:txBody>
      </p:sp>
      <p:sp>
        <p:nvSpPr>
          <p:cNvPr id="37" name="Text 35"/>
          <p:cNvSpPr txBox="1"/>
          <p:nvPr/>
        </p:nvSpPr>
        <p:spPr>
          <a:xfrm>
            <a:off x="777240" y="4754880"/>
            <a:ext cx="3058058" cy="137160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Find winners in your niche, explode them into 7 bricks, hold world-class bricks constant, improve the weak ones, restack and post.</a:t>
            </a:r>
            <a:endParaRPr lang="en-US" sz="1300" dirty="0"/>
          </a:p>
        </p:txBody>
      </p:sp>
      <p:sp>
        <p:nvSpPr>
          <p:cNvPr id="38" name="Shape 36"/>
          <p:cNvSpPr/>
          <p:nvPr/>
        </p:nvSpPr>
        <p:spPr>
          <a:xfrm>
            <a:off x="4338218" y="3931920"/>
            <a:ext cx="3515258" cy="2331720"/>
          </a:xfrm>
          <a:prstGeom prst="roundRect">
            <a:avLst>
              <a:gd name="adj" fmla="val 4706"/>
            </a:avLst>
          </a:prstGeom>
          <a:solidFill>
            <a:srgbClr val="F4F4F8"/>
          </a:solidFill>
          <a:ln/>
        </p:spPr>
      </p:sp>
      <p:sp>
        <p:nvSpPr>
          <p:cNvPr id="39" name="Shape 37"/>
          <p:cNvSpPr/>
          <p:nvPr/>
        </p:nvSpPr>
        <p:spPr>
          <a:xfrm>
            <a:off x="4566818" y="4160520"/>
            <a:ext cx="411480" cy="411480"/>
          </a:xfrm>
          <a:prstGeom prst="ellipse">
            <a:avLst/>
          </a:prstGeom>
          <a:solidFill>
            <a:srgbClr val="FF4D3D"/>
          </a:solidFill>
          <a:ln/>
        </p:spPr>
      </p:sp>
      <p:sp>
        <p:nvSpPr>
          <p:cNvPr id="40" name="Text 38"/>
          <p:cNvSpPr txBox="1"/>
          <p:nvPr/>
        </p:nvSpPr>
        <p:spPr>
          <a:xfrm>
            <a:off x="4566818" y="4160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41" name="Text 39"/>
          <p:cNvSpPr txBox="1"/>
          <p:nvPr/>
        </p:nvSpPr>
        <p:spPr>
          <a:xfrm>
            <a:off x="5115458" y="4133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Beginner vs. advanced</a:t>
            </a:r>
            <a:endParaRPr lang="en-US" sz="1600" dirty="0"/>
          </a:p>
        </p:txBody>
      </p:sp>
      <p:sp>
        <p:nvSpPr>
          <p:cNvPr id="42" name="Text 40"/>
          <p:cNvSpPr txBox="1"/>
          <p:nvPr/>
        </p:nvSpPr>
        <p:spPr>
          <a:xfrm>
            <a:off x="4566818" y="4754880"/>
            <a:ext cx="3058058" cy="137160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Beginners change only topic and angle and copy structures. Advanced creators invent formats or remix from other industries.</a:t>
            </a:r>
            <a:endParaRPr lang="en-US" sz="1300" dirty="0"/>
          </a:p>
        </p:txBody>
      </p:sp>
      <p:sp>
        <p:nvSpPr>
          <p:cNvPr id="43" name="Shape 41"/>
          <p:cNvSpPr/>
          <p:nvPr/>
        </p:nvSpPr>
        <p:spPr>
          <a:xfrm>
            <a:off x="8127797" y="3931920"/>
            <a:ext cx="3515258" cy="2331720"/>
          </a:xfrm>
          <a:prstGeom prst="roundRect">
            <a:avLst>
              <a:gd name="adj" fmla="val 4706"/>
            </a:avLst>
          </a:prstGeom>
          <a:solidFill>
            <a:srgbClr val="F4F4F8"/>
          </a:solidFill>
          <a:ln/>
        </p:spPr>
      </p:sp>
      <p:sp>
        <p:nvSpPr>
          <p:cNvPr id="44" name="Shape 42"/>
          <p:cNvSpPr/>
          <p:nvPr/>
        </p:nvSpPr>
        <p:spPr>
          <a:xfrm>
            <a:off x="8356397" y="4160520"/>
            <a:ext cx="411480" cy="411480"/>
          </a:xfrm>
          <a:prstGeom prst="ellipse">
            <a:avLst/>
          </a:prstGeom>
          <a:solidFill>
            <a:srgbClr val="FF4D3D"/>
          </a:solidFill>
          <a:ln/>
        </p:spPr>
      </p:sp>
      <p:sp>
        <p:nvSpPr>
          <p:cNvPr id="45" name="Text 43"/>
          <p:cNvSpPr txBox="1"/>
          <p:nvPr/>
        </p:nvSpPr>
        <p:spPr>
          <a:xfrm>
            <a:off x="8356397" y="4160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6" name="Text 44"/>
          <p:cNvSpPr txBox="1"/>
          <p:nvPr/>
        </p:nvSpPr>
        <p:spPr>
          <a:xfrm>
            <a:off x="8905037" y="4133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The 6 + 1 play</a:t>
            </a:r>
            <a:endParaRPr lang="en-US" sz="1600" dirty="0"/>
          </a:p>
        </p:txBody>
      </p:sp>
      <p:sp>
        <p:nvSpPr>
          <p:cNvPr id="47" name="Text 45"/>
          <p:cNvSpPr txBox="1"/>
          <p:nvPr/>
        </p:nvSpPr>
        <p:spPr>
          <a:xfrm>
            <a:off x="8356397" y="4754880"/>
            <a:ext cx="3058058" cy="137160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Use proven winners for 6 bricks and be first-mover on 1. That's where contrast comes from.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5 · HOOKS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Three layers aligned, three jobs in order</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5 · Short-form craft</a:t>
            </a:r>
            <a:endParaRPr lang="en-US" sz="1000" dirty="0"/>
          </a:p>
        </p:txBody>
      </p:sp>
      <p:sp>
        <p:nvSpPr>
          <p:cNvPr id="5" name="Shape 3"/>
          <p:cNvSpPr/>
          <p:nvPr/>
        </p:nvSpPr>
        <p:spPr>
          <a:xfrm>
            <a:off x="548640" y="1645920"/>
            <a:ext cx="3515258" cy="2560320"/>
          </a:xfrm>
          <a:prstGeom prst="roundRect">
            <a:avLst>
              <a:gd name="adj" fmla="val 4286"/>
            </a:avLst>
          </a:prstGeom>
          <a:solidFill>
            <a:srgbClr val="F4F4F8"/>
          </a:solidFill>
          <a:ln/>
        </p:spPr>
      </p:sp>
      <p:sp>
        <p:nvSpPr>
          <p:cNvPr id="6" name="Shape 4"/>
          <p:cNvSpPr/>
          <p:nvPr/>
        </p:nvSpPr>
        <p:spPr>
          <a:xfrm>
            <a:off x="777240" y="1874520"/>
            <a:ext cx="411480" cy="411480"/>
          </a:xfrm>
          <a:prstGeom prst="ellipse">
            <a:avLst/>
          </a:prstGeom>
          <a:solidFill>
            <a:srgbClr val="FF4D3D"/>
          </a:solidFill>
          <a:ln/>
        </p:spPr>
      </p:sp>
      <p:sp>
        <p:nvSpPr>
          <p:cNvPr id="7" name="Text 5"/>
          <p:cNvSpPr txBox="1"/>
          <p:nvPr/>
        </p:nvSpPr>
        <p:spPr>
          <a:xfrm>
            <a:off x="777240"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Visual stop</a:t>
            </a:r>
            <a:endParaRPr lang="en-US" sz="1600" dirty="0"/>
          </a:p>
        </p:txBody>
      </p:sp>
      <p:sp>
        <p:nvSpPr>
          <p:cNvPr id="9" name="Text 7"/>
          <p:cNvSpPr txBox="1"/>
          <p:nvPr/>
        </p:nvSpPr>
        <p:spPr>
          <a:xfrm>
            <a:off x="777240" y="2468880"/>
            <a:ext cx="3058058" cy="16002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Light beats sound, so they see before they read or hear. Be different from the feed (not the generic wood-slat podcast set).</a:t>
            </a:r>
            <a:endParaRPr lang="en-US" sz="1450" dirty="0"/>
          </a:p>
        </p:txBody>
      </p:sp>
      <p:sp>
        <p:nvSpPr>
          <p:cNvPr id="10" name="Shape 8"/>
          <p:cNvSpPr/>
          <p:nvPr/>
        </p:nvSpPr>
        <p:spPr>
          <a:xfrm>
            <a:off x="4338218" y="1645920"/>
            <a:ext cx="3515258" cy="2560320"/>
          </a:xfrm>
          <a:prstGeom prst="roundRect">
            <a:avLst>
              <a:gd name="adj" fmla="val 4286"/>
            </a:avLst>
          </a:prstGeom>
          <a:solidFill>
            <a:srgbClr val="F4F4F8"/>
          </a:solidFill>
          <a:ln/>
        </p:spPr>
      </p:sp>
      <p:sp>
        <p:nvSpPr>
          <p:cNvPr id="11" name="Shape 9"/>
          <p:cNvSpPr/>
          <p:nvPr/>
        </p:nvSpPr>
        <p:spPr>
          <a:xfrm>
            <a:off x="4566818" y="1874520"/>
            <a:ext cx="411480" cy="411480"/>
          </a:xfrm>
          <a:prstGeom prst="ellipse">
            <a:avLst/>
          </a:prstGeom>
          <a:solidFill>
            <a:srgbClr val="FF4D3D"/>
          </a:solidFill>
          <a:ln/>
        </p:spPr>
      </p:sp>
      <p:sp>
        <p:nvSpPr>
          <p:cNvPr id="12" name="Text 10"/>
          <p:cNvSpPr txBox="1"/>
          <p:nvPr/>
        </p:nvSpPr>
        <p:spPr>
          <a:xfrm>
            <a:off x="4566818"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Context</a:t>
            </a:r>
            <a:endParaRPr lang="en-US" sz="1600" dirty="0"/>
          </a:p>
        </p:txBody>
      </p:sp>
      <p:sp>
        <p:nvSpPr>
          <p:cNvPr id="14" name="Text 12"/>
          <p:cNvSpPr txBox="1"/>
          <p:nvPr/>
        </p:nvSpPr>
        <p:spPr>
          <a:xfrm>
            <a:off x="4566818" y="2468880"/>
            <a:ext cx="3058058" cy="16002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The first sentence sets the topic. The brain learns top-down: context → how → example → lesson. "Jump was crazy" means nothing.</a:t>
            </a:r>
            <a:endParaRPr lang="en-US" sz="1450" dirty="0"/>
          </a:p>
        </p:txBody>
      </p:sp>
      <p:sp>
        <p:nvSpPr>
          <p:cNvPr id="15" name="Shape 13"/>
          <p:cNvSpPr/>
          <p:nvPr/>
        </p:nvSpPr>
        <p:spPr>
          <a:xfrm>
            <a:off x="8127797" y="1645920"/>
            <a:ext cx="3515258" cy="2560320"/>
          </a:xfrm>
          <a:prstGeom prst="roundRect">
            <a:avLst>
              <a:gd name="adj" fmla="val 4286"/>
            </a:avLst>
          </a:prstGeom>
          <a:solidFill>
            <a:srgbClr val="F4F4F8"/>
          </a:solidFill>
          <a:ln/>
        </p:spPr>
      </p:sp>
      <p:sp>
        <p:nvSpPr>
          <p:cNvPr id="16" name="Shape 14"/>
          <p:cNvSpPr/>
          <p:nvPr/>
        </p:nvSpPr>
        <p:spPr>
          <a:xfrm>
            <a:off x="8356397" y="1874520"/>
            <a:ext cx="411480" cy="411480"/>
          </a:xfrm>
          <a:prstGeom prst="ellipse">
            <a:avLst/>
          </a:prstGeom>
          <a:solidFill>
            <a:srgbClr val="FF4D3D"/>
          </a:solidFill>
          <a:ln/>
        </p:spPr>
      </p:sp>
      <p:sp>
        <p:nvSpPr>
          <p:cNvPr id="17" name="Text 15"/>
          <p:cNvSpPr txBox="1"/>
          <p:nvPr/>
        </p:nvSpPr>
        <p:spPr>
          <a:xfrm>
            <a:off x="8356397"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Contrast</a:t>
            </a:r>
            <a:endParaRPr lang="en-US" sz="1600" dirty="0"/>
          </a:p>
        </p:txBody>
      </p:sp>
      <p:sp>
        <p:nvSpPr>
          <p:cNvPr id="19" name="Text 17"/>
          <p:cNvSpPr txBox="1"/>
          <p:nvPr/>
        </p:nvSpPr>
        <p:spPr>
          <a:xfrm>
            <a:off x="8356397" y="2468880"/>
            <a:ext cx="3058058" cy="16002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Expectation vs. reality. Direct ("Most think X, but…") swings ±100, a 200-point arc. Implied only moves 100 points.</a:t>
            </a:r>
            <a:endParaRPr lang="en-US" sz="1450" dirty="0"/>
          </a:p>
        </p:txBody>
      </p:sp>
      <p:sp>
        <p:nvSpPr>
          <p:cNvPr id="20" name="Text 18"/>
          <p:cNvSpPr txBox="1"/>
          <p:nvPr/>
        </p:nvSpPr>
        <p:spPr>
          <a:xfrm>
            <a:off x="548640" y="4480560"/>
            <a:ext cx="11094415"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Visual, text and spoken layers must match. Confusion leads to churn.</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Time you get: 2–3 seconds on shorts, ~15–20 seconds on YouTube ("Is this what I clicked? Is this the right person?").</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Pattern interrupts work too: Gary's blueberry clip ("You missed the first 30 I ate").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5 · SCRIPT &amp; DELIVERY</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Write for 100% absorption</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5 · Short-form craft</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Absorption rate</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The core KPI: every word understood, with one meaning. Use active voice. Cut fluff, but add words when clarity needs them.</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Question chain</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Line 1 opens ONE question. The next line answers it and opens the next. "Gemini 3 dropped" → what can it do? → how do I use it? → cost?</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Answer objections</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Mine comments for skepticism ("Will it work for me?") and answer it in the script, the way a VSL does before the sales call.</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Two dopamine hits</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Two usable, non-obvious insights before they'd churn means they're locked in. One is maybe. Zero means gone.</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Text layer</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Captions for the spoken words, plus title text for context. The visual, words and text should corroborate each other (robot + tendons).</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Delivery</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Vary speed and volume as a pattern interrupt. Bring your full personality. Don't be an "information robot."</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5 · VISUALS &amp; EDITING</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Grab the eye, then hold comprehension</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5 · Short-form craft</a:t>
            </a:r>
            <a:endParaRPr lang="en-US" sz="1000" dirty="0"/>
          </a:p>
        </p:txBody>
      </p:sp>
      <p:sp>
        <p:nvSpPr>
          <p:cNvPr id="5" name="Shape 3"/>
          <p:cNvSpPr/>
          <p:nvPr/>
        </p:nvSpPr>
        <p:spPr>
          <a:xfrm>
            <a:off x="548640" y="1554480"/>
            <a:ext cx="541004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Motion · color · contrast</a:t>
            </a:r>
            <a:endParaRPr lang="en-US" sz="1700" dirty="0"/>
          </a:p>
        </p:txBody>
      </p:sp>
      <p:sp>
        <p:nvSpPr>
          <p:cNvPr id="9" name="Text 7"/>
          <p:cNvSpPr txBox="1"/>
          <p:nvPr/>
        </p:nvSpPr>
        <p:spPr>
          <a:xfrm>
            <a:off x="777240"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The brain tracks motion (like a grazing deer). Add push-ins to static clips. Pick interesting B-roll. Mature niches need tighter visuals.</a:t>
            </a:r>
            <a:endParaRPr lang="en-US" sz="1500" dirty="0"/>
          </a:p>
        </p:txBody>
      </p:sp>
      <p:sp>
        <p:nvSpPr>
          <p:cNvPr id="10" name="Shape 8"/>
          <p:cNvSpPr/>
          <p:nvPr/>
        </p:nvSpPr>
        <p:spPr>
          <a:xfrm>
            <a:off x="6233008" y="1554480"/>
            <a:ext cx="5410048" cy="2217420"/>
          </a:xfrm>
          <a:prstGeom prst="roundRect">
            <a:avLst>
              <a:gd name="adj" fmla="val 4948"/>
            </a:avLst>
          </a:prstGeom>
          <a:solidFill>
            <a:srgbClr val="F4F4F8"/>
          </a:solidFill>
          <a:ln/>
        </p:spPr>
      </p:sp>
      <p:sp>
        <p:nvSpPr>
          <p:cNvPr id="11" name="Shape 9"/>
          <p:cNvSpPr/>
          <p:nvPr/>
        </p:nvSpPr>
        <p:spPr>
          <a:xfrm>
            <a:off x="6461608" y="1783080"/>
            <a:ext cx="411480" cy="411480"/>
          </a:xfrm>
          <a:prstGeom prst="ellipse">
            <a:avLst/>
          </a:prstGeom>
          <a:solidFill>
            <a:srgbClr val="FF4D3D"/>
          </a:solidFill>
          <a:ln/>
        </p:spPr>
      </p:sp>
      <p:sp>
        <p:nvSpPr>
          <p:cNvPr id="12" name="Text 10"/>
          <p:cNvSpPr txBox="1"/>
          <p:nvPr/>
        </p:nvSpPr>
        <p:spPr>
          <a:xfrm>
            <a:off x="646160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7010248"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Eyes-closed test</a:t>
            </a:r>
            <a:endParaRPr lang="en-US" sz="1700" dirty="0"/>
          </a:p>
        </p:txBody>
      </p:sp>
      <p:sp>
        <p:nvSpPr>
          <p:cNvPr id="14" name="Text 12"/>
          <p:cNvSpPr txBox="1"/>
          <p:nvPr/>
        </p:nvSpPr>
        <p:spPr>
          <a:xfrm>
            <a:off x="6461608"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Listen without watching. Bored means cut tighter. Can't absorb it means add breathing room.</a:t>
            </a:r>
            <a:endParaRPr lang="en-US" sz="1500" dirty="0"/>
          </a:p>
        </p:txBody>
      </p:sp>
      <p:sp>
        <p:nvSpPr>
          <p:cNvPr id="15" name="Shape 13"/>
          <p:cNvSpPr/>
          <p:nvPr/>
        </p:nvSpPr>
        <p:spPr>
          <a:xfrm>
            <a:off x="548640" y="4046220"/>
            <a:ext cx="5410048" cy="2217420"/>
          </a:xfrm>
          <a:prstGeom prst="roundRect">
            <a:avLst>
              <a:gd name="adj" fmla="val 4948"/>
            </a:avLst>
          </a:prstGeom>
          <a:solidFill>
            <a:srgbClr val="F4F4F8"/>
          </a:solidFill>
          <a:ln/>
        </p:spPr>
      </p:sp>
      <p:sp>
        <p:nvSpPr>
          <p:cNvPr id="16" name="Shape 14"/>
          <p:cNvSpPr/>
          <p:nvPr/>
        </p:nvSpPr>
        <p:spPr>
          <a:xfrm>
            <a:off x="777240" y="4274820"/>
            <a:ext cx="411480" cy="411480"/>
          </a:xfrm>
          <a:prstGeom prst="ellipse">
            <a:avLst/>
          </a:prstGeom>
          <a:solidFill>
            <a:srgbClr val="FF4D3D"/>
          </a:solidFill>
          <a:ln/>
        </p:spPr>
      </p:sp>
      <p:sp>
        <p:nvSpPr>
          <p:cNvPr id="17" name="Text 15"/>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1325880"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Comprehension decay</a:t>
            </a:r>
            <a:endParaRPr lang="en-US" sz="1700" dirty="0"/>
          </a:p>
        </p:txBody>
      </p:sp>
      <p:sp>
        <p:nvSpPr>
          <p:cNvPr id="19" name="Text 17"/>
          <p:cNvSpPr txBox="1"/>
          <p:nvPr/>
        </p:nvSpPr>
        <p:spPr>
          <a:xfrm>
            <a:off x="777240"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Comprehension starts at 100% and every frame holds it or lowers it. Keep the first 5–10 seconds airtight, and look for abnormal retention cliffs.</a:t>
            </a:r>
            <a:endParaRPr lang="en-US" sz="1500" dirty="0"/>
          </a:p>
        </p:txBody>
      </p:sp>
      <p:sp>
        <p:nvSpPr>
          <p:cNvPr id="20" name="Shape 18"/>
          <p:cNvSpPr/>
          <p:nvPr/>
        </p:nvSpPr>
        <p:spPr>
          <a:xfrm>
            <a:off x="6233008" y="4046220"/>
            <a:ext cx="5410048" cy="2217420"/>
          </a:xfrm>
          <a:prstGeom prst="roundRect">
            <a:avLst>
              <a:gd name="adj" fmla="val 4948"/>
            </a:avLst>
          </a:prstGeom>
          <a:solidFill>
            <a:srgbClr val="F4F4F8"/>
          </a:solidFill>
          <a:ln/>
        </p:spPr>
      </p:sp>
      <p:sp>
        <p:nvSpPr>
          <p:cNvPr id="21" name="Shape 19"/>
          <p:cNvSpPr/>
          <p:nvPr/>
        </p:nvSpPr>
        <p:spPr>
          <a:xfrm>
            <a:off x="6461608" y="4274820"/>
            <a:ext cx="411480" cy="411480"/>
          </a:xfrm>
          <a:prstGeom prst="ellipse">
            <a:avLst/>
          </a:prstGeom>
          <a:solidFill>
            <a:srgbClr val="FF4D3D"/>
          </a:solidFill>
          <a:ln/>
        </p:spPr>
      </p:sp>
      <p:sp>
        <p:nvSpPr>
          <p:cNvPr id="22" name="Text 20"/>
          <p:cNvSpPr txBox="1"/>
          <p:nvPr/>
        </p:nvSpPr>
        <p:spPr>
          <a:xfrm>
            <a:off x="646160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7010248"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Be human</a:t>
            </a:r>
            <a:endParaRPr lang="en-US" sz="1700" dirty="0"/>
          </a:p>
        </p:txBody>
      </p:sp>
      <p:sp>
        <p:nvSpPr>
          <p:cNvPr id="24" name="Text 22"/>
          <p:cNvSpPr txBox="1"/>
          <p:nvPr/>
        </p:nvSpPr>
        <p:spPr>
          <a:xfrm>
            <a:off x="6461608"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Share losses, not just wins. Double down on what people compliment (Caleb's energy). Transparency beats posturing.</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5 · FORMATS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What's winning, and how to make people binge</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5 · Short-form craft</a:t>
            </a:r>
            <a:endParaRPr lang="en-US" sz="1000" dirty="0"/>
          </a:p>
        </p:txBody>
      </p:sp>
      <p:sp>
        <p:nvSpPr>
          <p:cNvPr id="5" name="Shape 3"/>
          <p:cNvSpPr/>
          <p:nvPr/>
        </p:nvSpPr>
        <p:spPr>
          <a:xfrm>
            <a:off x="2397709" y="1965960"/>
            <a:ext cx="7396277" cy="0"/>
          </a:xfrm>
          <a:prstGeom prst="line">
            <a:avLst/>
          </a:prstGeom>
          <a:noFill/>
          <a:ln w="25400">
            <a:solidFill>
              <a:srgbClr val="D9D9E3"/>
            </a:solidFill>
            <a:prstDash val="solid"/>
          </a:ln>
        </p:spPr>
      </p:sp>
      <p:sp>
        <p:nvSpPr>
          <p:cNvPr id="6" name="Shape 4"/>
          <p:cNvSpPr/>
          <p:nvPr/>
        </p:nvSpPr>
        <p:spPr>
          <a:xfrm>
            <a:off x="2077669" y="1645920"/>
            <a:ext cx="640080" cy="640080"/>
          </a:xfrm>
          <a:prstGeom prst="ellipse">
            <a:avLst/>
          </a:prstGeom>
          <a:solidFill>
            <a:srgbClr val="FF4D3D"/>
          </a:solidFill>
          <a:ln/>
        </p:spPr>
      </p:sp>
      <p:sp>
        <p:nvSpPr>
          <p:cNvPr id="7" name="Text 5"/>
          <p:cNvSpPr txBox="1"/>
          <p:nvPr/>
        </p:nvSpPr>
        <p:spPr>
          <a:xfrm>
            <a:off x="2077669" y="16459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46888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2020–22</a:t>
            </a:r>
            <a:endParaRPr lang="en-US" sz="1500" dirty="0"/>
          </a:p>
        </p:txBody>
      </p:sp>
      <p:sp>
        <p:nvSpPr>
          <p:cNvPr id="9" name="Text 7"/>
          <p:cNvSpPr txBox="1"/>
          <p:nvPr/>
        </p:nvSpPr>
        <p:spPr>
          <a:xfrm>
            <a:off x="640080" y="3108960"/>
            <a:ext cx="3515258" cy="109728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Transactional listicles and tutorials. Now saturated and easy for AI.</a:t>
            </a:r>
            <a:endParaRPr lang="en-US" sz="1400" dirty="0"/>
          </a:p>
        </p:txBody>
      </p:sp>
      <p:sp>
        <p:nvSpPr>
          <p:cNvPr id="10" name="Shape 8"/>
          <p:cNvSpPr/>
          <p:nvPr/>
        </p:nvSpPr>
        <p:spPr>
          <a:xfrm>
            <a:off x="5775808" y="1645920"/>
            <a:ext cx="640080" cy="640080"/>
          </a:xfrm>
          <a:prstGeom prst="ellipse">
            <a:avLst/>
          </a:prstGeom>
          <a:solidFill>
            <a:srgbClr val="FF4D3D"/>
          </a:solidFill>
          <a:ln/>
        </p:spPr>
      </p:sp>
      <p:sp>
        <p:nvSpPr>
          <p:cNvPr id="11" name="Text 9"/>
          <p:cNvSpPr txBox="1"/>
          <p:nvPr/>
        </p:nvSpPr>
        <p:spPr>
          <a:xfrm>
            <a:off x="5775808" y="16459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338218" y="246888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Then</a:t>
            </a:r>
            <a:endParaRPr lang="en-US" sz="1500" dirty="0"/>
          </a:p>
        </p:txBody>
      </p:sp>
      <p:sp>
        <p:nvSpPr>
          <p:cNvPr id="13" name="Text 11"/>
          <p:cNvSpPr txBox="1"/>
          <p:nvPr/>
        </p:nvSpPr>
        <p:spPr>
          <a:xfrm>
            <a:off x="4338218" y="3108960"/>
            <a:ext cx="3515258" cy="109728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Case-study breakdowns: "they got X, here's how."</a:t>
            </a:r>
            <a:endParaRPr lang="en-US" sz="1400" dirty="0"/>
          </a:p>
        </p:txBody>
      </p:sp>
      <p:sp>
        <p:nvSpPr>
          <p:cNvPr id="14" name="Shape 12"/>
          <p:cNvSpPr/>
          <p:nvPr/>
        </p:nvSpPr>
        <p:spPr>
          <a:xfrm>
            <a:off x="9473946" y="1645920"/>
            <a:ext cx="640080" cy="640080"/>
          </a:xfrm>
          <a:prstGeom prst="ellipse">
            <a:avLst/>
          </a:prstGeom>
          <a:solidFill>
            <a:srgbClr val="FFC93C"/>
          </a:solidFill>
          <a:ln/>
        </p:spPr>
      </p:sp>
      <p:sp>
        <p:nvSpPr>
          <p:cNvPr id="15" name="Text 13"/>
          <p:cNvSpPr txBox="1"/>
          <p:nvPr/>
        </p:nvSpPr>
        <p:spPr>
          <a:xfrm>
            <a:off x="9473946" y="164592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8036357" y="246888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Now</a:t>
            </a:r>
            <a:endParaRPr lang="en-US" sz="1500" dirty="0"/>
          </a:p>
        </p:txBody>
      </p:sp>
      <p:sp>
        <p:nvSpPr>
          <p:cNvPr id="17" name="Text 15"/>
          <p:cNvSpPr txBox="1"/>
          <p:nvPr/>
        </p:nvSpPr>
        <p:spPr>
          <a:xfrm>
            <a:off x="8036357" y="3108960"/>
            <a:ext cx="3515258" cy="109728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Narrative visual storytelling, one-of-one (Chloe Shu's 30 lessons by 30).</a:t>
            </a:r>
            <a:endParaRPr lang="en-US" sz="1400" dirty="0"/>
          </a:p>
        </p:txBody>
      </p:sp>
      <p:sp>
        <p:nvSpPr>
          <p:cNvPr id="18" name="Shape 16"/>
          <p:cNvSpPr/>
          <p:nvPr/>
        </p:nvSpPr>
        <p:spPr>
          <a:xfrm>
            <a:off x="548640" y="4069080"/>
            <a:ext cx="3515258" cy="2194560"/>
          </a:xfrm>
          <a:prstGeom prst="roundRect">
            <a:avLst>
              <a:gd name="adj" fmla="val 5000"/>
            </a:avLst>
          </a:prstGeom>
          <a:solidFill>
            <a:srgbClr val="F4F4F8"/>
          </a:solidFill>
          <a:ln/>
        </p:spPr>
      </p:sp>
      <p:sp>
        <p:nvSpPr>
          <p:cNvPr id="19" name="Shape 17"/>
          <p:cNvSpPr/>
          <p:nvPr/>
        </p:nvSpPr>
        <p:spPr>
          <a:xfrm>
            <a:off x="777240" y="4297680"/>
            <a:ext cx="411480" cy="411480"/>
          </a:xfrm>
          <a:prstGeom prst="ellipse">
            <a:avLst/>
          </a:prstGeom>
          <a:solidFill>
            <a:srgbClr val="FF4D3D"/>
          </a:solidFill>
          <a:ln/>
        </p:spPr>
      </p:sp>
      <p:sp>
        <p:nvSpPr>
          <p:cNvPr id="20" name="Text 18"/>
          <p:cNvSpPr txBox="1"/>
          <p:nvPr/>
        </p:nvSpPr>
        <p:spPr>
          <a:xfrm>
            <a:off x="777240" y="42976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9"/>
          <p:cNvSpPr txBox="1"/>
          <p:nvPr/>
        </p:nvSpPr>
        <p:spPr>
          <a:xfrm>
            <a:off x="1325880" y="42702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Numbered series</a:t>
            </a:r>
            <a:endParaRPr lang="en-US" sz="1600" dirty="0"/>
          </a:p>
        </p:txBody>
      </p:sp>
      <p:sp>
        <p:nvSpPr>
          <p:cNvPr id="22" name="Text 20"/>
          <p:cNvSpPr txBox="1"/>
          <p:nvPr/>
        </p:nvSpPr>
        <p:spPr>
          <a:xfrm>
            <a:off x="777240" y="4892040"/>
            <a:ext cx="3058058" cy="123444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"Day 4 of 10" makes people go back for days 1–3. Bank episodes ahead so you don't break the promise.</a:t>
            </a:r>
            <a:endParaRPr lang="en-US" sz="1300" dirty="0"/>
          </a:p>
        </p:txBody>
      </p:sp>
      <p:sp>
        <p:nvSpPr>
          <p:cNvPr id="23" name="Shape 21"/>
          <p:cNvSpPr/>
          <p:nvPr/>
        </p:nvSpPr>
        <p:spPr>
          <a:xfrm>
            <a:off x="4338218" y="4069080"/>
            <a:ext cx="3515258" cy="2194560"/>
          </a:xfrm>
          <a:prstGeom prst="roundRect">
            <a:avLst>
              <a:gd name="adj" fmla="val 5000"/>
            </a:avLst>
          </a:prstGeom>
          <a:solidFill>
            <a:srgbClr val="F4F4F8"/>
          </a:solidFill>
          <a:ln/>
        </p:spPr>
      </p:sp>
      <p:sp>
        <p:nvSpPr>
          <p:cNvPr id="24" name="Shape 22"/>
          <p:cNvSpPr/>
          <p:nvPr/>
        </p:nvSpPr>
        <p:spPr>
          <a:xfrm>
            <a:off x="4566818" y="4297680"/>
            <a:ext cx="411480" cy="411480"/>
          </a:xfrm>
          <a:prstGeom prst="ellipse">
            <a:avLst/>
          </a:prstGeom>
          <a:solidFill>
            <a:srgbClr val="FF4D3D"/>
          </a:solidFill>
          <a:ln/>
        </p:spPr>
      </p:sp>
      <p:sp>
        <p:nvSpPr>
          <p:cNvPr id="25" name="Text 23"/>
          <p:cNvSpPr txBox="1"/>
          <p:nvPr/>
        </p:nvSpPr>
        <p:spPr>
          <a:xfrm>
            <a:off x="4566818" y="42976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6" name="Text 24"/>
          <p:cNvSpPr txBox="1"/>
          <p:nvPr/>
        </p:nvSpPr>
        <p:spPr>
          <a:xfrm>
            <a:off x="5115458" y="42702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Covers matter</a:t>
            </a:r>
            <a:endParaRPr lang="en-US" sz="1600" dirty="0"/>
          </a:p>
        </p:txBody>
      </p:sp>
      <p:sp>
        <p:nvSpPr>
          <p:cNvPr id="27" name="Text 25"/>
          <p:cNvSpPr txBox="1"/>
          <p:nvPr/>
        </p:nvSpPr>
        <p:spPr>
          <a:xfrm>
            <a:off x="4566818" y="4892040"/>
            <a:ext cx="3058058" cy="123444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Profile covers drive binges. Shared DMs show a static cover, not a loop, so a better cover gets more clicks.</a:t>
            </a:r>
            <a:endParaRPr lang="en-US" sz="1300" dirty="0"/>
          </a:p>
        </p:txBody>
      </p:sp>
      <p:sp>
        <p:nvSpPr>
          <p:cNvPr id="28" name="Shape 26"/>
          <p:cNvSpPr/>
          <p:nvPr/>
        </p:nvSpPr>
        <p:spPr>
          <a:xfrm>
            <a:off x="8127797" y="4069080"/>
            <a:ext cx="3515258" cy="2194560"/>
          </a:xfrm>
          <a:prstGeom prst="roundRect">
            <a:avLst>
              <a:gd name="adj" fmla="val 5000"/>
            </a:avLst>
          </a:prstGeom>
          <a:solidFill>
            <a:srgbClr val="F4F4F8"/>
          </a:solidFill>
          <a:ln/>
        </p:spPr>
      </p:sp>
      <p:sp>
        <p:nvSpPr>
          <p:cNvPr id="29" name="Shape 27"/>
          <p:cNvSpPr/>
          <p:nvPr/>
        </p:nvSpPr>
        <p:spPr>
          <a:xfrm>
            <a:off x="8356397" y="4297680"/>
            <a:ext cx="411480" cy="411480"/>
          </a:xfrm>
          <a:prstGeom prst="ellipse">
            <a:avLst/>
          </a:prstGeom>
          <a:solidFill>
            <a:srgbClr val="FF4D3D"/>
          </a:solidFill>
          <a:ln/>
        </p:spPr>
      </p:sp>
      <p:sp>
        <p:nvSpPr>
          <p:cNvPr id="30" name="Text 28"/>
          <p:cNvSpPr txBox="1"/>
          <p:nvPr/>
        </p:nvSpPr>
        <p:spPr>
          <a:xfrm>
            <a:off x="8356397" y="42976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1" name="Text 29"/>
          <p:cNvSpPr txBox="1"/>
          <p:nvPr/>
        </p:nvSpPr>
        <p:spPr>
          <a:xfrm>
            <a:off x="8905037" y="42702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One-of-one</a:t>
            </a:r>
            <a:endParaRPr lang="en-US" sz="1600" dirty="0"/>
          </a:p>
        </p:txBody>
      </p:sp>
      <p:sp>
        <p:nvSpPr>
          <p:cNvPr id="32" name="Text 30"/>
          <p:cNvSpPr txBox="1"/>
          <p:nvPr/>
        </p:nvSpPr>
        <p:spPr>
          <a:xfrm>
            <a:off x="8356397" y="4892040"/>
            <a:ext cx="3058058" cy="123444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If 50 others could make it, you must be the best of 50. Lived stories (Marshall Haas's cars) can't be copied.</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06</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6</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Iteration &amp; analytics</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One good video isn't the goal. A system that improves every rep is.</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6 · ITERATION</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Get better every rep</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6 · Iteration &amp; analytics</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One at a time (early)</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Batching repeats mistakes 5 times. Kane did ~300 single reps before batching 2–3. Busy founders who must batch should protect film days.</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3-second benchmark</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YouTube Shorts: 70%+ still watching at 3 seconds is a banger, below 50% is a problem. Data lags. Principles lead.</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Top 10% review</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Monthly: find the 1–2 traits shared by your best 10% of posts and bake them into everything.</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Peer feedback</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~20 variables and your emotions blind you. Get 3–4 peers (the MrBeast model) or a coach.</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Study winners in order</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1) your own winners, 2) the best creators sharing your bricks, 3) tools that surface outliers.</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Fix old content</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Delete a weak video, wait 3+ days, trim it, and re-upload with new packaging ("from the vault").</a:t>
            </a:r>
            <a:endParaRPr lang="en-US" sz="14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6 · ANALYTICS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multiplier sheet: one language for performance</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6 · Iteration &amp; analytics</a:t>
            </a:r>
            <a:endParaRPr lang="en-US" sz="1000" dirty="0"/>
          </a:p>
        </p:txBody>
      </p:sp>
      <p:sp>
        <p:nvSpPr>
          <p:cNvPr id="5" name="Shape 3"/>
          <p:cNvSpPr/>
          <p:nvPr/>
        </p:nvSpPr>
        <p:spPr>
          <a:xfrm>
            <a:off x="548640" y="1645920"/>
            <a:ext cx="3515258" cy="2194560"/>
          </a:xfrm>
          <a:prstGeom prst="roundRect">
            <a:avLst>
              <a:gd name="adj" fmla="val 5000"/>
            </a:avLst>
          </a:prstGeom>
          <a:solidFill>
            <a:srgbClr val="F4F4F8"/>
          </a:solidFill>
          <a:ln/>
        </p:spPr>
      </p:sp>
      <p:sp>
        <p:nvSpPr>
          <p:cNvPr id="6" name="Text 4"/>
          <p:cNvSpPr txBox="1"/>
          <p:nvPr/>
        </p:nvSpPr>
        <p:spPr>
          <a:xfrm>
            <a:off x="731520" y="1874520"/>
            <a:ext cx="3149498"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100k</a:t>
            </a:r>
            <a:endParaRPr lang="en-US" sz="5400" dirty="0"/>
          </a:p>
        </p:txBody>
      </p:sp>
      <p:sp>
        <p:nvSpPr>
          <p:cNvPr id="7" name="Text 5"/>
          <p:cNvSpPr txBox="1"/>
          <p:nvPr/>
        </p:nvSpPr>
        <p:spPr>
          <a:xfrm>
            <a:off x="731520" y="2926080"/>
            <a:ext cx="3149498"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Median views, last 75–90 days (per platform and format)</a:t>
            </a:r>
            <a:endParaRPr lang="en-US" sz="1400" dirty="0"/>
          </a:p>
        </p:txBody>
      </p:sp>
      <p:sp>
        <p:nvSpPr>
          <p:cNvPr id="8" name="Shape 6"/>
          <p:cNvSpPr/>
          <p:nvPr/>
        </p:nvSpPr>
        <p:spPr>
          <a:xfrm>
            <a:off x="4338218" y="1645920"/>
            <a:ext cx="3515258" cy="2194560"/>
          </a:xfrm>
          <a:prstGeom prst="roundRect">
            <a:avLst>
              <a:gd name="adj" fmla="val 5000"/>
            </a:avLst>
          </a:prstGeom>
          <a:solidFill>
            <a:srgbClr val="F4F4F8"/>
          </a:solidFill>
          <a:ln/>
        </p:spPr>
      </p:sp>
      <p:sp>
        <p:nvSpPr>
          <p:cNvPr id="9" name="Text 7"/>
          <p:cNvSpPr txBox="1"/>
          <p:nvPr/>
        </p:nvSpPr>
        <p:spPr>
          <a:xfrm>
            <a:off x="4521098" y="1874520"/>
            <a:ext cx="3149498"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150k</a:t>
            </a:r>
            <a:endParaRPr lang="en-US" sz="5400" dirty="0"/>
          </a:p>
        </p:txBody>
      </p:sp>
      <p:sp>
        <p:nvSpPr>
          <p:cNvPr id="10" name="Text 8"/>
          <p:cNvSpPr txBox="1"/>
          <p:nvPr/>
        </p:nvSpPr>
        <p:spPr>
          <a:xfrm>
            <a:off x="4521098" y="2926080"/>
            <a:ext cx="3149498"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A new Reel's views at day 11</a:t>
            </a:r>
            <a:endParaRPr lang="en-US" sz="1400" dirty="0"/>
          </a:p>
        </p:txBody>
      </p:sp>
      <p:sp>
        <p:nvSpPr>
          <p:cNvPr id="11" name="Shape 9"/>
          <p:cNvSpPr/>
          <p:nvPr/>
        </p:nvSpPr>
        <p:spPr>
          <a:xfrm>
            <a:off x="8127797" y="1645920"/>
            <a:ext cx="3515258" cy="2194560"/>
          </a:xfrm>
          <a:prstGeom prst="roundRect">
            <a:avLst>
              <a:gd name="adj" fmla="val 5000"/>
            </a:avLst>
          </a:prstGeom>
          <a:solidFill>
            <a:srgbClr val="F4F4F8"/>
          </a:solidFill>
          <a:ln/>
        </p:spPr>
      </p:sp>
      <p:sp>
        <p:nvSpPr>
          <p:cNvPr id="12" name="Text 10"/>
          <p:cNvSpPr txBox="1"/>
          <p:nvPr/>
        </p:nvSpPr>
        <p:spPr>
          <a:xfrm>
            <a:off x="8310677" y="1874520"/>
            <a:ext cx="3149498"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1.5x</a:t>
            </a:r>
            <a:endParaRPr lang="en-US" sz="5400" dirty="0"/>
          </a:p>
        </p:txBody>
      </p:sp>
      <p:sp>
        <p:nvSpPr>
          <p:cNvPr id="13" name="Text 11"/>
          <p:cNvSpPr txBox="1"/>
          <p:nvPr/>
        </p:nvSpPr>
        <p:spPr>
          <a:xfrm>
            <a:off x="8310677" y="2926080"/>
            <a:ext cx="3149498" cy="82296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Report this multiple, not the raw count</a:t>
            </a:r>
            <a:endParaRPr lang="en-US" sz="1400" dirty="0"/>
          </a:p>
        </p:txBody>
      </p:sp>
      <p:sp>
        <p:nvSpPr>
          <p:cNvPr id="14" name="Text 12"/>
          <p:cNvSpPr txBox="1"/>
          <p:nvPr/>
        </p:nvSpPr>
        <p:spPr>
          <a:xfrm>
            <a:off x="548640" y="4114800"/>
            <a:ext cx="11094415"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Use the median, not the mean, because outliers skew it. Update the benchmark monthly so the bar rises.</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Wait ~11 days before scoring, since content often pops a week in. YouTube has tools (One of 10, ViewStats); short form needs a sheet.</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Share sheets across platforms: a 3x on Instagram is a TikTok test. If a metric won't change your actions, don't track it.</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07</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7</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YouTube long-form: the trust engine</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Short form gets you discovered. YouTube builds trust fastest, and packaging is everything.</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7 · YOUTUBE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Why YouTube, and what wins there</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7 · YouTube long-form: the trust engine</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~10 blocks per rep</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About 10 ideas per video, your mannerisms on display, and more rope before people churn.</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Play your attributes</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Madden-style skill points: short form rewards creative editing, long form rewards explaining.</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Skill first</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No skill, audience or offer? Build a skill before content. Traffic is the most valuable skill.</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Niche education + proof</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High value = non-obvious and tactically implementable. Unlock what's in your head.</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Hold them</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Keep tension and open loops. Sprinkle value through the video instead of dumping it in the first 3 minutes.</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A-team from day one</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Kane: a packaging agency (&lt;$3k/month), a thumbnail designer and an editor. He only scripts and records.</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7 · PACKAGING</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No click = a black screen. Package first.</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7 · YouTube long-form: the trust engine</a:t>
            </a:r>
            <a:endParaRPr lang="en-US" sz="1000" dirty="0"/>
          </a:p>
        </p:txBody>
      </p:sp>
      <p:sp>
        <p:nvSpPr>
          <p:cNvPr id="5" name="Shape 3"/>
          <p:cNvSpPr/>
          <p:nvPr/>
        </p:nvSpPr>
        <p:spPr>
          <a:xfrm>
            <a:off x="1473175" y="2057400"/>
            <a:ext cx="9245346" cy="0"/>
          </a:xfrm>
          <a:prstGeom prst="line">
            <a:avLst/>
          </a:prstGeom>
          <a:noFill/>
          <a:ln w="25400">
            <a:solidFill>
              <a:srgbClr val="D9D9E3"/>
            </a:solidFill>
            <a:prstDash val="solid"/>
          </a:ln>
        </p:spPr>
      </p:sp>
      <p:sp>
        <p:nvSpPr>
          <p:cNvPr id="6" name="Shape 4"/>
          <p:cNvSpPr/>
          <p:nvPr/>
        </p:nvSpPr>
        <p:spPr>
          <a:xfrm>
            <a:off x="1153135" y="1737360"/>
            <a:ext cx="640080" cy="640080"/>
          </a:xfrm>
          <a:prstGeom prst="ellipse">
            <a:avLst/>
          </a:prstGeom>
          <a:solidFill>
            <a:srgbClr val="FF4D3D"/>
          </a:solidFill>
          <a:ln/>
        </p:spPr>
      </p:sp>
      <p:sp>
        <p:nvSpPr>
          <p:cNvPr id="7" name="Text 5"/>
          <p:cNvSpPr txBox="1"/>
          <p:nvPr/>
        </p:nvSpPr>
        <p:spPr>
          <a:xfrm>
            <a:off x="1153135"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Thumbnail</a:t>
            </a:r>
            <a:endParaRPr lang="en-US" sz="1400" dirty="0"/>
          </a:p>
        </p:txBody>
      </p:sp>
      <p:sp>
        <p:nvSpPr>
          <p:cNvPr id="9" name="Text 7"/>
          <p:cNvSpPr txBox="1"/>
          <p:nvPr/>
        </p:nvSpPr>
        <p:spPr>
          <a:xfrm>
            <a:off x="640080" y="3200400"/>
            <a:ext cx="1666189" cy="146304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Their eye catches it and locks in.</a:t>
            </a:r>
            <a:endParaRPr lang="en-US" sz="1200" dirty="0"/>
          </a:p>
        </p:txBody>
      </p:sp>
      <p:sp>
        <p:nvSpPr>
          <p:cNvPr id="10" name="Shape 8"/>
          <p:cNvSpPr/>
          <p:nvPr/>
        </p:nvSpPr>
        <p:spPr>
          <a:xfrm>
            <a:off x="3002204" y="1737360"/>
            <a:ext cx="640080" cy="640080"/>
          </a:xfrm>
          <a:prstGeom prst="ellipse">
            <a:avLst/>
          </a:prstGeom>
          <a:solidFill>
            <a:srgbClr val="FF4D3D"/>
          </a:solidFill>
          <a:ln/>
        </p:spPr>
      </p:sp>
      <p:sp>
        <p:nvSpPr>
          <p:cNvPr id="11" name="Text 9"/>
          <p:cNvSpPr txBox="1"/>
          <p:nvPr/>
        </p:nvSpPr>
        <p:spPr>
          <a:xfrm>
            <a:off x="3002204"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2489149"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Title</a:t>
            </a:r>
            <a:endParaRPr lang="en-US" sz="1400" dirty="0"/>
          </a:p>
        </p:txBody>
      </p:sp>
      <p:sp>
        <p:nvSpPr>
          <p:cNvPr id="13" name="Text 11"/>
          <p:cNvSpPr txBox="1"/>
          <p:nvPr/>
        </p:nvSpPr>
        <p:spPr>
          <a:xfrm>
            <a:off x="2489149" y="3200400"/>
            <a:ext cx="1666189" cy="146304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A desire loop: pain, FOMO or desire.</a:t>
            </a:r>
            <a:endParaRPr lang="en-US" sz="1200" dirty="0"/>
          </a:p>
        </p:txBody>
      </p:sp>
      <p:sp>
        <p:nvSpPr>
          <p:cNvPr id="14" name="Shape 12"/>
          <p:cNvSpPr/>
          <p:nvPr/>
        </p:nvSpPr>
        <p:spPr>
          <a:xfrm>
            <a:off x="4851273" y="1737360"/>
            <a:ext cx="640080" cy="640080"/>
          </a:xfrm>
          <a:prstGeom prst="ellipse">
            <a:avLst/>
          </a:prstGeom>
          <a:solidFill>
            <a:srgbClr val="FF4D3D"/>
          </a:solidFill>
          <a:ln/>
        </p:spPr>
      </p:sp>
      <p:sp>
        <p:nvSpPr>
          <p:cNvPr id="15" name="Text 13"/>
          <p:cNvSpPr txBox="1"/>
          <p:nvPr/>
        </p:nvSpPr>
        <p:spPr>
          <a:xfrm>
            <a:off x="4851273"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4338218"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Thumbnail again</a:t>
            </a:r>
            <a:endParaRPr lang="en-US" sz="1400" dirty="0"/>
          </a:p>
        </p:txBody>
      </p:sp>
      <p:sp>
        <p:nvSpPr>
          <p:cNvPr id="17" name="Text 15"/>
          <p:cNvSpPr txBox="1"/>
          <p:nvPr/>
        </p:nvSpPr>
        <p:spPr>
          <a:xfrm>
            <a:off x="4338218" y="3200400"/>
            <a:ext cx="1666189" cy="146304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It amplifies the title and never repeats it.</a:t>
            </a:r>
            <a:endParaRPr lang="en-US" sz="1200" dirty="0"/>
          </a:p>
        </p:txBody>
      </p:sp>
      <p:sp>
        <p:nvSpPr>
          <p:cNvPr id="18" name="Shape 16"/>
          <p:cNvSpPr/>
          <p:nvPr/>
        </p:nvSpPr>
        <p:spPr>
          <a:xfrm>
            <a:off x="6700342" y="1737360"/>
            <a:ext cx="640080" cy="640080"/>
          </a:xfrm>
          <a:prstGeom prst="ellipse">
            <a:avLst/>
          </a:prstGeom>
          <a:solidFill>
            <a:srgbClr val="FF4D3D"/>
          </a:solidFill>
          <a:ln/>
        </p:spPr>
      </p:sp>
      <p:sp>
        <p:nvSpPr>
          <p:cNvPr id="19" name="Text 17"/>
          <p:cNvSpPr txBox="1"/>
          <p:nvPr/>
        </p:nvSpPr>
        <p:spPr>
          <a:xfrm>
            <a:off x="670034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6187288"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Intro</a:t>
            </a:r>
            <a:endParaRPr lang="en-US" sz="1400" dirty="0"/>
          </a:p>
        </p:txBody>
      </p:sp>
      <p:sp>
        <p:nvSpPr>
          <p:cNvPr id="21" name="Text 19"/>
          <p:cNvSpPr txBox="1"/>
          <p:nvPr/>
        </p:nvSpPr>
        <p:spPr>
          <a:xfrm>
            <a:off x="6187288" y="3200400"/>
            <a:ext cx="1666189" cy="146304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Confirms the click within ~5 seconds.</a:t>
            </a:r>
            <a:endParaRPr lang="en-US" sz="1200" dirty="0"/>
          </a:p>
        </p:txBody>
      </p:sp>
      <p:sp>
        <p:nvSpPr>
          <p:cNvPr id="22" name="Shape 20"/>
          <p:cNvSpPr/>
          <p:nvPr/>
        </p:nvSpPr>
        <p:spPr>
          <a:xfrm>
            <a:off x="8549411" y="1737360"/>
            <a:ext cx="640080" cy="640080"/>
          </a:xfrm>
          <a:prstGeom prst="ellipse">
            <a:avLst/>
          </a:prstGeom>
          <a:solidFill>
            <a:srgbClr val="FF4D3D"/>
          </a:solidFill>
          <a:ln/>
        </p:spPr>
      </p:sp>
      <p:sp>
        <p:nvSpPr>
          <p:cNvPr id="23" name="Text 21"/>
          <p:cNvSpPr txBox="1"/>
          <p:nvPr/>
        </p:nvSpPr>
        <p:spPr>
          <a:xfrm>
            <a:off x="8549411"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4" name="Text 22"/>
          <p:cNvSpPr txBox="1"/>
          <p:nvPr/>
        </p:nvSpPr>
        <p:spPr>
          <a:xfrm>
            <a:off x="8036357"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Dopamine hit</a:t>
            </a:r>
            <a:endParaRPr lang="en-US" sz="1400" dirty="0"/>
          </a:p>
        </p:txBody>
      </p:sp>
      <p:sp>
        <p:nvSpPr>
          <p:cNvPr id="25" name="Text 23"/>
          <p:cNvSpPr txBox="1"/>
          <p:nvPr/>
        </p:nvSpPr>
        <p:spPr>
          <a:xfrm>
            <a:off x="8036357" y="3200400"/>
            <a:ext cx="1666189" cy="146304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The first payoff within 30–60 seconds.</a:t>
            </a:r>
            <a:endParaRPr lang="en-US" sz="1200" dirty="0"/>
          </a:p>
        </p:txBody>
      </p:sp>
      <p:sp>
        <p:nvSpPr>
          <p:cNvPr id="26" name="Shape 24"/>
          <p:cNvSpPr/>
          <p:nvPr/>
        </p:nvSpPr>
        <p:spPr>
          <a:xfrm>
            <a:off x="10398481" y="1737360"/>
            <a:ext cx="640080" cy="640080"/>
          </a:xfrm>
          <a:prstGeom prst="ellipse">
            <a:avLst/>
          </a:prstGeom>
          <a:solidFill>
            <a:srgbClr val="FFC93C"/>
          </a:solidFill>
          <a:ln/>
        </p:spPr>
      </p:sp>
      <p:sp>
        <p:nvSpPr>
          <p:cNvPr id="27" name="Text 25"/>
          <p:cNvSpPr txBox="1"/>
          <p:nvPr/>
        </p:nvSpPr>
        <p:spPr>
          <a:xfrm>
            <a:off x="10398481"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6</a:t>
            </a:r>
            <a:endParaRPr lang="en-US" sz="1600" dirty="0"/>
          </a:p>
        </p:txBody>
      </p:sp>
      <p:sp>
        <p:nvSpPr>
          <p:cNvPr id="28" name="Text 26"/>
          <p:cNvSpPr txBox="1"/>
          <p:nvPr/>
        </p:nvSpPr>
        <p:spPr>
          <a:xfrm>
            <a:off x="9885426"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Booster drops</a:t>
            </a:r>
            <a:endParaRPr lang="en-US" sz="1400" dirty="0"/>
          </a:p>
        </p:txBody>
      </p:sp>
      <p:sp>
        <p:nvSpPr>
          <p:cNvPr id="29" name="Text 27"/>
          <p:cNvSpPr txBox="1"/>
          <p:nvPr/>
        </p:nvSpPr>
        <p:spPr>
          <a:xfrm>
            <a:off x="9885426" y="3200400"/>
            <a:ext cx="1666189" cy="146304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The package is forgotten. Its job is done.</a:t>
            </a:r>
            <a:endParaRPr lang="en-US" sz="1200" dirty="0"/>
          </a:p>
        </p:txBody>
      </p:sp>
      <p:sp>
        <p:nvSpPr>
          <p:cNvPr id="30" name="Shape 28"/>
          <p:cNvSpPr/>
          <p:nvPr/>
        </p:nvSpPr>
        <p:spPr>
          <a:xfrm>
            <a:off x="548640" y="4754880"/>
            <a:ext cx="11094415" cy="1325880"/>
          </a:xfrm>
          <a:prstGeom prst="roundRect">
            <a:avLst>
              <a:gd name="adj" fmla="val 6897"/>
            </a:avLst>
          </a:prstGeom>
          <a:solidFill>
            <a:srgbClr val="FFF4D6"/>
          </a:solidFill>
          <a:ln/>
        </p:spPr>
      </p:sp>
      <p:sp>
        <p:nvSpPr>
          <p:cNvPr id="31" name="Text 29"/>
          <p:cNvSpPr txBox="1"/>
          <p:nvPr/>
        </p:nvSpPr>
        <p:spPr>
          <a:xfrm>
            <a:off x="777240" y="491947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CLICKBAIT ≠ BAIT-AND-SWITCH</a:t>
            </a:r>
            <a:endParaRPr lang="en-US" sz="1100" dirty="0"/>
          </a:p>
        </p:txBody>
      </p:sp>
      <p:sp>
        <p:nvSpPr>
          <p:cNvPr id="32" name="Text 30"/>
          <p:cNvSpPr txBox="1"/>
          <p:nvPr/>
        </p:nvSpPr>
        <p:spPr>
          <a:xfrm>
            <a:off x="777240" y="5212080"/>
            <a:ext cx="10637215" cy="77724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Bait the click, then give them the bait. If the gold is at minute 45, reorder the edit. The biggest mistake is packaging last, when you're exhausted.</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7 · METRICS &amp; EXPECTATIONS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Read YouTube like a business owner</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7 · YouTube long-form: the trust engine</a:t>
            </a:r>
            <a:endParaRPr lang="en-US" sz="1000" dirty="0"/>
          </a:p>
        </p:txBody>
      </p:sp>
      <p:sp>
        <p:nvSpPr>
          <p:cNvPr id="5" name="Shape 3"/>
          <p:cNvSpPr/>
          <p:nvPr/>
        </p:nvSpPr>
        <p:spPr>
          <a:xfrm>
            <a:off x="548640" y="1645920"/>
            <a:ext cx="3515258" cy="1920240"/>
          </a:xfrm>
          <a:prstGeom prst="roundRect">
            <a:avLst>
              <a:gd name="adj" fmla="val 5714"/>
            </a:avLst>
          </a:prstGeom>
          <a:solidFill>
            <a:srgbClr val="F4F4F8"/>
          </a:solidFill>
          <a:ln/>
        </p:spPr>
      </p:sp>
      <p:sp>
        <p:nvSpPr>
          <p:cNvPr id="6" name="Shape 4"/>
          <p:cNvSpPr/>
          <p:nvPr/>
        </p:nvSpPr>
        <p:spPr>
          <a:xfrm>
            <a:off x="777240" y="1874520"/>
            <a:ext cx="411480" cy="411480"/>
          </a:xfrm>
          <a:prstGeom prst="ellipse">
            <a:avLst/>
          </a:prstGeom>
          <a:solidFill>
            <a:srgbClr val="FF4D3D"/>
          </a:solidFill>
          <a:ln/>
        </p:spPr>
      </p:sp>
      <p:sp>
        <p:nvSpPr>
          <p:cNvPr id="7" name="Text 5"/>
          <p:cNvSpPr txBox="1"/>
          <p:nvPr/>
        </p:nvSpPr>
        <p:spPr>
          <a:xfrm>
            <a:off x="777240"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1–3 of 10</a:t>
            </a:r>
            <a:endParaRPr lang="en-US" sz="1600" dirty="0"/>
          </a:p>
        </p:txBody>
      </p:sp>
      <p:sp>
        <p:nvSpPr>
          <p:cNvPr id="9" name="Text 7"/>
          <p:cNvSpPr txBox="1"/>
          <p:nvPr/>
        </p:nvSpPr>
        <p:spPr>
          <a:xfrm>
            <a:off x="777240" y="2468880"/>
            <a:ext cx="3058058" cy="96012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Outperforming your last 10 videos. Leave it and study why.</a:t>
            </a:r>
            <a:endParaRPr lang="en-US" sz="1450" dirty="0"/>
          </a:p>
        </p:txBody>
      </p:sp>
      <p:sp>
        <p:nvSpPr>
          <p:cNvPr id="10" name="Shape 8"/>
          <p:cNvSpPr/>
          <p:nvPr/>
        </p:nvSpPr>
        <p:spPr>
          <a:xfrm>
            <a:off x="4338218" y="1645920"/>
            <a:ext cx="3515258" cy="1920240"/>
          </a:xfrm>
          <a:prstGeom prst="roundRect">
            <a:avLst>
              <a:gd name="adj" fmla="val 5714"/>
            </a:avLst>
          </a:prstGeom>
          <a:solidFill>
            <a:srgbClr val="F4F4F8"/>
          </a:solidFill>
          <a:ln/>
        </p:spPr>
      </p:sp>
      <p:sp>
        <p:nvSpPr>
          <p:cNvPr id="11" name="Shape 9"/>
          <p:cNvSpPr/>
          <p:nvPr/>
        </p:nvSpPr>
        <p:spPr>
          <a:xfrm>
            <a:off x="4566818" y="1874520"/>
            <a:ext cx="411480" cy="411480"/>
          </a:xfrm>
          <a:prstGeom prst="ellipse">
            <a:avLst/>
          </a:prstGeom>
          <a:solidFill>
            <a:srgbClr val="FF4D3D"/>
          </a:solidFill>
          <a:ln/>
        </p:spPr>
      </p:sp>
      <p:sp>
        <p:nvSpPr>
          <p:cNvPr id="12" name="Text 10"/>
          <p:cNvSpPr txBox="1"/>
          <p:nvPr/>
        </p:nvSpPr>
        <p:spPr>
          <a:xfrm>
            <a:off x="4566818"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4–6 of 10</a:t>
            </a:r>
            <a:endParaRPr lang="en-US" sz="1600" dirty="0"/>
          </a:p>
        </p:txBody>
      </p:sp>
      <p:sp>
        <p:nvSpPr>
          <p:cNvPr id="14" name="Text 12"/>
          <p:cNvSpPr txBox="1"/>
          <p:nvPr/>
        </p:nvSpPr>
        <p:spPr>
          <a:xfrm>
            <a:off x="4566818" y="2468880"/>
            <a:ext cx="3058058" cy="96012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Usually a smaller-TAM idea. Don't beat yourself up.</a:t>
            </a:r>
            <a:endParaRPr lang="en-US" sz="1450" dirty="0"/>
          </a:p>
        </p:txBody>
      </p:sp>
      <p:sp>
        <p:nvSpPr>
          <p:cNvPr id="15" name="Shape 13"/>
          <p:cNvSpPr/>
          <p:nvPr/>
        </p:nvSpPr>
        <p:spPr>
          <a:xfrm>
            <a:off x="8127797" y="1645920"/>
            <a:ext cx="3515258" cy="1920240"/>
          </a:xfrm>
          <a:prstGeom prst="roundRect">
            <a:avLst>
              <a:gd name="adj" fmla="val 5714"/>
            </a:avLst>
          </a:prstGeom>
          <a:solidFill>
            <a:srgbClr val="F4F4F8"/>
          </a:solidFill>
          <a:ln/>
        </p:spPr>
      </p:sp>
      <p:sp>
        <p:nvSpPr>
          <p:cNvPr id="16" name="Shape 14"/>
          <p:cNvSpPr/>
          <p:nvPr/>
        </p:nvSpPr>
        <p:spPr>
          <a:xfrm>
            <a:off x="8356397" y="1874520"/>
            <a:ext cx="411480" cy="411480"/>
          </a:xfrm>
          <a:prstGeom prst="ellipse">
            <a:avLst/>
          </a:prstGeom>
          <a:solidFill>
            <a:srgbClr val="FF4D3D"/>
          </a:solidFill>
          <a:ln/>
        </p:spPr>
      </p:sp>
      <p:sp>
        <p:nvSpPr>
          <p:cNvPr id="17" name="Text 15"/>
          <p:cNvSpPr txBox="1"/>
          <p:nvPr/>
        </p:nvSpPr>
        <p:spPr>
          <a:xfrm>
            <a:off x="8356397"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7–10 of 10</a:t>
            </a:r>
            <a:endParaRPr lang="en-US" sz="1600" dirty="0"/>
          </a:p>
        </p:txBody>
      </p:sp>
      <p:sp>
        <p:nvSpPr>
          <p:cNvPr id="19" name="Text 17"/>
          <p:cNvSpPr txBox="1"/>
          <p:nvPr/>
        </p:nvSpPr>
        <p:spPr>
          <a:xfrm>
            <a:off x="8356397" y="2468880"/>
            <a:ext cx="3058058" cy="96012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Repackage the title and thumbnail. It's your only real-time lever.</a:t>
            </a:r>
            <a:endParaRPr lang="en-US" sz="1450" dirty="0"/>
          </a:p>
        </p:txBody>
      </p:sp>
      <p:sp>
        <p:nvSpPr>
          <p:cNvPr id="20" name="Text 18"/>
          <p:cNvSpPr txBox="1"/>
          <p:nvPr/>
        </p:nvSpPr>
        <p:spPr>
          <a:xfrm>
            <a:off x="548640" y="3840480"/>
            <a:ext cx="11094415"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Dollars per view beats views: 300 views making $300k beats 5k views making $50k.</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New eyeballs matter: one 1M-view video can beat four 250k videos that mostly reach existing fans.</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Thumbnail tests need a ~50% gap. When one wins, make two variants close to it and test again.</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You're an entrepreneur, not a YouTuber. Think in 3–5 years. Every video is a 24/7 sales agent (shorts last ~72 hours).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08</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8</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Storytelling that converts</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Storytelling holds attention, proof converts it, and education done right scales trust.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8 · STORY</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five-part story framework (a guide, not a rulebook)</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8 · Storytelling that converts</a:t>
            </a:r>
            <a:endParaRPr lang="en-US" sz="1000" dirty="0"/>
          </a:p>
        </p:txBody>
      </p:sp>
      <p:sp>
        <p:nvSpPr>
          <p:cNvPr id="5" name="Shape 3"/>
          <p:cNvSpPr/>
          <p:nvPr/>
        </p:nvSpPr>
        <p:spPr>
          <a:xfrm>
            <a:off x="1658082" y="2057400"/>
            <a:ext cx="8875532" cy="0"/>
          </a:xfrm>
          <a:prstGeom prst="line">
            <a:avLst/>
          </a:prstGeom>
          <a:noFill/>
          <a:ln w="25400">
            <a:solidFill>
              <a:srgbClr val="D9D9E3"/>
            </a:solidFill>
            <a:prstDash val="solid"/>
          </a:ln>
        </p:spPr>
      </p:sp>
      <p:sp>
        <p:nvSpPr>
          <p:cNvPr id="6" name="Shape 4"/>
          <p:cNvSpPr/>
          <p:nvPr/>
        </p:nvSpPr>
        <p:spPr>
          <a:xfrm>
            <a:off x="1338042" y="1737360"/>
            <a:ext cx="640080" cy="640080"/>
          </a:xfrm>
          <a:prstGeom prst="ellipse">
            <a:avLst/>
          </a:prstGeom>
          <a:solidFill>
            <a:srgbClr val="FF4D3D"/>
          </a:solidFill>
          <a:ln/>
        </p:spPr>
      </p:sp>
      <p:sp>
        <p:nvSpPr>
          <p:cNvPr id="7" name="Text 5"/>
          <p:cNvSpPr txBox="1"/>
          <p:nvPr/>
        </p:nvSpPr>
        <p:spPr>
          <a:xfrm>
            <a:off x="133804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Hook</a:t>
            </a:r>
            <a:endParaRPr lang="en-US" sz="1500" dirty="0"/>
          </a:p>
        </p:txBody>
      </p:sp>
      <p:sp>
        <p:nvSpPr>
          <p:cNvPr id="9" name="Text 7"/>
          <p:cNvSpPr txBox="1"/>
          <p:nvPr/>
        </p:nvSpPr>
        <p:spPr>
          <a:xfrm>
            <a:off x="640080" y="3200400"/>
            <a:ext cx="2036003"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Win attention in seconds.</a:t>
            </a:r>
            <a:endParaRPr lang="en-US" sz="1400" dirty="0"/>
          </a:p>
        </p:txBody>
      </p:sp>
      <p:sp>
        <p:nvSpPr>
          <p:cNvPr id="10" name="Shape 8"/>
          <p:cNvSpPr/>
          <p:nvPr/>
        </p:nvSpPr>
        <p:spPr>
          <a:xfrm>
            <a:off x="3556925" y="1737360"/>
            <a:ext cx="640080" cy="640080"/>
          </a:xfrm>
          <a:prstGeom prst="ellipse">
            <a:avLst/>
          </a:prstGeom>
          <a:solidFill>
            <a:srgbClr val="FF4D3D"/>
          </a:solidFill>
          <a:ln/>
        </p:spPr>
      </p:sp>
      <p:sp>
        <p:nvSpPr>
          <p:cNvPr id="11" name="Text 9"/>
          <p:cNvSpPr txBox="1"/>
          <p:nvPr/>
        </p:nvSpPr>
        <p:spPr>
          <a:xfrm>
            <a:off x="3556925"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2858963"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Problem</a:t>
            </a:r>
            <a:endParaRPr lang="en-US" sz="1500" dirty="0"/>
          </a:p>
        </p:txBody>
      </p:sp>
      <p:sp>
        <p:nvSpPr>
          <p:cNvPr id="13" name="Text 11"/>
          <p:cNvSpPr txBox="1"/>
          <p:nvPr/>
        </p:nvSpPr>
        <p:spPr>
          <a:xfrm>
            <a:off x="2858963" y="3200400"/>
            <a:ext cx="2036003"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Specific, relatable stakes: "14-hour days for my hero, and still stuck."</a:t>
            </a:r>
            <a:endParaRPr lang="en-US" sz="1400" dirty="0"/>
          </a:p>
        </p:txBody>
      </p:sp>
      <p:sp>
        <p:nvSpPr>
          <p:cNvPr id="14" name="Shape 12"/>
          <p:cNvSpPr/>
          <p:nvPr/>
        </p:nvSpPr>
        <p:spPr>
          <a:xfrm>
            <a:off x="5775808" y="1737360"/>
            <a:ext cx="640080" cy="640080"/>
          </a:xfrm>
          <a:prstGeom prst="ellipse">
            <a:avLst/>
          </a:prstGeom>
          <a:solidFill>
            <a:srgbClr val="FF4D3D"/>
          </a:solidFill>
          <a:ln/>
        </p:spPr>
      </p:sp>
      <p:sp>
        <p:nvSpPr>
          <p:cNvPr id="15" name="Text 13"/>
          <p:cNvSpPr txBox="1"/>
          <p:nvPr/>
        </p:nvSpPr>
        <p:spPr>
          <a:xfrm>
            <a:off x="5775808"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5077846"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Journey</a:t>
            </a:r>
            <a:endParaRPr lang="en-US" sz="1500" dirty="0"/>
          </a:p>
        </p:txBody>
      </p:sp>
      <p:sp>
        <p:nvSpPr>
          <p:cNvPr id="17" name="Text 15"/>
          <p:cNvSpPr txBox="1"/>
          <p:nvPr/>
        </p:nvSpPr>
        <p:spPr>
          <a:xfrm>
            <a:off x="5077846" y="3200400"/>
            <a:ext cx="2036003"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Progress, not perfection. Show the messy middle and the doubts.</a:t>
            </a:r>
            <a:endParaRPr lang="en-US" sz="1400" dirty="0"/>
          </a:p>
        </p:txBody>
      </p:sp>
      <p:sp>
        <p:nvSpPr>
          <p:cNvPr id="18" name="Shape 16"/>
          <p:cNvSpPr/>
          <p:nvPr/>
        </p:nvSpPr>
        <p:spPr>
          <a:xfrm>
            <a:off x="7994691" y="1737360"/>
            <a:ext cx="640080" cy="640080"/>
          </a:xfrm>
          <a:prstGeom prst="ellipse">
            <a:avLst/>
          </a:prstGeom>
          <a:solidFill>
            <a:srgbClr val="FF4D3D"/>
          </a:solidFill>
          <a:ln/>
        </p:spPr>
      </p:sp>
      <p:sp>
        <p:nvSpPr>
          <p:cNvPr id="19" name="Text 17"/>
          <p:cNvSpPr txBox="1"/>
          <p:nvPr/>
        </p:nvSpPr>
        <p:spPr>
          <a:xfrm>
            <a:off x="7994691"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7296729"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Lesson</a:t>
            </a:r>
            <a:endParaRPr lang="en-US" sz="1500" dirty="0"/>
          </a:p>
        </p:txBody>
      </p:sp>
      <p:sp>
        <p:nvSpPr>
          <p:cNvPr id="21" name="Text 19"/>
          <p:cNvSpPr txBox="1"/>
          <p:nvPr/>
        </p:nvSpPr>
        <p:spPr>
          <a:xfrm>
            <a:off x="7296729" y="3200400"/>
            <a:ext cx="2036003"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An actionable takeaway, chunked into steps and tied to your offer.</a:t>
            </a:r>
            <a:endParaRPr lang="en-US" sz="1400" dirty="0"/>
          </a:p>
        </p:txBody>
      </p:sp>
      <p:sp>
        <p:nvSpPr>
          <p:cNvPr id="22" name="Shape 20"/>
          <p:cNvSpPr/>
          <p:nvPr/>
        </p:nvSpPr>
        <p:spPr>
          <a:xfrm>
            <a:off x="10213574" y="1737360"/>
            <a:ext cx="640080" cy="640080"/>
          </a:xfrm>
          <a:prstGeom prst="ellipse">
            <a:avLst/>
          </a:prstGeom>
          <a:solidFill>
            <a:srgbClr val="FF4D3D"/>
          </a:solidFill>
          <a:ln/>
        </p:spPr>
      </p:sp>
      <p:sp>
        <p:nvSpPr>
          <p:cNvPr id="23" name="Text 21"/>
          <p:cNvSpPr txBox="1"/>
          <p:nvPr/>
        </p:nvSpPr>
        <p:spPr>
          <a:xfrm>
            <a:off x="10213574"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4" name="Text 22"/>
          <p:cNvSpPr txBox="1"/>
          <p:nvPr/>
        </p:nvSpPr>
        <p:spPr>
          <a:xfrm>
            <a:off x="9515612"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CTA</a:t>
            </a:r>
            <a:endParaRPr lang="en-US" sz="1500" dirty="0"/>
          </a:p>
        </p:txBody>
      </p:sp>
      <p:sp>
        <p:nvSpPr>
          <p:cNvPr id="25" name="Text 23"/>
          <p:cNvSpPr txBox="1"/>
          <p:nvPr/>
        </p:nvSpPr>
        <p:spPr>
          <a:xfrm>
            <a:off x="9515612" y="3200400"/>
            <a:ext cx="2036003" cy="164592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Not always a sale: "Comment which tactic you'll use."</a:t>
            </a:r>
            <a:endParaRPr lang="en-US" sz="1400" dirty="0"/>
          </a:p>
        </p:txBody>
      </p:sp>
      <p:sp>
        <p:nvSpPr>
          <p:cNvPr id="26" name="Shape 24"/>
          <p:cNvSpPr/>
          <p:nvPr/>
        </p:nvSpPr>
        <p:spPr>
          <a:xfrm>
            <a:off x="548640" y="4800600"/>
            <a:ext cx="11094415" cy="1280160"/>
          </a:xfrm>
          <a:prstGeom prst="roundRect">
            <a:avLst>
              <a:gd name="adj" fmla="val 7143"/>
            </a:avLst>
          </a:prstGeom>
          <a:solidFill>
            <a:srgbClr val="FFF4D6"/>
          </a:solidFill>
          <a:ln/>
        </p:spPr>
      </p:sp>
      <p:sp>
        <p:nvSpPr>
          <p:cNvPr id="27" name="Text 25"/>
          <p:cNvSpPr txBox="1"/>
          <p:nvPr/>
        </p:nvSpPr>
        <p:spPr>
          <a:xfrm>
            <a:off x="777240" y="496519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SHOCK SCORE</a:t>
            </a:r>
            <a:endParaRPr lang="en-US" sz="1100" dirty="0"/>
          </a:p>
        </p:txBody>
      </p:sp>
      <p:sp>
        <p:nvSpPr>
          <p:cNvPr id="28" name="Text 26"/>
          <p:cNvSpPr txBox="1"/>
          <p:nvPr/>
        </p:nvSpPr>
        <p:spPr>
          <a:xfrm>
            <a:off x="777240" y="5257800"/>
            <a:ext cx="10637215" cy="73152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Out of 100 people, how many already believe it? Lead with what most don't believe but can believe fast. Zigzag the expected and unexpected (the prince meets a dragon). Always pay off the loop.</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8 · STORY TYPES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Five stories that build trust</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8 · Storytelling that converts</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Origin</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Barista to Forbes cover. The journey is relatable, the destination isn't. Keep telling it, because new viewers are cold.</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Failure</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Vulnerability earns trust. Always attach the lesson so viewers skip your pain.</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Success</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Before and after, so people see a winner (Gary's TikTok: 300k → 3.5M in 3 months).</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Client success</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Proof you can replicate it. An agency's editors improved after one feedback tip.</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Industry contrarian</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Flip the accepted wisdom respectfully: "Never pitch your offer in organic."</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Proof converts</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Give a taste of the result they'd buy: AG1's transformation, an agency's delivered outcomes.</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8 · PURPOSE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Educational content = scaling trust</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8 · Storytelling that converts</a:t>
            </a:r>
            <a:endParaRPr lang="en-US" sz="1000" dirty="0"/>
          </a:p>
        </p:txBody>
      </p:sp>
      <p:sp>
        <p:nvSpPr>
          <p:cNvPr id="5" name="Shape 3"/>
          <p:cNvSpPr/>
          <p:nvPr/>
        </p:nvSpPr>
        <p:spPr>
          <a:xfrm>
            <a:off x="1658082" y="2057400"/>
            <a:ext cx="8875532" cy="0"/>
          </a:xfrm>
          <a:prstGeom prst="line">
            <a:avLst/>
          </a:prstGeom>
          <a:noFill/>
          <a:ln w="25400">
            <a:solidFill>
              <a:srgbClr val="D9D9E3"/>
            </a:solidFill>
            <a:prstDash val="solid"/>
          </a:ln>
        </p:spPr>
      </p:sp>
      <p:sp>
        <p:nvSpPr>
          <p:cNvPr id="6" name="Shape 4"/>
          <p:cNvSpPr/>
          <p:nvPr/>
        </p:nvSpPr>
        <p:spPr>
          <a:xfrm>
            <a:off x="1338042" y="1737360"/>
            <a:ext cx="640080" cy="640080"/>
          </a:xfrm>
          <a:prstGeom prst="ellipse">
            <a:avLst/>
          </a:prstGeom>
          <a:solidFill>
            <a:srgbClr val="FF4D3D"/>
          </a:solidFill>
          <a:ln/>
        </p:spPr>
      </p:sp>
      <p:sp>
        <p:nvSpPr>
          <p:cNvPr id="7" name="Text 5"/>
          <p:cNvSpPr txBox="1"/>
          <p:nvPr/>
        </p:nvSpPr>
        <p:spPr>
          <a:xfrm>
            <a:off x="133804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Success stories</a:t>
            </a:r>
            <a:endParaRPr lang="en-US" sz="1500" dirty="0"/>
          </a:p>
        </p:txBody>
      </p:sp>
      <p:sp>
        <p:nvSpPr>
          <p:cNvPr id="9" name="Text 7"/>
          <p:cNvSpPr txBox="1"/>
          <p:nvPr/>
        </p:nvSpPr>
        <p:spPr>
          <a:xfrm>
            <a:off x="640080" y="3200400"/>
            <a:ext cx="2036003" cy="137160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You pair yourself with results.</a:t>
            </a:r>
            <a:endParaRPr lang="en-US" sz="1400" dirty="0"/>
          </a:p>
        </p:txBody>
      </p:sp>
      <p:sp>
        <p:nvSpPr>
          <p:cNvPr id="10" name="Shape 8"/>
          <p:cNvSpPr/>
          <p:nvPr/>
        </p:nvSpPr>
        <p:spPr>
          <a:xfrm>
            <a:off x="3556925" y="1737360"/>
            <a:ext cx="640080" cy="640080"/>
          </a:xfrm>
          <a:prstGeom prst="ellipse">
            <a:avLst/>
          </a:prstGeom>
          <a:solidFill>
            <a:srgbClr val="FF4D3D"/>
          </a:solidFill>
          <a:ln/>
        </p:spPr>
      </p:sp>
      <p:sp>
        <p:nvSpPr>
          <p:cNvPr id="11" name="Text 9"/>
          <p:cNvSpPr txBox="1"/>
          <p:nvPr/>
        </p:nvSpPr>
        <p:spPr>
          <a:xfrm>
            <a:off x="3556925"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2858963"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Trust</a:t>
            </a:r>
            <a:endParaRPr lang="en-US" sz="1500" dirty="0"/>
          </a:p>
        </p:txBody>
      </p:sp>
      <p:sp>
        <p:nvSpPr>
          <p:cNvPr id="13" name="Text 11"/>
          <p:cNvSpPr txBox="1"/>
          <p:nvPr/>
        </p:nvSpPr>
        <p:spPr>
          <a:xfrm>
            <a:off x="2858963" y="3200400"/>
            <a:ext cx="2036003" cy="137160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They believe what you say.</a:t>
            </a:r>
            <a:endParaRPr lang="en-US" sz="1400" dirty="0"/>
          </a:p>
        </p:txBody>
      </p:sp>
      <p:sp>
        <p:nvSpPr>
          <p:cNvPr id="14" name="Shape 12"/>
          <p:cNvSpPr/>
          <p:nvPr/>
        </p:nvSpPr>
        <p:spPr>
          <a:xfrm>
            <a:off x="5775808" y="1737360"/>
            <a:ext cx="640080" cy="640080"/>
          </a:xfrm>
          <a:prstGeom prst="ellipse">
            <a:avLst/>
          </a:prstGeom>
          <a:solidFill>
            <a:srgbClr val="FF4D3D"/>
          </a:solidFill>
          <a:ln/>
        </p:spPr>
      </p:sp>
      <p:sp>
        <p:nvSpPr>
          <p:cNvPr id="15" name="Text 13"/>
          <p:cNvSpPr txBox="1"/>
          <p:nvPr/>
        </p:nvSpPr>
        <p:spPr>
          <a:xfrm>
            <a:off x="5775808"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5077846"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Action</a:t>
            </a:r>
            <a:endParaRPr lang="en-US" sz="1500" dirty="0"/>
          </a:p>
        </p:txBody>
      </p:sp>
      <p:sp>
        <p:nvSpPr>
          <p:cNvPr id="17" name="Text 15"/>
          <p:cNvSpPr txBox="1"/>
          <p:nvPr/>
        </p:nvSpPr>
        <p:spPr>
          <a:xfrm>
            <a:off x="5077846" y="3200400"/>
            <a:ext cx="2036003" cy="137160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They apply your lessons.</a:t>
            </a:r>
            <a:endParaRPr lang="en-US" sz="1400" dirty="0"/>
          </a:p>
        </p:txBody>
      </p:sp>
      <p:sp>
        <p:nvSpPr>
          <p:cNvPr id="18" name="Shape 16"/>
          <p:cNvSpPr/>
          <p:nvPr/>
        </p:nvSpPr>
        <p:spPr>
          <a:xfrm>
            <a:off x="7994691" y="1737360"/>
            <a:ext cx="640080" cy="640080"/>
          </a:xfrm>
          <a:prstGeom prst="ellipse">
            <a:avLst/>
          </a:prstGeom>
          <a:solidFill>
            <a:srgbClr val="FF4D3D"/>
          </a:solidFill>
          <a:ln/>
        </p:spPr>
      </p:sp>
      <p:sp>
        <p:nvSpPr>
          <p:cNvPr id="19" name="Text 17"/>
          <p:cNvSpPr txBox="1"/>
          <p:nvPr/>
        </p:nvSpPr>
        <p:spPr>
          <a:xfrm>
            <a:off x="7994691"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7296729"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Results</a:t>
            </a:r>
            <a:endParaRPr lang="en-US" sz="1500" dirty="0"/>
          </a:p>
        </p:txBody>
      </p:sp>
      <p:sp>
        <p:nvSpPr>
          <p:cNvPr id="21" name="Text 19"/>
          <p:cNvSpPr txBox="1"/>
          <p:nvPr/>
        </p:nvSpPr>
        <p:spPr>
          <a:xfrm>
            <a:off x="7296729" y="3200400"/>
            <a:ext cx="2036003" cy="137160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They get their own wins.</a:t>
            </a:r>
            <a:endParaRPr lang="en-US" sz="1400" dirty="0"/>
          </a:p>
        </p:txBody>
      </p:sp>
      <p:sp>
        <p:nvSpPr>
          <p:cNvPr id="22" name="Shape 20"/>
          <p:cNvSpPr/>
          <p:nvPr/>
        </p:nvSpPr>
        <p:spPr>
          <a:xfrm>
            <a:off x="10213574" y="1737360"/>
            <a:ext cx="640080" cy="640080"/>
          </a:xfrm>
          <a:prstGeom prst="ellipse">
            <a:avLst/>
          </a:prstGeom>
          <a:solidFill>
            <a:srgbClr val="FFC93C"/>
          </a:solidFill>
          <a:ln/>
        </p:spPr>
      </p:sp>
      <p:sp>
        <p:nvSpPr>
          <p:cNvPr id="23" name="Text 21"/>
          <p:cNvSpPr txBox="1"/>
          <p:nvPr/>
        </p:nvSpPr>
        <p:spPr>
          <a:xfrm>
            <a:off x="10213574"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5</a:t>
            </a:r>
            <a:endParaRPr lang="en-US" sz="1600" dirty="0"/>
          </a:p>
        </p:txBody>
      </p:sp>
      <p:sp>
        <p:nvSpPr>
          <p:cNvPr id="24" name="Text 22"/>
          <p:cNvSpPr txBox="1"/>
          <p:nvPr/>
        </p:nvSpPr>
        <p:spPr>
          <a:xfrm>
            <a:off x="9515612"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Their success</a:t>
            </a:r>
            <a:endParaRPr lang="en-US" sz="1500" dirty="0"/>
          </a:p>
        </p:txBody>
      </p:sp>
      <p:sp>
        <p:nvSpPr>
          <p:cNvPr id="25" name="Text 23"/>
          <p:cNvSpPr txBox="1"/>
          <p:nvPr/>
        </p:nvSpPr>
        <p:spPr>
          <a:xfrm>
            <a:off x="9515612" y="3200400"/>
            <a:ext cx="2036003" cy="137160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You're associated with THEIR success, so your offer feels cheap.</a:t>
            </a:r>
            <a:endParaRPr lang="en-US" sz="1400" dirty="0"/>
          </a:p>
        </p:txBody>
      </p:sp>
      <p:sp>
        <p:nvSpPr>
          <p:cNvPr id="26" name="Shape 24"/>
          <p:cNvSpPr/>
          <p:nvPr/>
        </p:nvSpPr>
        <p:spPr>
          <a:xfrm>
            <a:off x="548640" y="4663440"/>
            <a:ext cx="11094415" cy="1234440"/>
          </a:xfrm>
          <a:prstGeom prst="roundRect">
            <a:avLst>
              <a:gd name="adj" fmla="val 7407"/>
            </a:avLst>
          </a:prstGeom>
          <a:solidFill>
            <a:srgbClr val="FFF4D6"/>
          </a:solidFill>
          <a:ln/>
        </p:spPr>
      </p:sp>
      <p:sp>
        <p:nvSpPr>
          <p:cNvPr id="27" name="Text 25"/>
          <p:cNvSpPr txBox="1"/>
          <p:nvPr/>
        </p:nvSpPr>
        <p:spPr>
          <a:xfrm>
            <a:off x="777240" y="482803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"SHUT UP AND TAKE MY CARD"</a:t>
            </a:r>
            <a:endParaRPr lang="en-US" sz="1100" dirty="0"/>
          </a:p>
        </p:txBody>
      </p:sp>
      <p:sp>
        <p:nvSpPr>
          <p:cNvPr id="28" name="Text 26"/>
          <p:cNvSpPr txBox="1"/>
          <p:nvPr/>
        </p:nvSpPr>
        <p:spPr>
          <a:xfrm>
            <a:off x="777240" y="5120640"/>
            <a:ext cx="10637215" cy="6858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Seminar buyers told sales reps exactly that. The free content had already returned 50–100x, so a $1,000 ticket felt like a steal.</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09</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9</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Community: viewers into members</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Talking at people builds an audience. Talking with them builds a community.</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9 · COMMUNITY</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Community-first, not creator-first</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9 · Community: viewers into members</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Co-create</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Post two versions of a verse, chapter or title and let fans vote. They become missionaries.</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Social listening</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Questions in DMs and comments beat "what should I make?" polls. Answer repeats fast, like Gary, and people say you read their mind.</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Refine, don't cave</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Change how you present ideas, not what you believe. Ignore the praise and you can ignore the hate.</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Audience as hero</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Share community wins and case studies. Prompt UGC and stitch it. Even a 300-follower fan spreads you.</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Reply to comments</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If 3 people get no reply, nobody else will comment. Ideally you reply. Otherwise use a labeled team account.</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Inside language</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Shared jokes and lingo ("bulking season," Sportster jokes). Prompt debates to create comment cyclones.</a:t>
            </a:r>
            <a:endParaRPr lang="en-US" sz="14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10</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10</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Monetization: trust before transactions</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Turn rented attention into owned relationships and revenue, without burning trust.</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10 · MONETIZE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Earn it first, then pick a model</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10 · Monetization: trust before transactions</a:t>
            </a:r>
            <a:endParaRPr lang="en-US" sz="1000" dirty="0"/>
          </a:p>
        </p:txBody>
      </p:sp>
      <p:sp>
        <p:nvSpPr>
          <p:cNvPr id="5" name="Shape 3"/>
          <p:cNvSpPr/>
          <p:nvPr/>
        </p:nvSpPr>
        <p:spPr>
          <a:xfrm>
            <a:off x="548640" y="1645920"/>
            <a:ext cx="3515258" cy="1737360"/>
          </a:xfrm>
          <a:prstGeom prst="roundRect">
            <a:avLst>
              <a:gd name="adj" fmla="val 6316"/>
            </a:avLst>
          </a:prstGeom>
          <a:solidFill>
            <a:srgbClr val="F4F4F8"/>
          </a:solidFill>
          <a:ln/>
        </p:spPr>
      </p:sp>
      <p:sp>
        <p:nvSpPr>
          <p:cNvPr id="6" name="Shape 4"/>
          <p:cNvSpPr/>
          <p:nvPr/>
        </p:nvSpPr>
        <p:spPr>
          <a:xfrm>
            <a:off x="777240" y="1874520"/>
            <a:ext cx="411480" cy="411480"/>
          </a:xfrm>
          <a:prstGeom prst="ellipse">
            <a:avLst/>
          </a:prstGeom>
          <a:solidFill>
            <a:srgbClr val="FF4D3D"/>
          </a:solidFill>
          <a:ln/>
        </p:spPr>
      </p:sp>
      <p:sp>
        <p:nvSpPr>
          <p:cNvPr id="7" name="Text 5"/>
          <p:cNvSpPr txBox="1"/>
          <p:nvPr/>
        </p:nvSpPr>
        <p:spPr>
          <a:xfrm>
            <a:off x="777240"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Massive value first</a:t>
            </a:r>
            <a:endParaRPr lang="en-US" sz="1600" dirty="0"/>
          </a:p>
        </p:txBody>
      </p:sp>
      <p:sp>
        <p:nvSpPr>
          <p:cNvPr id="9" name="Text 7"/>
          <p:cNvSpPr txBox="1"/>
          <p:nvPr/>
        </p:nvSpPr>
        <p:spPr>
          <a:xfrm>
            <a:off x="777240" y="2468880"/>
            <a:ext cx="3058058" cy="77724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They should feel like winners before spending a dollar.</a:t>
            </a:r>
            <a:endParaRPr lang="en-US" sz="1400" dirty="0"/>
          </a:p>
        </p:txBody>
      </p:sp>
      <p:sp>
        <p:nvSpPr>
          <p:cNvPr id="10" name="Shape 8"/>
          <p:cNvSpPr/>
          <p:nvPr/>
        </p:nvSpPr>
        <p:spPr>
          <a:xfrm>
            <a:off x="4338218" y="1645920"/>
            <a:ext cx="3515258" cy="1737360"/>
          </a:xfrm>
          <a:prstGeom prst="roundRect">
            <a:avLst>
              <a:gd name="adj" fmla="val 6316"/>
            </a:avLst>
          </a:prstGeom>
          <a:solidFill>
            <a:srgbClr val="F4F4F8"/>
          </a:solidFill>
          <a:ln/>
        </p:spPr>
      </p:sp>
      <p:sp>
        <p:nvSpPr>
          <p:cNvPr id="11" name="Shape 9"/>
          <p:cNvSpPr/>
          <p:nvPr/>
        </p:nvSpPr>
        <p:spPr>
          <a:xfrm>
            <a:off x="4566818" y="1874520"/>
            <a:ext cx="411480" cy="411480"/>
          </a:xfrm>
          <a:prstGeom prst="ellipse">
            <a:avLst/>
          </a:prstGeom>
          <a:solidFill>
            <a:srgbClr val="FF4D3D"/>
          </a:solidFill>
          <a:ln/>
        </p:spPr>
      </p:sp>
      <p:sp>
        <p:nvSpPr>
          <p:cNvPr id="12" name="Text 10"/>
          <p:cNvSpPr txBox="1"/>
          <p:nvPr/>
        </p:nvSpPr>
        <p:spPr>
          <a:xfrm>
            <a:off x="4566818"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Credibility</a:t>
            </a:r>
            <a:endParaRPr lang="en-US" sz="1600" dirty="0"/>
          </a:p>
        </p:txBody>
      </p:sp>
      <p:sp>
        <p:nvSpPr>
          <p:cNvPr id="14" name="Text 12"/>
          <p:cNvSpPr txBox="1"/>
          <p:nvPr/>
        </p:nvSpPr>
        <p:spPr>
          <a:xfrm>
            <a:off x="4566818" y="2468880"/>
            <a:ext cx="3058058" cy="77724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Become the go-to authority in your category.</a:t>
            </a:r>
            <a:endParaRPr lang="en-US" sz="1400" dirty="0"/>
          </a:p>
        </p:txBody>
      </p:sp>
      <p:sp>
        <p:nvSpPr>
          <p:cNvPr id="15" name="Shape 13"/>
          <p:cNvSpPr/>
          <p:nvPr/>
        </p:nvSpPr>
        <p:spPr>
          <a:xfrm>
            <a:off x="8127797" y="1645920"/>
            <a:ext cx="3515258" cy="1737360"/>
          </a:xfrm>
          <a:prstGeom prst="roundRect">
            <a:avLst>
              <a:gd name="adj" fmla="val 6316"/>
            </a:avLst>
          </a:prstGeom>
          <a:solidFill>
            <a:srgbClr val="F4F4F8"/>
          </a:solidFill>
          <a:ln/>
        </p:spPr>
      </p:sp>
      <p:sp>
        <p:nvSpPr>
          <p:cNvPr id="16" name="Shape 14"/>
          <p:cNvSpPr/>
          <p:nvPr/>
        </p:nvSpPr>
        <p:spPr>
          <a:xfrm>
            <a:off x="8356397" y="1874520"/>
            <a:ext cx="411480" cy="411480"/>
          </a:xfrm>
          <a:prstGeom prst="ellipse">
            <a:avLst/>
          </a:prstGeom>
          <a:solidFill>
            <a:srgbClr val="FF4D3D"/>
          </a:solidFill>
          <a:ln/>
        </p:spPr>
      </p:sp>
      <p:sp>
        <p:nvSpPr>
          <p:cNvPr id="17" name="Text 15"/>
          <p:cNvSpPr txBox="1"/>
          <p:nvPr/>
        </p:nvSpPr>
        <p:spPr>
          <a:xfrm>
            <a:off x="8356397" y="1874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847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Relationship</a:t>
            </a:r>
            <a:endParaRPr lang="en-US" sz="1600" dirty="0"/>
          </a:p>
        </p:txBody>
      </p:sp>
      <p:sp>
        <p:nvSpPr>
          <p:cNvPr id="19" name="Text 17"/>
          <p:cNvSpPr txBox="1"/>
          <p:nvPr/>
        </p:nvSpPr>
        <p:spPr>
          <a:xfrm>
            <a:off x="8356397" y="2468880"/>
            <a:ext cx="3058058" cy="77724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When they feel they know you, selling takes no pushing, scarcity or urgency.</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2377440"/>
                <a:gridCol w="4480560"/>
                <a:gridCol w="4233672"/>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it looks like</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Note</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Services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Agency, consulting, coaching</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High touch, for when people already ask your advice</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Products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Ebooks, templates, courses; books, apparel</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Start digital: very high margin</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Affiliates / sponsors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Partnerships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Only promote products you actually use</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Community</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Memberships, masterminds, paid newsletters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Recurring revenue and a home for superfans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4141F"/>
                          </a:solidFill>
                          <a:latin typeface="Calibri" pitchFamily="34" charset="0"/>
                          <a:ea typeface="Calibri" pitchFamily="34" charset="-122"/>
                          <a:cs typeface="Calibri" pitchFamily="34" charset="-120"/>
                        </a:rPr>
                        <a:t>Ads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AdSense, podcast or newsletter ads</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300" dirty="0">
                          <a:solidFill>
                            <a:srgbClr val="14141F"/>
                          </a:solidFill>
                          <a:latin typeface="Calibri" pitchFamily="34" charset="0"/>
                          <a:ea typeface="Calibri" pitchFamily="34" charset="-122"/>
                          <a:cs typeface="Calibri" pitchFamily="34" charset="-120"/>
                        </a:rPr>
                        <a:t>Pair with another model</a:t>
                      </a:r>
                      <a:endParaRPr lang="en-US" sz="13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10 · OFFERS</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Share the knowledge, sell the execution</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10 · Monetization: trust before transactions</a:t>
            </a:r>
            <a:endParaRPr lang="en-US" sz="1000" dirty="0"/>
          </a:p>
        </p:txBody>
      </p:sp>
      <p:sp>
        <p:nvSpPr>
          <p:cNvPr id="5" name="Shape 3"/>
          <p:cNvSpPr/>
          <p:nvPr/>
        </p:nvSpPr>
        <p:spPr>
          <a:xfrm>
            <a:off x="1658082" y="2057400"/>
            <a:ext cx="8875532" cy="0"/>
          </a:xfrm>
          <a:prstGeom prst="line">
            <a:avLst/>
          </a:prstGeom>
          <a:noFill/>
          <a:ln w="25400">
            <a:solidFill>
              <a:srgbClr val="D9D9E3"/>
            </a:solidFill>
            <a:prstDash val="solid"/>
          </a:ln>
        </p:spPr>
      </p:sp>
      <p:sp>
        <p:nvSpPr>
          <p:cNvPr id="6" name="Shape 4"/>
          <p:cNvSpPr/>
          <p:nvPr/>
        </p:nvSpPr>
        <p:spPr>
          <a:xfrm>
            <a:off x="1338042" y="1737360"/>
            <a:ext cx="640080" cy="640080"/>
          </a:xfrm>
          <a:prstGeom prst="ellipse">
            <a:avLst/>
          </a:prstGeom>
          <a:solidFill>
            <a:srgbClr val="FF4D3D"/>
          </a:solidFill>
          <a:ln/>
        </p:spPr>
      </p:sp>
      <p:sp>
        <p:nvSpPr>
          <p:cNvPr id="7" name="Text 5"/>
          <p:cNvSpPr txBox="1"/>
          <p:nvPr/>
        </p:nvSpPr>
        <p:spPr>
          <a:xfrm>
            <a:off x="133804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Free content</a:t>
            </a:r>
            <a:endParaRPr lang="en-US" sz="1500" dirty="0"/>
          </a:p>
        </p:txBody>
      </p:sp>
      <p:sp>
        <p:nvSpPr>
          <p:cNvPr id="9" name="Text 7"/>
          <p:cNvSpPr txBox="1"/>
          <p:nvPr/>
        </p:nvSpPr>
        <p:spPr>
          <a:xfrm>
            <a:off x="640080"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Builds trust and awareness.</a:t>
            </a:r>
            <a:endParaRPr lang="en-US" sz="1400" dirty="0"/>
          </a:p>
        </p:txBody>
      </p:sp>
      <p:sp>
        <p:nvSpPr>
          <p:cNvPr id="10" name="Shape 8"/>
          <p:cNvSpPr/>
          <p:nvPr/>
        </p:nvSpPr>
        <p:spPr>
          <a:xfrm>
            <a:off x="3556925" y="1737360"/>
            <a:ext cx="640080" cy="640080"/>
          </a:xfrm>
          <a:prstGeom prst="ellipse">
            <a:avLst/>
          </a:prstGeom>
          <a:solidFill>
            <a:srgbClr val="FF4D3D"/>
          </a:solidFill>
          <a:ln/>
        </p:spPr>
      </p:sp>
      <p:sp>
        <p:nvSpPr>
          <p:cNvPr id="11" name="Text 9"/>
          <p:cNvSpPr txBox="1"/>
          <p:nvPr/>
        </p:nvSpPr>
        <p:spPr>
          <a:xfrm>
            <a:off x="3556925"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2858963"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Lead magnet</a:t>
            </a:r>
            <a:endParaRPr lang="en-US" sz="1500" dirty="0"/>
          </a:p>
        </p:txBody>
      </p:sp>
      <p:sp>
        <p:nvSpPr>
          <p:cNvPr id="13" name="Text 11"/>
          <p:cNvSpPr txBox="1"/>
          <p:nvPr/>
        </p:nvSpPr>
        <p:spPr>
          <a:xfrm>
            <a:off x="2858963"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Mini-course, checklist, playbook. Captures email.</a:t>
            </a:r>
            <a:endParaRPr lang="en-US" sz="1400" dirty="0"/>
          </a:p>
        </p:txBody>
      </p:sp>
      <p:sp>
        <p:nvSpPr>
          <p:cNvPr id="14" name="Shape 12"/>
          <p:cNvSpPr/>
          <p:nvPr/>
        </p:nvSpPr>
        <p:spPr>
          <a:xfrm>
            <a:off x="5775808" y="1737360"/>
            <a:ext cx="640080" cy="640080"/>
          </a:xfrm>
          <a:prstGeom prst="ellipse">
            <a:avLst/>
          </a:prstGeom>
          <a:solidFill>
            <a:srgbClr val="FF4D3D"/>
          </a:solidFill>
          <a:ln/>
        </p:spPr>
      </p:sp>
      <p:sp>
        <p:nvSpPr>
          <p:cNvPr id="15" name="Text 13"/>
          <p:cNvSpPr txBox="1"/>
          <p:nvPr/>
        </p:nvSpPr>
        <p:spPr>
          <a:xfrm>
            <a:off x="5775808"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5077846"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$10–100</a:t>
            </a:r>
            <a:endParaRPr lang="en-US" sz="1500" dirty="0"/>
          </a:p>
        </p:txBody>
      </p:sp>
      <p:sp>
        <p:nvSpPr>
          <p:cNvPr id="17" name="Text 15"/>
          <p:cNvSpPr txBox="1"/>
          <p:nvPr/>
        </p:nvSpPr>
        <p:spPr>
          <a:xfrm>
            <a:off x="5077846"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Ebook, template. Removes the barrier to entry.</a:t>
            </a:r>
            <a:endParaRPr lang="en-US" sz="1400" dirty="0"/>
          </a:p>
        </p:txBody>
      </p:sp>
      <p:sp>
        <p:nvSpPr>
          <p:cNvPr id="18" name="Shape 16"/>
          <p:cNvSpPr/>
          <p:nvPr/>
        </p:nvSpPr>
        <p:spPr>
          <a:xfrm>
            <a:off x="7994691" y="1737360"/>
            <a:ext cx="640080" cy="640080"/>
          </a:xfrm>
          <a:prstGeom prst="ellipse">
            <a:avLst/>
          </a:prstGeom>
          <a:solidFill>
            <a:srgbClr val="FF4D3D"/>
          </a:solidFill>
          <a:ln/>
        </p:spPr>
      </p:sp>
      <p:sp>
        <p:nvSpPr>
          <p:cNvPr id="19" name="Text 17"/>
          <p:cNvSpPr txBox="1"/>
          <p:nvPr/>
        </p:nvSpPr>
        <p:spPr>
          <a:xfrm>
            <a:off x="7994691"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7296729"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$500–5k</a:t>
            </a:r>
            <a:endParaRPr lang="en-US" sz="1500" dirty="0"/>
          </a:p>
        </p:txBody>
      </p:sp>
      <p:sp>
        <p:nvSpPr>
          <p:cNvPr id="21" name="Text 19"/>
          <p:cNvSpPr txBox="1"/>
          <p:nvPr/>
        </p:nvSpPr>
        <p:spPr>
          <a:xfrm>
            <a:off x="7296729"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Group coaching, membership, deep course.</a:t>
            </a:r>
            <a:endParaRPr lang="en-US" sz="1400" dirty="0"/>
          </a:p>
        </p:txBody>
      </p:sp>
      <p:sp>
        <p:nvSpPr>
          <p:cNvPr id="22" name="Shape 20"/>
          <p:cNvSpPr/>
          <p:nvPr/>
        </p:nvSpPr>
        <p:spPr>
          <a:xfrm>
            <a:off x="10213574" y="1737360"/>
            <a:ext cx="640080" cy="640080"/>
          </a:xfrm>
          <a:prstGeom prst="ellipse">
            <a:avLst/>
          </a:prstGeom>
          <a:solidFill>
            <a:srgbClr val="FFC93C"/>
          </a:solidFill>
          <a:ln/>
        </p:spPr>
      </p:sp>
      <p:sp>
        <p:nvSpPr>
          <p:cNvPr id="23" name="Text 21"/>
          <p:cNvSpPr txBox="1"/>
          <p:nvPr/>
        </p:nvSpPr>
        <p:spPr>
          <a:xfrm>
            <a:off x="10213574"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5</a:t>
            </a:r>
            <a:endParaRPr lang="en-US" sz="1600" dirty="0"/>
          </a:p>
        </p:txBody>
      </p:sp>
      <p:sp>
        <p:nvSpPr>
          <p:cNvPr id="24" name="Text 22"/>
          <p:cNvSpPr txBox="1"/>
          <p:nvPr/>
        </p:nvSpPr>
        <p:spPr>
          <a:xfrm>
            <a:off x="9515612"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$10k+</a:t>
            </a:r>
            <a:endParaRPr lang="en-US" sz="1500" dirty="0"/>
          </a:p>
        </p:txBody>
      </p:sp>
      <p:sp>
        <p:nvSpPr>
          <p:cNvPr id="25" name="Text 23"/>
          <p:cNvSpPr txBox="1"/>
          <p:nvPr/>
        </p:nvSpPr>
        <p:spPr>
          <a:xfrm>
            <a:off x="9515612"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1:1 consulting, agency, done-for-you.</a:t>
            </a:r>
            <a:endParaRPr lang="en-US" sz="1400" dirty="0"/>
          </a:p>
        </p:txBody>
      </p:sp>
      <p:sp>
        <p:nvSpPr>
          <p:cNvPr id="26" name="Shape 24"/>
          <p:cNvSpPr/>
          <p:nvPr/>
        </p:nvSpPr>
        <p:spPr>
          <a:xfrm>
            <a:off x="548640" y="4754880"/>
            <a:ext cx="11094415" cy="1325880"/>
          </a:xfrm>
          <a:prstGeom prst="roundRect">
            <a:avLst>
              <a:gd name="adj" fmla="val 6897"/>
            </a:avLst>
          </a:prstGeom>
          <a:solidFill>
            <a:srgbClr val="FFF4D6"/>
          </a:solidFill>
          <a:ln/>
        </p:spPr>
      </p:sp>
      <p:sp>
        <p:nvSpPr>
          <p:cNvPr id="27" name="Text 25"/>
          <p:cNvSpPr txBox="1"/>
          <p:nvPr/>
        </p:nvSpPr>
        <p:spPr>
          <a:xfrm>
            <a:off x="777240" y="491947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THE HARLEY EXHAUST STORY</a:t>
            </a:r>
            <a:endParaRPr lang="en-US" sz="1100" dirty="0"/>
          </a:p>
        </p:txBody>
      </p:sp>
      <p:sp>
        <p:nvSpPr>
          <p:cNvPr id="28" name="Text 26"/>
          <p:cNvSpPr txBox="1"/>
          <p:nvPr/>
        </p:nvSpPr>
        <p:spPr>
          <a:xfrm>
            <a:off x="777240" y="5212080"/>
            <a:ext cx="10637215" cy="77724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Caleb watched ~100 free videos on swapping his pipe, realized it was too complex to risk, and paid the dealership that made them. Give the framework away and sell the doing. Start with ONE offer.</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10 · SELLING WITHOUT SELLING</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Let content do the selling</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10 · Monetization: trust before transactions</a:t>
            </a:r>
            <a:endParaRPr lang="en-US" sz="1000" dirty="0"/>
          </a:p>
        </p:txBody>
      </p:sp>
      <p:sp>
        <p:nvSpPr>
          <p:cNvPr id="5" name="Shape 3"/>
          <p:cNvSpPr/>
          <p:nvPr/>
        </p:nvSpPr>
        <p:spPr>
          <a:xfrm>
            <a:off x="548640" y="1554480"/>
            <a:ext cx="541004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Lead magnets</a:t>
            </a:r>
            <a:endParaRPr lang="en-US" sz="1700" dirty="0"/>
          </a:p>
        </p:txBody>
      </p:sp>
      <p:sp>
        <p:nvSpPr>
          <p:cNvPr id="9" name="Text 7"/>
          <p:cNvSpPr txBox="1"/>
          <p:nvPr/>
        </p:nvSpPr>
        <p:spPr>
          <a:xfrm>
            <a:off x="777240"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Doc, 3–5 day email series, free community, waitlist, form, irregular newsletter. Email opens ~60%, and it's the last algorithm-free channel.</a:t>
            </a:r>
            <a:endParaRPr lang="en-US" sz="1500" dirty="0"/>
          </a:p>
        </p:txBody>
      </p:sp>
      <p:sp>
        <p:nvSpPr>
          <p:cNvPr id="10" name="Shape 8"/>
          <p:cNvSpPr/>
          <p:nvPr/>
        </p:nvSpPr>
        <p:spPr>
          <a:xfrm>
            <a:off x="6233008" y="1554480"/>
            <a:ext cx="5410048" cy="2217420"/>
          </a:xfrm>
          <a:prstGeom prst="roundRect">
            <a:avLst>
              <a:gd name="adj" fmla="val 4948"/>
            </a:avLst>
          </a:prstGeom>
          <a:solidFill>
            <a:srgbClr val="F4F4F8"/>
          </a:solidFill>
          <a:ln/>
        </p:spPr>
      </p:sp>
      <p:sp>
        <p:nvSpPr>
          <p:cNvPr id="11" name="Shape 9"/>
          <p:cNvSpPr/>
          <p:nvPr/>
        </p:nvSpPr>
        <p:spPr>
          <a:xfrm>
            <a:off x="6461608" y="1783080"/>
            <a:ext cx="411480" cy="411480"/>
          </a:xfrm>
          <a:prstGeom prst="ellipse">
            <a:avLst/>
          </a:prstGeom>
          <a:solidFill>
            <a:srgbClr val="FF4D3D"/>
          </a:solidFill>
          <a:ln/>
        </p:spPr>
      </p:sp>
      <p:sp>
        <p:nvSpPr>
          <p:cNvPr id="12" name="Text 10"/>
          <p:cNvSpPr txBox="1"/>
          <p:nvPr/>
        </p:nvSpPr>
        <p:spPr>
          <a:xfrm>
            <a:off x="646160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7010248"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Show, don't pitch</a:t>
            </a:r>
            <a:endParaRPr lang="en-US" sz="1700" dirty="0"/>
          </a:p>
        </p:txBody>
      </p:sp>
      <p:sp>
        <p:nvSpPr>
          <p:cNvPr id="14" name="Text 12"/>
          <p:cNvSpPr txBox="1"/>
          <p:nvPr/>
        </p:nvSpPr>
        <p:spPr>
          <a:xfrm>
            <a:off x="6461608"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"I took John from 0 → 10k followers in 4.5 months. The full system is in my ebook" beats "Buy my ebook."</a:t>
            </a:r>
            <a:endParaRPr lang="en-US" sz="1500" dirty="0"/>
          </a:p>
        </p:txBody>
      </p:sp>
      <p:sp>
        <p:nvSpPr>
          <p:cNvPr id="15" name="Shape 13"/>
          <p:cNvSpPr/>
          <p:nvPr/>
        </p:nvSpPr>
        <p:spPr>
          <a:xfrm>
            <a:off x="548640" y="4046220"/>
            <a:ext cx="5410048" cy="2217420"/>
          </a:xfrm>
          <a:prstGeom prst="roundRect">
            <a:avLst>
              <a:gd name="adj" fmla="val 4948"/>
            </a:avLst>
          </a:prstGeom>
          <a:solidFill>
            <a:srgbClr val="F4F4F8"/>
          </a:solidFill>
          <a:ln/>
        </p:spPr>
      </p:sp>
      <p:sp>
        <p:nvSpPr>
          <p:cNvPr id="16" name="Shape 14"/>
          <p:cNvSpPr/>
          <p:nvPr/>
        </p:nvSpPr>
        <p:spPr>
          <a:xfrm>
            <a:off x="777240" y="4274820"/>
            <a:ext cx="411480" cy="411480"/>
          </a:xfrm>
          <a:prstGeom prst="ellipse">
            <a:avLst/>
          </a:prstGeom>
          <a:solidFill>
            <a:srgbClr val="FF4D3D"/>
          </a:solidFill>
          <a:ln/>
        </p:spPr>
      </p:sp>
      <p:sp>
        <p:nvSpPr>
          <p:cNvPr id="17" name="Text 15"/>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1325880"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Native embeds</a:t>
            </a:r>
            <a:endParaRPr lang="en-US" sz="1700" dirty="0"/>
          </a:p>
        </p:txBody>
      </p:sp>
      <p:sp>
        <p:nvSpPr>
          <p:cNvPr id="19" name="Text 17"/>
          <p:cNvSpPr txBox="1"/>
          <p:nvPr/>
        </p:nvSpPr>
        <p:spPr>
          <a:xfrm>
            <a:off x="777240"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Don't break the hypnosis with "we'll be right back." Weave your product into the talk. Your embeds go early; sponsor ads go after the average view duration.</a:t>
            </a:r>
            <a:endParaRPr lang="en-US" sz="1500" dirty="0"/>
          </a:p>
        </p:txBody>
      </p:sp>
      <p:sp>
        <p:nvSpPr>
          <p:cNvPr id="20" name="Shape 18"/>
          <p:cNvSpPr/>
          <p:nvPr/>
        </p:nvSpPr>
        <p:spPr>
          <a:xfrm>
            <a:off x="6233008" y="4046220"/>
            <a:ext cx="5410048" cy="2217420"/>
          </a:xfrm>
          <a:prstGeom prst="roundRect">
            <a:avLst>
              <a:gd name="adj" fmla="val 4948"/>
            </a:avLst>
          </a:prstGeom>
          <a:solidFill>
            <a:srgbClr val="F4F4F8"/>
          </a:solidFill>
          <a:ln/>
        </p:spPr>
      </p:sp>
      <p:sp>
        <p:nvSpPr>
          <p:cNvPr id="21" name="Shape 19"/>
          <p:cNvSpPr/>
          <p:nvPr/>
        </p:nvSpPr>
        <p:spPr>
          <a:xfrm>
            <a:off x="6461608" y="4274820"/>
            <a:ext cx="411480" cy="411480"/>
          </a:xfrm>
          <a:prstGeom prst="ellipse">
            <a:avLst/>
          </a:prstGeom>
          <a:solidFill>
            <a:srgbClr val="FF4D3D"/>
          </a:solidFill>
          <a:ln/>
        </p:spPr>
      </p:sp>
      <p:sp>
        <p:nvSpPr>
          <p:cNvPr id="22" name="Text 20"/>
          <p:cNvSpPr txBox="1"/>
          <p:nvPr/>
        </p:nvSpPr>
        <p:spPr>
          <a:xfrm>
            <a:off x="646160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7010248"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The trust test</a:t>
            </a:r>
            <a:endParaRPr lang="en-US" sz="1700" dirty="0"/>
          </a:p>
        </p:txBody>
      </p:sp>
      <p:sp>
        <p:nvSpPr>
          <p:cNvPr id="24" name="Text 22"/>
          <p:cNvSpPr txBox="1"/>
          <p:nvPr/>
        </p:nvSpPr>
        <p:spPr>
          <a:xfrm>
            <a:off x="6461608"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Before any money move, ask: will this raise or lower trust? If lower, don't. Cash grabs feed you today and starve you tomorrow.</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11</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11</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Scale the content machine</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Repurpose intelligently, go platform-native, systematize and keep experimenting.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11 · REPURPOSING</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One pillar → 10+ native pieces</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11 · Scale the content machine</a:t>
            </a:r>
            <a:endParaRPr lang="en-US" sz="1000" dirty="0"/>
          </a:p>
        </p:txBody>
      </p:sp>
      <p:sp>
        <p:nvSpPr>
          <p:cNvPr id="5" name="Shape 3"/>
          <p:cNvSpPr/>
          <p:nvPr/>
        </p:nvSpPr>
        <p:spPr>
          <a:xfrm>
            <a:off x="1658082" y="2057400"/>
            <a:ext cx="8875532" cy="0"/>
          </a:xfrm>
          <a:prstGeom prst="line">
            <a:avLst/>
          </a:prstGeom>
          <a:noFill/>
          <a:ln w="25400">
            <a:solidFill>
              <a:srgbClr val="D9D9E3"/>
            </a:solidFill>
            <a:prstDash val="solid"/>
          </a:ln>
        </p:spPr>
      </p:sp>
      <p:sp>
        <p:nvSpPr>
          <p:cNvPr id="6" name="Shape 4"/>
          <p:cNvSpPr/>
          <p:nvPr/>
        </p:nvSpPr>
        <p:spPr>
          <a:xfrm>
            <a:off x="1338042" y="1737360"/>
            <a:ext cx="640080" cy="640080"/>
          </a:xfrm>
          <a:prstGeom prst="ellipse">
            <a:avLst/>
          </a:prstGeom>
          <a:solidFill>
            <a:srgbClr val="FF4D3D"/>
          </a:solidFill>
          <a:ln/>
        </p:spPr>
      </p:sp>
      <p:sp>
        <p:nvSpPr>
          <p:cNvPr id="7" name="Text 5"/>
          <p:cNvSpPr txBox="1"/>
          <p:nvPr/>
        </p:nvSpPr>
        <p:spPr>
          <a:xfrm>
            <a:off x="133804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Tweet pops</a:t>
            </a:r>
            <a:endParaRPr lang="en-US" sz="1500" dirty="0"/>
          </a:p>
        </p:txBody>
      </p:sp>
      <p:sp>
        <p:nvSpPr>
          <p:cNvPr id="9" name="Text 7"/>
          <p:cNvSpPr txBox="1"/>
          <p:nvPr/>
        </p:nvSpPr>
        <p:spPr>
          <a:xfrm>
            <a:off x="640080"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Social listening spots a winning line.</a:t>
            </a:r>
            <a:endParaRPr lang="en-US" sz="1400" dirty="0"/>
          </a:p>
        </p:txBody>
      </p:sp>
      <p:sp>
        <p:nvSpPr>
          <p:cNvPr id="10" name="Shape 8"/>
          <p:cNvSpPr/>
          <p:nvPr/>
        </p:nvSpPr>
        <p:spPr>
          <a:xfrm>
            <a:off x="3556925" y="1737360"/>
            <a:ext cx="640080" cy="640080"/>
          </a:xfrm>
          <a:prstGeom prst="ellipse">
            <a:avLst/>
          </a:prstGeom>
          <a:solidFill>
            <a:srgbClr val="FF4D3D"/>
          </a:solidFill>
          <a:ln/>
        </p:spPr>
      </p:sp>
      <p:sp>
        <p:nvSpPr>
          <p:cNvPr id="11" name="Text 9"/>
          <p:cNvSpPr txBox="1"/>
          <p:nvPr/>
        </p:nvSpPr>
        <p:spPr>
          <a:xfrm>
            <a:off x="3556925"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2858963"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Short</a:t>
            </a:r>
            <a:endParaRPr lang="en-US" sz="1500" dirty="0"/>
          </a:p>
        </p:txBody>
      </p:sp>
      <p:sp>
        <p:nvSpPr>
          <p:cNvPr id="13" name="Text 11"/>
          <p:cNvSpPr txBox="1"/>
          <p:nvPr/>
        </p:nvSpPr>
        <p:spPr>
          <a:xfrm>
            <a:off x="2858963"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The tweet becomes the hook, plus the backstory.</a:t>
            </a:r>
            <a:endParaRPr lang="en-US" sz="1400" dirty="0"/>
          </a:p>
        </p:txBody>
      </p:sp>
      <p:sp>
        <p:nvSpPr>
          <p:cNvPr id="14" name="Shape 12"/>
          <p:cNvSpPr/>
          <p:nvPr/>
        </p:nvSpPr>
        <p:spPr>
          <a:xfrm>
            <a:off x="5775808" y="1737360"/>
            <a:ext cx="640080" cy="640080"/>
          </a:xfrm>
          <a:prstGeom prst="ellipse">
            <a:avLst/>
          </a:prstGeom>
          <a:solidFill>
            <a:srgbClr val="FF4D3D"/>
          </a:solidFill>
          <a:ln/>
        </p:spPr>
      </p:sp>
      <p:sp>
        <p:nvSpPr>
          <p:cNvPr id="15" name="Text 13"/>
          <p:cNvSpPr txBox="1"/>
          <p:nvPr/>
        </p:nvSpPr>
        <p:spPr>
          <a:xfrm>
            <a:off x="5775808"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5077846"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Poster photo</a:t>
            </a:r>
            <a:endParaRPr lang="en-US" sz="1500" dirty="0"/>
          </a:p>
        </p:txBody>
      </p:sp>
      <p:sp>
        <p:nvSpPr>
          <p:cNvPr id="17" name="Text 15"/>
          <p:cNvSpPr txBox="1"/>
          <p:nvPr/>
        </p:nvSpPr>
        <p:spPr>
          <a:xfrm>
            <a:off x="5077846"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Print the quote and photograph it. Her top Instagram post.</a:t>
            </a:r>
            <a:endParaRPr lang="en-US" sz="1400" dirty="0"/>
          </a:p>
        </p:txBody>
      </p:sp>
      <p:sp>
        <p:nvSpPr>
          <p:cNvPr id="18" name="Shape 16"/>
          <p:cNvSpPr/>
          <p:nvPr/>
        </p:nvSpPr>
        <p:spPr>
          <a:xfrm>
            <a:off x="7994691" y="1737360"/>
            <a:ext cx="640080" cy="640080"/>
          </a:xfrm>
          <a:prstGeom prst="ellipse">
            <a:avLst/>
          </a:prstGeom>
          <a:solidFill>
            <a:srgbClr val="FF4D3D"/>
          </a:solidFill>
          <a:ln/>
        </p:spPr>
      </p:sp>
      <p:sp>
        <p:nvSpPr>
          <p:cNvPr id="19" name="Text 17"/>
          <p:cNvSpPr txBox="1"/>
          <p:nvPr/>
        </p:nvSpPr>
        <p:spPr>
          <a:xfrm>
            <a:off x="7994691"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7296729"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LinkedIn post</a:t>
            </a:r>
            <a:endParaRPr lang="en-US" sz="1500" dirty="0"/>
          </a:p>
        </p:txBody>
      </p:sp>
      <p:sp>
        <p:nvSpPr>
          <p:cNvPr id="21" name="Text 19"/>
          <p:cNvSpPr txBox="1"/>
          <p:nvPr/>
        </p:nvSpPr>
        <p:spPr>
          <a:xfrm>
            <a:off x="7296729"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Same hook, expanded. A top-3 post.</a:t>
            </a:r>
            <a:endParaRPr lang="en-US" sz="1400" dirty="0"/>
          </a:p>
        </p:txBody>
      </p:sp>
      <p:sp>
        <p:nvSpPr>
          <p:cNvPr id="22" name="Shape 20"/>
          <p:cNvSpPr/>
          <p:nvPr/>
        </p:nvSpPr>
        <p:spPr>
          <a:xfrm>
            <a:off x="10213574" y="1737360"/>
            <a:ext cx="640080" cy="640080"/>
          </a:xfrm>
          <a:prstGeom prst="ellipse">
            <a:avLst/>
          </a:prstGeom>
          <a:solidFill>
            <a:srgbClr val="FFC93C"/>
          </a:solidFill>
          <a:ln/>
        </p:spPr>
      </p:sp>
      <p:sp>
        <p:nvSpPr>
          <p:cNvPr id="23" name="Text 21"/>
          <p:cNvSpPr txBox="1"/>
          <p:nvPr/>
        </p:nvSpPr>
        <p:spPr>
          <a:xfrm>
            <a:off x="10213574"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5</a:t>
            </a:r>
            <a:endParaRPr lang="en-US" sz="1600" dirty="0"/>
          </a:p>
        </p:txBody>
      </p:sp>
      <p:sp>
        <p:nvSpPr>
          <p:cNvPr id="24" name="Text 22"/>
          <p:cNvSpPr txBox="1"/>
          <p:nvPr/>
        </p:nvSpPr>
        <p:spPr>
          <a:xfrm>
            <a:off x="9515612" y="2560320"/>
            <a:ext cx="2036003"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YouTube video</a:t>
            </a:r>
            <a:endParaRPr lang="en-US" sz="1500" dirty="0"/>
          </a:p>
        </p:txBody>
      </p:sp>
      <p:sp>
        <p:nvSpPr>
          <p:cNvPr id="25" name="Text 23"/>
          <p:cNvSpPr txBox="1"/>
          <p:nvPr/>
        </p:nvSpPr>
        <p:spPr>
          <a:xfrm>
            <a:off x="9515612" y="3200400"/>
            <a:ext cx="2036003" cy="12801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25–30 minutes on the idea. In her top 10.</a:t>
            </a:r>
            <a:endParaRPr lang="en-US" sz="1400" dirty="0"/>
          </a:p>
        </p:txBody>
      </p:sp>
      <p:sp>
        <p:nvSpPr>
          <p:cNvPr id="26" name="Text 24"/>
          <p:cNvSpPr txBox="1"/>
          <p:nvPr/>
        </p:nvSpPr>
        <p:spPr>
          <a:xfrm>
            <a:off x="548640" y="4572000"/>
            <a:ext cx="11094415" cy="1691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Waterfall (Gary Vee): shorts, quotes, LinkedIn, Facebook, captions and carousels from one video.</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Carousels: hook on slide 1 AND slide 2 (Instagram re-serves slide 2). Listicles work best.</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The "Sarah" rule: same person at brunch, cocktails and a board meeting. Same message, native to each platform.</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11 · TEAM WORKFLOW</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Platform ownership: the 85/15 system</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11 · Scale the content machine</a:t>
            </a:r>
            <a:endParaRPr lang="en-US" sz="1000" dirty="0"/>
          </a:p>
        </p:txBody>
      </p:sp>
      <p:sp>
        <p:nvSpPr>
          <p:cNvPr id="5" name="Shape 3"/>
          <p:cNvSpPr/>
          <p:nvPr/>
        </p:nvSpPr>
        <p:spPr>
          <a:xfrm>
            <a:off x="548640" y="1554480"/>
            <a:ext cx="541004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Assign by strength</a:t>
            </a:r>
            <a:endParaRPr lang="en-US" sz="1700" dirty="0"/>
          </a:p>
        </p:txBody>
      </p:sp>
      <p:sp>
        <p:nvSpPr>
          <p:cNvPr id="9" name="Text 7"/>
          <p:cNvSpPr txBox="1"/>
          <p:nvPr/>
        </p:nvSpPr>
        <p:spPr>
          <a:xfrm>
            <a:off x="777240"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Best editor gets platforms #1 and #4, the next gets #2 and #5, and so on. Each spends 85% on their primary and 15% experimenting on their secondary.</a:t>
            </a:r>
            <a:endParaRPr lang="en-US" sz="1500" dirty="0"/>
          </a:p>
        </p:txBody>
      </p:sp>
      <p:sp>
        <p:nvSpPr>
          <p:cNvPr id="10" name="Shape 8"/>
          <p:cNvSpPr/>
          <p:nvPr/>
        </p:nvSpPr>
        <p:spPr>
          <a:xfrm>
            <a:off x="6233008" y="1554480"/>
            <a:ext cx="5410048" cy="2217420"/>
          </a:xfrm>
          <a:prstGeom prst="roundRect">
            <a:avLst>
              <a:gd name="adj" fmla="val 4948"/>
            </a:avLst>
          </a:prstGeom>
          <a:solidFill>
            <a:srgbClr val="F4F4F8"/>
          </a:solidFill>
          <a:ln/>
        </p:spPr>
      </p:sp>
      <p:sp>
        <p:nvSpPr>
          <p:cNvPr id="11" name="Shape 9"/>
          <p:cNvSpPr/>
          <p:nvPr/>
        </p:nvSpPr>
        <p:spPr>
          <a:xfrm>
            <a:off x="6461608" y="1783080"/>
            <a:ext cx="411480" cy="411480"/>
          </a:xfrm>
          <a:prstGeom prst="ellipse">
            <a:avLst/>
          </a:prstGeom>
          <a:solidFill>
            <a:srgbClr val="FF4D3D"/>
          </a:solidFill>
          <a:ln/>
        </p:spPr>
      </p:sp>
      <p:sp>
        <p:nvSpPr>
          <p:cNvPr id="12" name="Text 10"/>
          <p:cNvSpPr txBox="1"/>
          <p:nvPr/>
        </p:nvSpPr>
        <p:spPr>
          <a:xfrm>
            <a:off x="646160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7010248"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Why it works</a:t>
            </a:r>
            <a:endParaRPr lang="en-US" sz="1700" dirty="0"/>
          </a:p>
        </p:txBody>
      </p:sp>
      <p:sp>
        <p:nvSpPr>
          <p:cNvPr id="14" name="Text 12"/>
          <p:cNvSpPr txBox="1"/>
          <p:nvPr/>
        </p:nvSpPr>
        <p:spPr>
          <a:xfrm>
            <a:off x="6461608"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Focused, native content. Ownership of their own data. Fans follow you everywhere. Editors grow into strategists. A 1.5x lift at the top.</a:t>
            </a:r>
            <a:endParaRPr lang="en-US" sz="1500" dirty="0"/>
          </a:p>
        </p:txBody>
      </p:sp>
      <p:sp>
        <p:nvSpPr>
          <p:cNvPr id="15" name="Shape 13"/>
          <p:cNvSpPr/>
          <p:nvPr/>
        </p:nvSpPr>
        <p:spPr>
          <a:xfrm>
            <a:off x="548640" y="4046220"/>
            <a:ext cx="5410048" cy="2217420"/>
          </a:xfrm>
          <a:prstGeom prst="roundRect">
            <a:avLst>
              <a:gd name="adj" fmla="val 4948"/>
            </a:avLst>
          </a:prstGeom>
          <a:solidFill>
            <a:srgbClr val="F4F4F8"/>
          </a:solidFill>
          <a:ln/>
        </p:spPr>
      </p:sp>
      <p:sp>
        <p:nvSpPr>
          <p:cNvPr id="16" name="Shape 14"/>
          <p:cNvSpPr/>
          <p:nvPr/>
        </p:nvSpPr>
        <p:spPr>
          <a:xfrm>
            <a:off x="777240" y="4274820"/>
            <a:ext cx="411480" cy="411480"/>
          </a:xfrm>
          <a:prstGeom prst="ellipse">
            <a:avLst/>
          </a:prstGeom>
          <a:solidFill>
            <a:srgbClr val="FF4D3D"/>
          </a:solidFill>
          <a:ln/>
        </p:spPr>
      </p:sp>
      <p:sp>
        <p:nvSpPr>
          <p:cNvPr id="17" name="Text 15"/>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1325880"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Match people to platforms</a:t>
            </a:r>
            <a:endParaRPr lang="en-US" sz="1700" dirty="0"/>
          </a:p>
        </p:txBody>
      </p:sp>
      <p:sp>
        <p:nvSpPr>
          <p:cNvPr id="19" name="Text 17"/>
          <p:cNvSpPr txBox="1"/>
          <p:nvPr/>
        </p:nvSpPr>
        <p:spPr>
          <a:xfrm>
            <a:off x="777240"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TikTok: fluent in trends. LinkedIn: knows your subject. YouTube: lives on YouTube. There's no generic "social media manager."</a:t>
            </a:r>
            <a:endParaRPr lang="en-US" sz="1500" dirty="0"/>
          </a:p>
        </p:txBody>
      </p:sp>
      <p:sp>
        <p:nvSpPr>
          <p:cNvPr id="20" name="Shape 18"/>
          <p:cNvSpPr/>
          <p:nvPr/>
        </p:nvSpPr>
        <p:spPr>
          <a:xfrm>
            <a:off x="6233008" y="4046220"/>
            <a:ext cx="5410048" cy="2217420"/>
          </a:xfrm>
          <a:prstGeom prst="roundRect">
            <a:avLst>
              <a:gd name="adj" fmla="val 4948"/>
            </a:avLst>
          </a:prstGeom>
          <a:solidFill>
            <a:srgbClr val="F4F4F8"/>
          </a:solidFill>
          <a:ln/>
        </p:spPr>
      </p:sp>
      <p:sp>
        <p:nvSpPr>
          <p:cNvPr id="21" name="Shape 19"/>
          <p:cNvSpPr/>
          <p:nvPr/>
        </p:nvSpPr>
        <p:spPr>
          <a:xfrm>
            <a:off x="6461608" y="4274820"/>
            <a:ext cx="411480" cy="411480"/>
          </a:xfrm>
          <a:prstGeom prst="ellipse">
            <a:avLst/>
          </a:prstGeom>
          <a:solidFill>
            <a:srgbClr val="FF4D3D"/>
          </a:solidFill>
          <a:ln/>
        </p:spPr>
      </p:sp>
      <p:sp>
        <p:nvSpPr>
          <p:cNvPr id="22" name="Text 20"/>
          <p:cNvSpPr txBox="1"/>
          <p:nvPr/>
        </p:nvSpPr>
        <p:spPr>
          <a:xfrm>
            <a:off x="646160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7010248"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Study first</a:t>
            </a:r>
            <a:endParaRPr lang="en-US" sz="1700" dirty="0"/>
          </a:p>
        </p:txBody>
      </p:sp>
      <p:sp>
        <p:nvSpPr>
          <p:cNvPr id="24" name="Text 22"/>
          <p:cNvSpPr txBox="1"/>
          <p:nvPr/>
        </p:nvSpPr>
        <p:spPr>
          <a:xfrm>
            <a:off x="6461608"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Given Gary's TikTok, Caleb spent week one scrolling 8 hours a day and taking notes. It went from 300k to 3.5M.</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11 · SUSTAINABILITY</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Make film day something people look forward to</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11 · Scale the content machine</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Nod</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The videographer nods harder as the content gets better. Real-time feedback.</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Daps</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Fist bumps between takes, naming 1–2 specific moments.</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Skeptic lens</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The crew listens for objections and fills gaps after each section.</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Post-shoot text</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Honest, specific praise 15–20 minutes after the shoot, so film days feel good.</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Energy rhythm</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Film at your peak hours. Protect content time like a board meeting.</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Remove yourself</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Hand off execution as soon as the budget allows (freelancers first).</a:t>
            </a:r>
            <a:endParaRPr lang="en-US" sz="14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11 · EXPERIMENTATION</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Innovation is a requirement, so build it in</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11 · Scale the content machine</a:t>
            </a:r>
            <a:endParaRPr lang="en-US" sz="1000" dirty="0"/>
          </a:p>
        </p:txBody>
      </p:sp>
      <p:sp>
        <p:nvSpPr>
          <p:cNvPr id="5" name="Shape 3"/>
          <p:cNvSpPr/>
          <p:nvPr/>
        </p:nvSpPr>
        <p:spPr>
          <a:xfrm>
            <a:off x="548640" y="1645920"/>
            <a:ext cx="3515258" cy="1828800"/>
          </a:xfrm>
          <a:prstGeom prst="roundRect">
            <a:avLst>
              <a:gd name="adj" fmla="val 6000"/>
            </a:avLst>
          </a:prstGeom>
          <a:solidFill>
            <a:srgbClr val="F4F4F8"/>
          </a:solidFill>
          <a:ln/>
        </p:spPr>
      </p:sp>
      <p:sp>
        <p:nvSpPr>
          <p:cNvPr id="6" name="Text 4"/>
          <p:cNvSpPr txBox="1"/>
          <p:nvPr/>
        </p:nvSpPr>
        <p:spPr>
          <a:xfrm>
            <a:off x="731520" y="1874520"/>
            <a:ext cx="3149498"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70%</a:t>
            </a:r>
            <a:endParaRPr lang="en-US" sz="5400" dirty="0"/>
          </a:p>
        </p:txBody>
      </p:sp>
      <p:sp>
        <p:nvSpPr>
          <p:cNvPr id="7" name="Text 5"/>
          <p:cNvSpPr txBox="1"/>
          <p:nvPr/>
        </p:nvSpPr>
        <p:spPr>
          <a:xfrm>
            <a:off x="731520" y="2926080"/>
            <a:ext cx="3149498" cy="45720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Proven formats that reliably perform</a:t>
            </a:r>
            <a:endParaRPr lang="en-US" sz="1400" dirty="0"/>
          </a:p>
        </p:txBody>
      </p:sp>
      <p:sp>
        <p:nvSpPr>
          <p:cNvPr id="8" name="Shape 6"/>
          <p:cNvSpPr/>
          <p:nvPr/>
        </p:nvSpPr>
        <p:spPr>
          <a:xfrm>
            <a:off x="4338218" y="1645920"/>
            <a:ext cx="3515258" cy="1828800"/>
          </a:xfrm>
          <a:prstGeom prst="roundRect">
            <a:avLst>
              <a:gd name="adj" fmla="val 6000"/>
            </a:avLst>
          </a:prstGeom>
          <a:solidFill>
            <a:srgbClr val="F4F4F8"/>
          </a:solidFill>
          <a:ln/>
        </p:spPr>
      </p:sp>
      <p:sp>
        <p:nvSpPr>
          <p:cNvPr id="9" name="Text 7"/>
          <p:cNvSpPr txBox="1"/>
          <p:nvPr/>
        </p:nvSpPr>
        <p:spPr>
          <a:xfrm>
            <a:off x="4521098" y="1874520"/>
            <a:ext cx="3149498"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20%</a:t>
            </a:r>
            <a:endParaRPr lang="en-US" sz="5400" dirty="0"/>
          </a:p>
        </p:txBody>
      </p:sp>
      <p:sp>
        <p:nvSpPr>
          <p:cNvPr id="10" name="Text 8"/>
          <p:cNvSpPr txBox="1"/>
          <p:nvPr/>
        </p:nvSpPr>
        <p:spPr>
          <a:xfrm>
            <a:off x="4521098" y="2926080"/>
            <a:ext cx="3149498" cy="45720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Iterations on winners (hooks, CTAs, formats)</a:t>
            </a:r>
            <a:endParaRPr lang="en-US" sz="1400" dirty="0"/>
          </a:p>
        </p:txBody>
      </p:sp>
      <p:sp>
        <p:nvSpPr>
          <p:cNvPr id="11" name="Shape 9"/>
          <p:cNvSpPr/>
          <p:nvPr/>
        </p:nvSpPr>
        <p:spPr>
          <a:xfrm>
            <a:off x="8127797" y="1645920"/>
            <a:ext cx="3515258" cy="1828800"/>
          </a:xfrm>
          <a:prstGeom prst="roundRect">
            <a:avLst>
              <a:gd name="adj" fmla="val 6000"/>
            </a:avLst>
          </a:prstGeom>
          <a:solidFill>
            <a:srgbClr val="F4F4F8"/>
          </a:solidFill>
          <a:ln/>
        </p:spPr>
      </p:sp>
      <p:sp>
        <p:nvSpPr>
          <p:cNvPr id="12" name="Text 10"/>
          <p:cNvSpPr txBox="1"/>
          <p:nvPr/>
        </p:nvSpPr>
        <p:spPr>
          <a:xfrm>
            <a:off x="8310677" y="1874520"/>
            <a:ext cx="3149498" cy="1005840"/>
          </a:xfrm>
          <a:prstGeom prst="rect">
            <a:avLst/>
          </a:prstGeom>
          <a:noFill/>
          <a:ln/>
        </p:spPr>
        <p:txBody>
          <a:bodyPr wrap="square" lIns="0" tIns="0" rIns="0" bIns="0" rtlCol="0" anchor="ctr"/>
          <a:lstStyle/>
          <a:p>
            <a:pPr algn="ctr" indent="0" marL="0">
              <a:buNone/>
            </a:pPr>
            <a:r>
              <a:rPr lang="en-US" sz="5400" b="1" dirty="0">
                <a:solidFill>
                  <a:srgbClr val="FF4D3D"/>
                </a:solidFill>
                <a:latin typeface="Arial" pitchFamily="34" charset="0"/>
                <a:ea typeface="Arial" pitchFamily="34" charset="-122"/>
                <a:cs typeface="Arial" pitchFamily="34" charset="-120"/>
              </a:rPr>
              <a:t>10%</a:t>
            </a:r>
            <a:endParaRPr lang="en-US" sz="5400" dirty="0"/>
          </a:p>
        </p:txBody>
      </p:sp>
      <p:sp>
        <p:nvSpPr>
          <p:cNvPr id="13" name="Text 11"/>
          <p:cNvSpPr txBox="1"/>
          <p:nvPr/>
        </p:nvSpPr>
        <p:spPr>
          <a:xfrm>
            <a:off x="8310677" y="2926080"/>
            <a:ext cx="3149498" cy="45720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Pure experiments: new formats and topics</a:t>
            </a:r>
            <a:endParaRPr lang="en-US" sz="1400" dirty="0"/>
          </a:p>
        </p:txBody>
      </p:sp>
      <p:sp>
        <p:nvSpPr>
          <p:cNvPr id="14" name="Shape 12"/>
          <p:cNvSpPr/>
          <p:nvPr/>
        </p:nvSpPr>
        <p:spPr>
          <a:xfrm>
            <a:off x="548640" y="3749040"/>
            <a:ext cx="11094415" cy="1463040"/>
          </a:xfrm>
          <a:prstGeom prst="roundRect">
            <a:avLst>
              <a:gd name="adj" fmla="val 6250"/>
            </a:avLst>
          </a:prstGeom>
          <a:solidFill>
            <a:srgbClr val="FFF4D6"/>
          </a:solidFill>
          <a:ln/>
        </p:spPr>
      </p:sp>
      <p:sp>
        <p:nvSpPr>
          <p:cNvPr id="15" name="Text 13"/>
          <p:cNvSpPr txBox="1"/>
          <p:nvPr/>
        </p:nvSpPr>
        <p:spPr>
          <a:xfrm>
            <a:off x="777240" y="391363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CONTENT HACKATHON (MONTHLY OR QUARTERLY)</a:t>
            </a:r>
            <a:endParaRPr lang="en-US" sz="1100" dirty="0"/>
          </a:p>
        </p:txBody>
      </p:sp>
      <p:sp>
        <p:nvSpPr>
          <p:cNvPr id="16" name="Text 14"/>
          <p:cNvSpPr txBox="1"/>
          <p:nvPr/>
        </p:nvSpPr>
        <p:spPr>
          <a:xfrm>
            <a:off x="777240" y="4206240"/>
            <a:ext cx="10637215" cy="9144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9:00 kickoff: "I don't care how it performs." Build 1–2 wild pieces (lunch is paid). 4:00 upload to a shared deck. 4:30 everyone presents their why. The team votes, and the winner gets published plus a prize. Some of Caleb's longest-running formats started here.</a:t>
            </a:r>
            <a:endParaRPr lang="en-US" sz="1500" dirty="0"/>
          </a:p>
        </p:txBody>
      </p:sp>
      <p:sp>
        <p:nvSpPr>
          <p:cNvPr id="17" name="Text 15"/>
          <p:cNvSpPr txBox="1"/>
          <p:nvPr/>
        </p:nvSpPr>
        <p:spPr>
          <a:xfrm>
            <a:off x="548640" y="5440680"/>
            <a:ext cx="11094415" cy="822960"/>
          </a:xfrm>
          <a:prstGeom prst="rect">
            <a:avLst/>
          </a:prstGeom>
          <a:noFill/>
          <a:ln/>
        </p:spPr>
        <p:txBody>
          <a:bodyPr wrap="square" lIns="0" tIns="0" rIns="0" bIns="0" rtlCol="0" anchor="t"/>
          <a:lstStyle/>
          <a:p>
            <a:pPr indent="0" marL="0">
              <a:buNone/>
            </a:pPr>
            <a:r>
              <a:rPr lang="en-US" sz="1400" dirty="0">
                <a:solidFill>
                  <a:srgbClr val="5B5B6B"/>
                </a:solidFill>
                <a:latin typeface="Calibri" pitchFamily="34" charset="0"/>
                <a:ea typeface="Calibri" pitchFamily="34" charset="-122"/>
                <a:cs typeface="Calibri" pitchFamily="34" charset="-120"/>
              </a:rPr>
              <a:t>Kane's loop: Idea → Research → Script → Record → Edit → Post → Analyze. Ideas are the bottomless pit, so hire a content operator (it took 3–6 months to clone Kane's taste). AI is great at compressing, weak at ideating.</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12</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12</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Build the team</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Your team multiplies your vision. Hire deliberately, onboard properly, grow people until they don't want to leave.</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12 · HIRING</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Hire for constraints, and define the role with the 4 Rs</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12 · Build the team</a:t>
            </a:r>
            <a:endParaRPr lang="en-US" sz="1000" dirty="0"/>
          </a:p>
        </p:txBody>
      </p:sp>
      <p:sp>
        <p:nvSpPr>
          <p:cNvPr id="5" name="Shape 3"/>
          <p:cNvSpPr/>
          <p:nvPr/>
        </p:nvSpPr>
        <p:spPr>
          <a:xfrm>
            <a:off x="548640" y="1554480"/>
            <a:ext cx="541004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Find the bottleneck</a:t>
            </a:r>
            <a:endParaRPr lang="en-US" sz="1700" dirty="0"/>
          </a:p>
        </p:txBody>
      </p:sp>
      <p:sp>
        <p:nvSpPr>
          <p:cNvPr id="9" name="Text 7"/>
          <p:cNvSpPr txBox="1"/>
          <p:nvPr/>
        </p:nvSpPr>
        <p:spPr>
          <a:xfrm>
            <a:off x="777240"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Footage piling up → hire an editor. Editors idle → hire a strategist or videographer. Hire to solve problems, not to fill roles.</a:t>
            </a:r>
            <a:endParaRPr lang="en-US" sz="1500" dirty="0"/>
          </a:p>
        </p:txBody>
      </p:sp>
      <p:sp>
        <p:nvSpPr>
          <p:cNvPr id="10" name="Shape 8"/>
          <p:cNvSpPr/>
          <p:nvPr/>
        </p:nvSpPr>
        <p:spPr>
          <a:xfrm>
            <a:off x="6233008" y="1554480"/>
            <a:ext cx="5410048" cy="2217420"/>
          </a:xfrm>
          <a:prstGeom prst="roundRect">
            <a:avLst>
              <a:gd name="adj" fmla="val 4948"/>
            </a:avLst>
          </a:prstGeom>
          <a:solidFill>
            <a:srgbClr val="F4F4F8"/>
          </a:solidFill>
          <a:ln/>
        </p:spPr>
      </p:sp>
      <p:sp>
        <p:nvSpPr>
          <p:cNvPr id="11" name="Shape 9"/>
          <p:cNvSpPr/>
          <p:nvPr/>
        </p:nvSpPr>
        <p:spPr>
          <a:xfrm>
            <a:off x="6461608" y="1783080"/>
            <a:ext cx="411480" cy="411480"/>
          </a:xfrm>
          <a:prstGeom prst="ellipse">
            <a:avLst/>
          </a:prstGeom>
          <a:solidFill>
            <a:srgbClr val="FF4D3D"/>
          </a:solidFill>
          <a:ln/>
        </p:spPr>
      </p:sp>
      <p:sp>
        <p:nvSpPr>
          <p:cNvPr id="12" name="Text 10"/>
          <p:cNvSpPr txBox="1"/>
          <p:nvPr/>
        </p:nvSpPr>
        <p:spPr>
          <a:xfrm>
            <a:off x="646160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7010248" y="175564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Specialists</a:t>
            </a:r>
            <a:endParaRPr lang="en-US" sz="1700" dirty="0"/>
          </a:p>
        </p:txBody>
      </p:sp>
      <p:sp>
        <p:nvSpPr>
          <p:cNvPr id="14" name="Text 12"/>
          <p:cNvSpPr txBox="1"/>
          <p:nvPr/>
        </p:nvSpPr>
        <p:spPr>
          <a:xfrm>
            <a:off x="6461608" y="237744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A Netflix editor isn't a YouTube editor. If LinkedIn drives revenue, hire a LinkedIn writer before a video editor.</a:t>
            </a:r>
            <a:endParaRPr lang="en-US" sz="1500" dirty="0"/>
          </a:p>
        </p:txBody>
      </p:sp>
      <p:sp>
        <p:nvSpPr>
          <p:cNvPr id="15" name="Shape 13"/>
          <p:cNvSpPr/>
          <p:nvPr/>
        </p:nvSpPr>
        <p:spPr>
          <a:xfrm>
            <a:off x="548640" y="4046220"/>
            <a:ext cx="5410048" cy="2217420"/>
          </a:xfrm>
          <a:prstGeom prst="roundRect">
            <a:avLst>
              <a:gd name="adj" fmla="val 4948"/>
            </a:avLst>
          </a:prstGeom>
          <a:solidFill>
            <a:srgbClr val="F4F4F8"/>
          </a:solidFill>
          <a:ln/>
        </p:spPr>
      </p:sp>
      <p:sp>
        <p:nvSpPr>
          <p:cNvPr id="16" name="Shape 14"/>
          <p:cNvSpPr/>
          <p:nvPr/>
        </p:nvSpPr>
        <p:spPr>
          <a:xfrm>
            <a:off x="777240" y="4274820"/>
            <a:ext cx="411480" cy="411480"/>
          </a:xfrm>
          <a:prstGeom prst="ellipse">
            <a:avLst/>
          </a:prstGeom>
          <a:solidFill>
            <a:srgbClr val="FF4D3D"/>
          </a:solidFill>
          <a:ln/>
        </p:spPr>
      </p:sp>
      <p:sp>
        <p:nvSpPr>
          <p:cNvPr id="17" name="Text 15"/>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1325880"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Role + Responsibilities</a:t>
            </a:r>
            <a:endParaRPr lang="en-US" sz="1700" dirty="0"/>
          </a:p>
        </p:txBody>
      </p:sp>
      <p:sp>
        <p:nvSpPr>
          <p:cNvPr id="19" name="Text 17"/>
          <p:cNvSpPr txBox="1"/>
          <p:nvPr/>
        </p:nvSpPr>
        <p:spPr>
          <a:xfrm>
            <a:off x="777240"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Their contribution, plus what they own daily, weekly and monthly, in tactical detail.</a:t>
            </a:r>
            <a:endParaRPr lang="en-US" sz="1500" dirty="0"/>
          </a:p>
        </p:txBody>
      </p:sp>
      <p:sp>
        <p:nvSpPr>
          <p:cNvPr id="20" name="Shape 18"/>
          <p:cNvSpPr/>
          <p:nvPr/>
        </p:nvSpPr>
        <p:spPr>
          <a:xfrm>
            <a:off x="6233008" y="4046220"/>
            <a:ext cx="5410048" cy="2217420"/>
          </a:xfrm>
          <a:prstGeom prst="roundRect">
            <a:avLst>
              <a:gd name="adj" fmla="val 4948"/>
            </a:avLst>
          </a:prstGeom>
          <a:solidFill>
            <a:srgbClr val="F4F4F8"/>
          </a:solidFill>
          <a:ln/>
        </p:spPr>
      </p:sp>
      <p:sp>
        <p:nvSpPr>
          <p:cNvPr id="21" name="Shape 19"/>
          <p:cNvSpPr/>
          <p:nvPr/>
        </p:nvSpPr>
        <p:spPr>
          <a:xfrm>
            <a:off x="6461608" y="4274820"/>
            <a:ext cx="411480" cy="411480"/>
          </a:xfrm>
          <a:prstGeom prst="ellipse">
            <a:avLst/>
          </a:prstGeom>
          <a:solidFill>
            <a:srgbClr val="FF4D3D"/>
          </a:solidFill>
          <a:ln/>
        </p:spPr>
      </p:sp>
      <p:sp>
        <p:nvSpPr>
          <p:cNvPr id="22" name="Text 20"/>
          <p:cNvSpPr txBox="1"/>
          <p:nvPr/>
        </p:nvSpPr>
        <p:spPr>
          <a:xfrm>
            <a:off x="646160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7010248" y="4247388"/>
            <a:ext cx="4449928" cy="502920"/>
          </a:xfrm>
          <a:prstGeom prst="rect">
            <a:avLst/>
          </a:prstGeom>
          <a:noFill/>
          <a:ln/>
        </p:spPr>
        <p:txBody>
          <a:bodyPr wrap="square" lIns="0" tIns="0" rIns="0" bIns="0" rtlCol="0" anchor="ctr"/>
          <a:lstStyle/>
          <a:p>
            <a:pPr indent="0" marL="0">
              <a:buNone/>
            </a:pPr>
            <a:r>
              <a:rPr lang="en-US" sz="1700" b="1" dirty="0">
                <a:solidFill>
                  <a:srgbClr val="14141F"/>
                </a:solidFill>
                <a:latin typeface="Arial" pitchFamily="34" charset="0"/>
                <a:ea typeface="Arial" pitchFamily="34" charset="-122"/>
                <a:cs typeface="Arial" pitchFamily="34" charset="-120"/>
              </a:rPr>
              <a:t>Requirements + Results</a:t>
            </a:r>
            <a:endParaRPr lang="en-US" sz="1700" dirty="0"/>
          </a:p>
        </p:txBody>
      </p:sp>
      <p:sp>
        <p:nvSpPr>
          <p:cNvPr id="24" name="Text 22"/>
          <p:cNvSpPr txBox="1"/>
          <p:nvPr/>
        </p:nvSpPr>
        <p:spPr>
          <a:xfrm>
            <a:off x="6461608" y="4869180"/>
            <a:ext cx="4952848" cy="1257300"/>
          </a:xfrm>
          <a:prstGeom prst="rect">
            <a:avLst/>
          </a:prstGeom>
          <a:noFill/>
          <a:ln/>
        </p:spPr>
        <p:txBody>
          <a:bodyPr wrap="square" lIns="0" tIns="0" rIns="0" bIns="0" rtlCol="0" anchor="t"/>
          <a:lstStyle/>
          <a:p>
            <a:pPr indent="0" marL="0">
              <a:buNone/>
            </a:pPr>
            <a:r>
              <a:rPr lang="en-US" sz="1500" dirty="0">
                <a:solidFill>
                  <a:srgbClr val="14141F"/>
                </a:solidFill>
                <a:latin typeface="Calibri" pitchFamily="34" charset="0"/>
                <a:ea typeface="Calibri" pitchFamily="34" charset="-122"/>
                <a:cs typeface="Calibri" pitchFamily="34" charset="-120"/>
              </a:rPr>
              <a:t>Required skills, plus measurable outputs (e.g., 2 YouTube videos a month). Add communication cadence and core values.</a:t>
            </a:r>
            <a:endParaRPr lang="en-US" sz="15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12 · HIRING FUNNEL</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Don't shortcut it. Every bad hire came from rushing</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12 · Build the team</a:t>
            </a:r>
            <a:endParaRPr lang="en-US" sz="1000" dirty="0"/>
          </a:p>
        </p:txBody>
      </p:sp>
      <p:sp>
        <p:nvSpPr>
          <p:cNvPr id="5" name="Shape 3"/>
          <p:cNvSpPr/>
          <p:nvPr/>
        </p:nvSpPr>
        <p:spPr>
          <a:xfrm>
            <a:off x="1473175" y="2057400"/>
            <a:ext cx="9245346" cy="0"/>
          </a:xfrm>
          <a:prstGeom prst="line">
            <a:avLst/>
          </a:prstGeom>
          <a:noFill/>
          <a:ln w="25400">
            <a:solidFill>
              <a:srgbClr val="D9D9E3"/>
            </a:solidFill>
            <a:prstDash val="solid"/>
          </a:ln>
        </p:spPr>
      </p:sp>
      <p:sp>
        <p:nvSpPr>
          <p:cNvPr id="6" name="Shape 4"/>
          <p:cNvSpPr/>
          <p:nvPr/>
        </p:nvSpPr>
        <p:spPr>
          <a:xfrm>
            <a:off x="1153135" y="1737360"/>
            <a:ext cx="640080" cy="640080"/>
          </a:xfrm>
          <a:prstGeom prst="ellipse">
            <a:avLst/>
          </a:prstGeom>
          <a:solidFill>
            <a:srgbClr val="FF4D3D"/>
          </a:solidFill>
          <a:ln/>
        </p:spPr>
      </p:sp>
      <p:sp>
        <p:nvSpPr>
          <p:cNvPr id="7" name="Text 5"/>
          <p:cNvSpPr txBox="1"/>
          <p:nvPr/>
        </p:nvSpPr>
        <p:spPr>
          <a:xfrm>
            <a:off x="1153135"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CV + video</a:t>
            </a:r>
            <a:endParaRPr lang="en-US" sz="1400" dirty="0"/>
          </a:p>
        </p:txBody>
      </p:sp>
      <p:sp>
        <p:nvSpPr>
          <p:cNvPr id="9" name="Text 7"/>
          <p:cNvSpPr txBox="1"/>
          <p:nvPr/>
        </p:nvSpPr>
        <p:spPr>
          <a:xfrm>
            <a:off x="640080" y="3200400"/>
            <a:ext cx="1666189" cy="155448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The optional video shows hunger and personality.</a:t>
            </a:r>
            <a:endParaRPr lang="en-US" sz="1200" dirty="0"/>
          </a:p>
        </p:txBody>
      </p:sp>
      <p:sp>
        <p:nvSpPr>
          <p:cNvPr id="10" name="Shape 8"/>
          <p:cNvSpPr/>
          <p:nvPr/>
        </p:nvSpPr>
        <p:spPr>
          <a:xfrm>
            <a:off x="3002204" y="1737360"/>
            <a:ext cx="640080" cy="640080"/>
          </a:xfrm>
          <a:prstGeom prst="ellipse">
            <a:avLst/>
          </a:prstGeom>
          <a:solidFill>
            <a:srgbClr val="FF4D3D"/>
          </a:solidFill>
          <a:ln/>
        </p:spPr>
      </p:sp>
      <p:sp>
        <p:nvSpPr>
          <p:cNvPr id="11" name="Text 9"/>
          <p:cNvSpPr txBox="1"/>
          <p:nvPr/>
        </p:nvSpPr>
        <p:spPr>
          <a:xfrm>
            <a:off x="3002204"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2489149"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Screen</a:t>
            </a:r>
            <a:endParaRPr lang="en-US" sz="1400" dirty="0"/>
          </a:p>
        </p:txBody>
      </p:sp>
      <p:sp>
        <p:nvSpPr>
          <p:cNvPr id="13" name="Text 11"/>
          <p:cNvSpPr txBox="1"/>
          <p:nvPr/>
        </p:nvSpPr>
        <p:spPr>
          <a:xfrm>
            <a:off x="2489149" y="3200400"/>
            <a:ext cx="1666189" cy="155448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Salary, logistics, light technical questions (catches live AI-fed answers).</a:t>
            </a:r>
            <a:endParaRPr lang="en-US" sz="1200" dirty="0"/>
          </a:p>
        </p:txBody>
      </p:sp>
      <p:sp>
        <p:nvSpPr>
          <p:cNvPr id="14" name="Shape 12"/>
          <p:cNvSpPr/>
          <p:nvPr/>
        </p:nvSpPr>
        <p:spPr>
          <a:xfrm>
            <a:off x="4851273" y="1737360"/>
            <a:ext cx="640080" cy="640080"/>
          </a:xfrm>
          <a:prstGeom prst="ellipse">
            <a:avLst/>
          </a:prstGeom>
          <a:solidFill>
            <a:srgbClr val="FF4D3D"/>
          </a:solidFill>
          <a:ln/>
        </p:spPr>
      </p:sp>
      <p:sp>
        <p:nvSpPr>
          <p:cNvPr id="15" name="Text 13"/>
          <p:cNvSpPr txBox="1"/>
          <p:nvPr/>
        </p:nvSpPr>
        <p:spPr>
          <a:xfrm>
            <a:off x="4851273"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4338218"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Technical</a:t>
            </a:r>
            <a:endParaRPr lang="en-US" sz="1400" dirty="0"/>
          </a:p>
        </p:txBody>
      </p:sp>
      <p:sp>
        <p:nvSpPr>
          <p:cNvPr id="17" name="Text 15"/>
          <p:cNvSpPr txBox="1"/>
          <p:nvPr/>
        </p:nvSpPr>
        <p:spPr>
          <a:xfrm>
            <a:off x="4338218" y="3200400"/>
            <a:ext cx="1666189" cy="155448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"How would you innovate our style?" Judge how they think.</a:t>
            </a:r>
            <a:endParaRPr lang="en-US" sz="1200" dirty="0"/>
          </a:p>
        </p:txBody>
      </p:sp>
      <p:sp>
        <p:nvSpPr>
          <p:cNvPr id="18" name="Shape 16"/>
          <p:cNvSpPr/>
          <p:nvPr/>
        </p:nvSpPr>
        <p:spPr>
          <a:xfrm>
            <a:off x="6700342" y="1737360"/>
            <a:ext cx="640080" cy="640080"/>
          </a:xfrm>
          <a:prstGeom prst="ellipse">
            <a:avLst/>
          </a:prstGeom>
          <a:solidFill>
            <a:srgbClr val="FF4D3D"/>
          </a:solidFill>
          <a:ln/>
        </p:spPr>
      </p:sp>
      <p:sp>
        <p:nvSpPr>
          <p:cNvPr id="19" name="Text 17"/>
          <p:cNvSpPr txBox="1"/>
          <p:nvPr/>
        </p:nvSpPr>
        <p:spPr>
          <a:xfrm>
            <a:off x="6700342"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0" name="Text 18"/>
          <p:cNvSpPr txBox="1"/>
          <p:nvPr/>
        </p:nvSpPr>
        <p:spPr>
          <a:xfrm>
            <a:off x="6187288"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Assessment</a:t>
            </a:r>
            <a:endParaRPr lang="en-US" sz="1400" dirty="0"/>
          </a:p>
        </p:txBody>
      </p:sp>
      <p:sp>
        <p:nvSpPr>
          <p:cNvPr id="21" name="Text 19"/>
          <p:cNvSpPr txBox="1"/>
          <p:nvPr/>
        </p:nvSpPr>
        <p:spPr>
          <a:xfrm>
            <a:off x="6187288" y="3200400"/>
            <a:ext cx="1666189" cy="155448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A real task on a deadline. The same one for everyone.</a:t>
            </a:r>
            <a:endParaRPr lang="en-US" sz="1200" dirty="0"/>
          </a:p>
        </p:txBody>
      </p:sp>
      <p:sp>
        <p:nvSpPr>
          <p:cNvPr id="22" name="Shape 20"/>
          <p:cNvSpPr/>
          <p:nvPr/>
        </p:nvSpPr>
        <p:spPr>
          <a:xfrm>
            <a:off x="8549411" y="1737360"/>
            <a:ext cx="640080" cy="640080"/>
          </a:xfrm>
          <a:prstGeom prst="ellipse">
            <a:avLst/>
          </a:prstGeom>
          <a:solidFill>
            <a:srgbClr val="FF4D3D"/>
          </a:solidFill>
          <a:ln/>
        </p:spPr>
      </p:sp>
      <p:sp>
        <p:nvSpPr>
          <p:cNvPr id="23" name="Text 21"/>
          <p:cNvSpPr txBox="1"/>
          <p:nvPr/>
        </p:nvSpPr>
        <p:spPr>
          <a:xfrm>
            <a:off x="8549411"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4" name="Text 22"/>
          <p:cNvSpPr txBox="1"/>
          <p:nvPr/>
        </p:nvSpPr>
        <p:spPr>
          <a:xfrm>
            <a:off x="8036357"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Culture</a:t>
            </a:r>
            <a:endParaRPr lang="en-US" sz="1400" dirty="0"/>
          </a:p>
        </p:txBody>
      </p:sp>
      <p:sp>
        <p:nvSpPr>
          <p:cNvPr id="25" name="Text 23"/>
          <p:cNvSpPr txBox="1"/>
          <p:nvPr/>
        </p:nvSpPr>
        <p:spPr>
          <a:xfrm>
            <a:off x="8036357" y="3200400"/>
            <a:ext cx="1666189" cy="155448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Real scenarios: public critique, terse CEOs.</a:t>
            </a:r>
            <a:endParaRPr lang="en-US" sz="1200" dirty="0"/>
          </a:p>
        </p:txBody>
      </p:sp>
      <p:sp>
        <p:nvSpPr>
          <p:cNvPr id="26" name="Shape 24"/>
          <p:cNvSpPr/>
          <p:nvPr/>
        </p:nvSpPr>
        <p:spPr>
          <a:xfrm>
            <a:off x="10398481" y="1737360"/>
            <a:ext cx="640080" cy="640080"/>
          </a:xfrm>
          <a:prstGeom prst="ellipse">
            <a:avLst/>
          </a:prstGeom>
          <a:solidFill>
            <a:srgbClr val="FF4D3D"/>
          </a:solidFill>
          <a:ln/>
        </p:spPr>
      </p:sp>
      <p:sp>
        <p:nvSpPr>
          <p:cNvPr id="27" name="Text 25"/>
          <p:cNvSpPr txBox="1"/>
          <p:nvPr/>
        </p:nvSpPr>
        <p:spPr>
          <a:xfrm>
            <a:off x="10398481"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28" name="Text 26"/>
          <p:cNvSpPr txBox="1"/>
          <p:nvPr/>
        </p:nvSpPr>
        <p:spPr>
          <a:xfrm>
            <a:off x="9885426" y="2560320"/>
            <a:ext cx="1666189" cy="640080"/>
          </a:xfrm>
          <a:prstGeom prst="rect">
            <a:avLst/>
          </a:prstGeom>
          <a:noFill/>
          <a:ln/>
        </p:spPr>
        <p:txBody>
          <a:bodyPr wrap="square" lIns="0" tIns="0" rIns="0" bIns="0" rtlCol="0" anchor="t"/>
          <a:lstStyle/>
          <a:p>
            <a:pPr algn="ctr" indent="0" marL="0">
              <a:buNone/>
            </a:pPr>
            <a:r>
              <a:rPr lang="en-US" sz="1400" b="1" dirty="0">
                <a:solidFill>
                  <a:srgbClr val="14141F"/>
                </a:solidFill>
                <a:latin typeface="Arial" pitchFamily="34" charset="0"/>
                <a:ea typeface="Arial" pitchFamily="34" charset="-122"/>
                <a:cs typeface="Arial" pitchFamily="34" charset="-120"/>
              </a:rPr>
              <a:t>Final</a:t>
            </a:r>
            <a:endParaRPr lang="en-US" sz="1400" dirty="0"/>
          </a:p>
        </p:txBody>
      </p:sp>
      <p:sp>
        <p:nvSpPr>
          <p:cNvPr id="29" name="Text 27"/>
          <p:cNvSpPr txBox="1"/>
          <p:nvPr/>
        </p:nvSpPr>
        <p:spPr>
          <a:xfrm>
            <a:off x="9885426" y="3200400"/>
            <a:ext cx="1666189" cy="1554480"/>
          </a:xfrm>
          <a:prstGeom prst="rect">
            <a:avLst/>
          </a:prstGeom>
          <a:noFill/>
          <a:ln/>
        </p:spPr>
        <p:txBody>
          <a:bodyPr wrap="square" lIns="0" tIns="0" rIns="0" bIns="0" rtlCol="0" anchor="t"/>
          <a:lstStyle/>
          <a:p>
            <a:pPr algn="ctr" indent="0" marL="0">
              <a:buNone/>
            </a:pPr>
            <a:r>
              <a:rPr lang="en-US" sz="1200" dirty="0">
                <a:solidFill>
                  <a:srgbClr val="5B5B6B"/>
                </a:solidFill>
                <a:latin typeface="Calibri" pitchFamily="34" charset="0"/>
                <a:ea typeface="Calibri" pitchFamily="34" charset="-122"/>
                <a:cs typeface="Calibri" pitchFamily="34" charset="-120"/>
              </a:rPr>
              <a:t>The most senior person closes every open question.</a:t>
            </a:r>
            <a:endParaRPr lang="en-US" sz="1200" dirty="0"/>
          </a:p>
        </p:txBody>
      </p:sp>
      <p:sp>
        <p:nvSpPr>
          <p:cNvPr id="30" name="Shape 28"/>
          <p:cNvSpPr/>
          <p:nvPr/>
        </p:nvSpPr>
        <p:spPr>
          <a:xfrm>
            <a:off x="548640" y="4846320"/>
            <a:ext cx="11094415" cy="1234440"/>
          </a:xfrm>
          <a:prstGeom prst="roundRect">
            <a:avLst>
              <a:gd name="adj" fmla="val 7407"/>
            </a:avLst>
          </a:prstGeom>
          <a:solidFill>
            <a:srgbClr val="FFF4D6"/>
          </a:solidFill>
          <a:ln/>
        </p:spPr>
      </p:sp>
      <p:sp>
        <p:nvSpPr>
          <p:cNvPr id="31" name="Text 29"/>
          <p:cNvSpPr txBox="1"/>
          <p:nvPr/>
        </p:nvSpPr>
        <p:spPr>
          <a:xfrm>
            <a:off x="777240" y="501091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TRYOUTS + CULTURE &gt; SKILLS</a:t>
            </a:r>
            <a:endParaRPr lang="en-US" sz="1100" dirty="0"/>
          </a:p>
        </p:txBody>
      </p:sp>
      <p:sp>
        <p:nvSpPr>
          <p:cNvPr id="32" name="Text 30"/>
          <p:cNvSpPr txBox="1"/>
          <p:nvPr/>
        </p:nvSpPr>
        <p:spPr>
          <a:xfrm>
            <a:off x="777240" y="5303520"/>
            <a:ext cx="10637215" cy="6858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Tryouts give everyone the same footage: ~1,500 signed up, ~230 submitted. Hire mindset, train skills. Trevor was a 6/10 editor and a 10/10 on culture, and became lead editor at 22.</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12 · STRUCTURE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Start lean, and in-house when it's proven</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12 · Build the team</a:t>
            </a:r>
            <a:endParaRPr lang="en-US" sz="1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011680"/>
                <a:gridCol w="4023360"/>
                <a:gridCol w="5056632"/>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Stage</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Approach</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Why</a:t>
                      </a:r>
                      <a:endParaRPr lang="en-US" sz="1300" dirty="0">
                        <a:latin typeface="Arial" charset="0"/>
                        <a:ea typeface="Arial" charset="0"/>
                        <a:cs typeface="Arial"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14141F"/>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Year 0–1</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Mostly contractors and agencies</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Stay lean, test platforms, founder shapes content</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Years 1–3</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Bring critical roles in-house</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E.g., in-house editor while the agency keeps ideation and packaging</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4141F"/>
                          </a:solidFill>
                          <a:latin typeface="Calibri" pitchFamily="34" charset="0"/>
                          <a:ea typeface="Calibri" pitchFamily="34" charset="-122"/>
                          <a:cs typeface="Calibri" pitchFamily="34" charset="-120"/>
                        </a:rPr>
                        <a:t>Years 3+</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Most high-volume roles in-house</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c>
                  <a:txBody>
                    <a:bodyPr/>
                    <a:lstStyle/>
                    <a:p>
                      <a:pPr indent="0" marL="0">
                        <a:buNone/>
                      </a:pPr>
                      <a:r>
                        <a:rPr lang="en-US" sz="1400" dirty="0">
                          <a:solidFill>
                            <a:srgbClr val="14141F"/>
                          </a:solidFill>
                          <a:latin typeface="Calibri" pitchFamily="34" charset="0"/>
                          <a:ea typeface="Calibri" pitchFamily="34" charset="-122"/>
                          <a:cs typeface="Calibri" pitchFamily="34" charset="-120"/>
                        </a:rPr>
                        <a:t>Speed and communication. Keep agencies for niche skills, platform reps, sprints</a:t>
                      </a:r>
                      <a:endParaRPr lang="en-US" sz="1400" dirty="0">
                        <a:latin typeface="Calibri" charset="0"/>
                        <a:ea typeface="Calibri" charset="0"/>
                        <a:cs typeface="Calibri" charset="0"/>
                      </a:endParaRPr>
                    </a:p>
                  </a:txBody>
                  <a:tcPr marL="73152" marR="73152" marT="73152" marB="73152" anchor="ctr">
                    <a:lnL w="6350" cap="flat" cmpd="sng" algn="ctr">
                      <a:solidFill>
                        <a:srgbClr val="D9D9E3"/>
                      </a:solidFill>
                      <a:prstDash val="solid"/>
                      <a:round/>
                      <a:headEnd type="none" w="med" len="med"/>
                      <a:tailEnd type="none" w="med" len="med"/>
                    </a:lnL>
                    <a:lnR w="6350" cap="flat" cmpd="sng" algn="ctr">
                      <a:solidFill>
                        <a:srgbClr val="D9D9E3"/>
                      </a:solidFill>
                      <a:prstDash val="solid"/>
                      <a:round/>
                      <a:headEnd type="none" w="med" len="med"/>
                      <a:tailEnd type="none" w="med" len="med"/>
                    </a:lnR>
                    <a:lnT w="6350" cap="flat" cmpd="sng" algn="ctr">
                      <a:solidFill>
                        <a:srgbClr val="D9D9E3"/>
                      </a:solidFill>
                      <a:prstDash val="solid"/>
                      <a:round/>
                      <a:headEnd type="none" w="med" len="med"/>
                      <a:tailEnd type="none" w="med" len="med"/>
                    </a:lnT>
                    <a:lnB w="6350" cap="flat" cmpd="sng" algn="ctr">
                      <a:solidFill>
                        <a:srgbClr val="D9D9E3"/>
                      </a:solidFill>
                      <a:prstDash val="solid"/>
                      <a:round/>
                      <a:headEnd type="none" w="med" len="med"/>
                      <a:tailEnd type="none" w="med" len="med"/>
                    </a:lnB>
                    <a:solidFill>
                      <a:srgbClr val="F4F4F8"/>
                    </a:solidFill>
                  </a:tcPr>
                </a:tc>
              </a:tr>
            </a:tbl>
          </a:graphicData>
        </a:graphic>
      </p:graphicFrame>
      <p:sp>
        <p:nvSpPr>
          <p:cNvPr id="6" name="Text 3"/>
          <p:cNvSpPr txBox="1"/>
          <p:nvPr/>
        </p:nvSpPr>
        <p:spPr>
          <a:xfrm>
            <a:off x="548640" y="3749040"/>
            <a:ext cx="11094415"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Contractors arrive as experts, cost less short-term and are great for testing (e.g., 3–4 months of LinkedIn), but agencies churn staff and need brand oversight.</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Employees ramp in 60–90 days but give continuity, absorb brand nuance and grow into leaders.</a:t>
            </a:r>
            <a:endParaRPr lang="en-US" sz="1500" dirty="0"/>
          </a:p>
          <a:p>
            <a:pPr marL="342900" indent="-342900">
              <a:spcAft>
                <a:spcPts val="800"/>
              </a:spcAft>
              <a:buSzPct val="100000"/>
              <a:buChar char="•"/>
            </a:pPr>
            <a:r>
              <a:rPr lang="en-US" sz="1500" dirty="0">
                <a:solidFill>
                  <a:srgbClr val="14141F"/>
                </a:solidFill>
                <a:latin typeface="Calibri" pitchFamily="34" charset="0"/>
                <a:ea typeface="Calibri" pitchFamily="34" charset="-122"/>
                <a:cs typeface="Calibri" pitchFamily="34" charset="-120"/>
              </a:rPr>
              <a:t>Early on, hire specialists willing to wear many hats → document every workflow → specialize as volume grows.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12 · ONBOARDING</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30-60-90 plan, sent before day one</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12 · Build the team</a:t>
            </a:r>
            <a:endParaRPr lang="en-US" sz="1000" dirty="0"/>
          </a:p>
        </p:txBody>
      </p:sp>
      <p:sp>
        <p:nvSpPr>
          <p:cNvPr id="5" name="Shape 3"/>
          <p:cNvSpPr/>
          <p:nvPr/>
        </p:nvSpPr>
        <p:spPr>
          <a:xfrm>
            <a:off x="2397709" y="2057400"/>
            <a:ext cx="7396277" cy="0"/>
          </a:xfrm>
          <a:prstGeom prst="line">
            <a:avLst/>
          </a:prstGeom>
          <a:noFill/>
          <a:ln w="25400">
            <a:solidFill>
              <a:srgbClr val="D9D9E3"/>
            </a:solidFill>
            <a:prstDash val="solid"/>
          </a:ln>
        </p:spPr>
      </p:sp>
      <p:sp>
        <p:nvSpPr>
          <p:cNvPr id="6" name="Shape 4"/>
          <p:cNvSpPr/>
          <p:nvPr/>
        </p:nvSpPr>
        <p:spPr>
          <a:xfrm>
            <a:off x="2077669" y="1737360"/>
            <a:ext cx="640080" cy="640080"/>
          </a:xfrm>
          <a:prstGeom prst="ellipse">
            <a:avLst/>
          </a:prstGeom>
          <a:solidFill>
            <a:srgbClr val="FF4D3D"/>
          </a:solidFill>
          <a:ln/>
        </p:spPr>
      </p:sp>
      <p:sp>
        <p:nvSpPr>
          <p:cNvPr id="7" name="Text 5"/>
          <p:cNvSpPr txBox="1"/>
          <p:nvPr/>
        </p:nvSpPr>
        <p:spPr>
          <a:xfrm>
            <a:off x="2077669"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640080" y="256032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Days 1–30</a:t>
            </a:r>
            <a:endParaRPr lang="en-US" sz="1500" dirty="0"/>
          </a:p>
        </p:txBody>
      </p:sp>
      <p:sp>
        <p:nvSpPr>
          <p:cNvPr id="9" name="Text 7"/>
          <p:cNvSpPr txBox="1"/>
          <p:nvPr/>
        </p:nvSpPr>
        <p:spPr>
          <a:xfrm>
            <a:off x="640080" y="3200400"/>
            <a:ext cx="3515258" cy="17373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Learn the vision, values, tools and how communication really works. Small wins, shadowing, frequent check-ins.</a:t>
            </a:r>
            <a:endParaRPr lang="en-US" sz="1400" dirty="0"/>
          </a:p>
        </p:txBody>
      </p:sp>
      <p:sp>
        <p:nvSpPr>
          <p:cNvPr id="10" name="Shape 8"/>
          <p:cNvSpPr/>
          <p:nvPr/>
        </p:nvSpPr>
        <p:spPr>
          <a:xfrm>
            <a:off x="5775808" y="1737360"/>
            <a:ext cx="640080" cy="640080"/>
          </a:xfrm>
          <a:prstGeom prst="ellipse">
            <a:avLst/>
          </a:prstGeom>
          <a:solidFill>
            <a:srgbClr val="FF4D3D"/>
          </a:solidFill>
          <a:ln/>
        </p:spPr>
      </p:sp>
      <p:sp>
        <p:nvSpPr>
          <p:cNvPr id="11" name="Text 9"/>
          <p:cNvSpPr txBox="1"/>
          <p:nvPr/>
        </p:nvSpPr>
        <p:spPr>
          <a:xfrm>
            <a:off x="5775808" y="17373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338218" y="256032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Days 31–60</a:t>
            </a:r>
            <a:endParaRPr lang="en-US" sz="1500" dirty="0"/>
          </a:p>
        </p:txBody>
      </p:sp>
      <p:sp>
        <p:nvSpPr>
          <p:cNvPr id="13" name="Text 11"/>
          <p:cNvSpPr txBox="1"/>
          <p:nvPr/>
        </p:nvSpPr>
        <p:spPr>
          <a:xfrm>
            <a:off x="4338218" y="3200400"/>
            <a:ext cx="3515258" cy="17373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Own core tasks independently, build their own workflow, get feedback on process and output.</a:t>
            </a:r>
            <a:endParaRPr lang="en-US" sz="1400" dirty="0"/>
          </a:p>
        </p:txBody>
      </p:sp>
      <p:sp>
        <p:nvSpPr>
          <p:cNvPr id="14" name="Shape 12"/>
          <p:cNvSpPr/>
          <p:nvPr/>
        </p:nvSpPr>
        <p:spPr>
          <a:xfrm>
            <a:off x="9473946" y="1737360"/>
            <a:ext cx="640080" cy="640080"/>
          </a:xfrm>
          <a:prstGeom prst="ellipse">
            <a:avLst/>
          </a:prstGeom>
          <a:solidFill>
            <a:srgbClr val="FFC93C"/>
          </a:solidFill>
          <a:ln/>
        </p:spPr>
      </p:sp>
      <p:sp>
        <p:nvSpPr>
          <p:cNvPr id="15" name="Text 13"/>
          <p:cNvSpPr txBox="1"/>
          <p:nvPr/>
        </p:nvSpPr>
        <p:spPr>
          <a:xfrm>
            <a:off x="9473946" y="1737360"/>
            <a:ext cx="640080" cy="64008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8036357" y="2560320"/>
            <a:ext cx="3515258" cy="640080"/>
          </a:xfrm>
          <a:prstGeom prst="rect">
            <a:avLst/>
          </a:prstGeom>
          <a:noFill/>
          <a:ln/>
        </p:spPr>
        <p:txBody>
          <a:bodyPr wrap="square" lIns="0" tIns="0" rIns="0" bIns="0" rtlCol="0" anchor="t"/>
          <a:lstStyle/>
          <a:p>
            <a:pPr algn="ctr" indent="0" marL="0">
              <a:buNone/>
            </a:pPr>
            <a:r>
              <a:rPr lang="en-US" sz="1500" b="1" dirty="0">
                <a:solidFill>
                  <a:srgbClr val="14141F"/>
                </a:solidFill>
                <a:latin typeface="Arial" pitchFamily="34" charset="0"/>
                <a:ea typeface="Arial" pitchFamily="34" charset="-122"/>
                <a:cs typeface="Arial" pitchFamily="34" charset="-120"/>
              </a:rPr>
              <a:t>Days 61–90</a:t>
            </a:r>
            <a:endParaRPr lang="en-US" sz="1500" dirty="0"/>
          </a:p>
        </p:txBody>
      </p:sp>
      <p:sp>
        <p:nvSpPr>
          <p:cNvPr id="17" name="Text 15"/>
          <p:cNvSpPr txBox="1"/>
          <p:nvPr/>
        </p:nvSpPr>
        <p:spPr>
          <a:xfrm>
            <a:off x="8036357" y="3200400"/>
            <a:ext cx="3515258" cy="1737360"/>
          </a:xfrm>
          <a:prstGeom prst="rect">
            <a:avLst/>
          </a:prstGeom>
          <a:noFill/>
          <a:ln/>
        </p:spPr>
        <p:txBody>
          <a:bodyPr wrap="square" lIns="0" tIns="0" rIns="0" bIns="0" rtlCol="0" anchor="t"/>
          <a:lstStyle/>
          <a:p>
            <a:pPr algn="ctr" indent="0" marL="0">
              <a:buNone/>
            </a:pPr>
            <a:r>
              <a:rPr lang="en-US" sz="1400" dirty="0">
                <a:solidFill>
                  <a:srgbClr val="5B5B6B"/>
                </a:solidFill>
                <a:latin typeface="Calibri" pitchFamily="34" charset="0"/>
                <a:ea typeface="Calibri" pitchFamily="34" charset="-122"/>
                <a:cs typeface="Calibri" pitchFamily="34" charset="-120"/>
              </a:rPr>
              <a:t>Own the #1 responsibility with minimal supervision. Results against KPIs, then a 90-day review.</a:t>
            </a:r>
            <a:endParaRPr lang="en-US" sz="1400" dirty="0"/>
          </a:p>
        </p:txBody>
      </p:sp>
      <p:sp>
        <p:nvSpPr>
          <p:cNvPr id="18" name="Shape 16"/>
          <p:cNvSpPr/>
          <p:nvPr/>
        </p:nvSpPr>
        <p:spPr>
          <a:xfrm>
            <a:off x="548640" y="4846320"/>
            <a:ext cx="11094415" cy="1234440"/>
          </a:xfrm>
          <a:prstGeom prst="roundRect">
            <a:avLst>
              <a:gd name="adj" fmla="val 7407"/>
            </a:avLst>
          </a:prstGeom>
          <a:solidFill>
            <a:srgbClr val="FFF4D6"/>
          </a:solidFill>
          <a:ln/>
        </p:spPr>
      </p:sp>
      <p:sp>
        <p:nvSpPr>
          <p:cNvPr id="19" name="Text 17"/>
          <p:cNvSpPr txBox="1"/>
          <p:nvPr/>
        </p:nvSpPr>
        <p:spPr>
          <a:xfrm>
            <a:off x="777240" y="5010912"/>
            <a:ext cx="106372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PLUS</a:t>
            </a:r>
            <a:endParaRPr lang="en-US" sz="1100" dirty="0"/>
          </a:p>
        </p:txBody>
      </p:sp>
      <p:sp>
        <p:nvSpPr>
          <p:cNvPr id="20" name="Text 18"/>
          <p:cNvSpPr txBox="1"/>
          <p:nvPr/>
        </p:nvSpPr>
        <p:spPr>
          <a:xfrm>
            <a:off x="777240" y="5303520"/>
            <a:ext cx="10637215" cy="685800"/>
          </a:xfrm>
          <a:prstGeom prst="rect">
            <a:avLst/>
          </a:prstGeom>
          <a:noFill/>
          <a:ln/>
        </p:spPr>
        <p:txBody>
          <a:bodyPr wrap="square" lIns="0" tIns="0" rIns="0" bIns="0" rtlCol="0" anchor="t"/>
          <a:lstStyle/>
          <a:p>
            <a:pPr indent="0" marL="0">
              <a:buNone/>
            </a:pPr>
            <a:r>
              <a:rPr lang="en-US" sz="1400" dirty="0">
                <a:solidFill>
                  <a:srgbClr val="14141F"/>
                </a:solidFill>
                <a:latin typeface="Calibri" pitchFamily="34" charset="0"/>
                <a:ea typeface="Calibri" pitchFamily="34" charset="-122"/>
                <a:cs typeface="Calibri" pitchFamily="34" charset="-120"/>
              </a:rPr>
              <a:t>An onboarding buddy · three 10-minute check-ins a week in month one · a resource hub (a Drive folder is fine) · clear, non-overlapping role KPIs. Losing an employee costs ~2.5x their cost.</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12 · CULTURE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Develop, retain, lead with empathy</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12 · Build the team</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Ownership</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350" dirty="0">
                <a:solidFill>
                  <a:srgbClr val="14141F"/>
                </a:solidFill>
                <a:latin typeface="Calibri" pitchFamily="34" charset="0"/>
                <a:ea typeface="Calibri" pitchFamily="34" charset="-122"/>
                <a:cs typeface="Calibri" pitchFamily="34" charset="-120"/>
              </a:rPr>
              <a:t>"How would you handle it if I got hit by a bus?" Bring solutions, not problems. Let them fail when it isn't mission-critical.</a:t>
            </a:r>
            <a:endParaRPr lang="en-US" sz="13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Teach to learn</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350" dirty="0">
                <a:solidFill>
                  <a:srgbClr val="14141F"/>
                </a:solidFill>
                <a:latin typeface="Calibri" pitchFamily="34" charset="0"/>
                <a:ea typeface="Calibri" pitchFamily="34" charset="-122"/>
                <a:cs typeface="Calibri" pitchFamily="34" charset="-120"/>
              </a:rPr>
              <a:t>Team members run weekly trainings and pair up in mentorship loops. It reveals hidden passions.</a:t>
            </a:r>
            <a:endParaRPr lang="en-US" sz="13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Align with goals</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350" dirty="0">
                <a:solidFill>
                  <a:srgbClr val="14141F"/>
                </a:solidFill>
                <a:latin typeface="Calibri" pitchFamily="34" charset="0"/>
                <a:ea typeface="Calibri" pitchFamily="34" charset="-122"/>
                <a:cs typeface="Calibri" pitchFamily="34" charset="-120"/>
              </a:rPr>
              <a:t>In one-on-ones, ask about their long-term goal, what's next and which skills to build. People leave when they grow away from their goals.</a:t>
            </a:r>
            <a:endParaRPr lang="en-US" sz="13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Values in action</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350" dirty="0">
                <a:solidFill>
                  <a:srgbClr val="14141F"/>
                </a:solidFill>
                <a:latin typeface="Calibri" pitchFamily="34" charset="0"/>
                <a:ea typeface="Calibri" pitchFamily="34" charset="-122"/>
                <a:cs typeface="Calibri" pitchFamily="34" charset="-120"/>
              </a:rPr>
              <a:t>Lead by example ("they'll do it times 10"). Explain the why, own mistakes first, announce pivots early. Soup for sick days.</a:t>
            </a:r>
            <a:endParaRPr lang="en-US" sz="13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Maker / manager</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350" dirty="0">
                <a:solidFill>
                  <a:srgbClr val="14141F"/>
                </a:solidFill>
                <a:latin typeface="Calibri" pitchFamily="34" charset="0"/>
                <a:ea typeface="Calibri" pitchFamily="34" charset="-122"/>
                <a:cs typeface="Calibri" pitchFamily="34" charset="-120"/>
              </a:rPr>
              <a:t>Makers get 7:00–12:00, meetings run 12:00–5:00, and Wednesday is a full maker day. One interruption costs 30–60 minutes of flow.</a:t>
            </a:r>
            <a:endParaRPr lang="en-US" sz="13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Remote / hybrid / office</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350" dirty="0">
                <a:solidFill>
                  <a:srgbClr val="14141F"/>
                </a:solidFill>
                <a:latin typeface="Calibri" pitchFamily="34" charset="0"/>
                <a:ea typeface="Calibri" pitchFamily="34" charset="-122"/>
                <a:cs typeface="Calibri" pitchFamily="34" charset="-120"/>
              </a:rPr>
              <a:t>Hybrid is best if affordable. The office favors the company, remote favors the employee. Rank the factors, then choose.</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4141F"/>
        </a:solidFill>
      </p:bgPr>
    </p:bg>
    <p:spTree>
      <p:nvGrpSpPr>
        <p:cNvPr id="1" name=""/>
        <p:cNvGrpSpPr/>
        <p:nvPr/>
      </p:nvGrpSpPr>
      <p:grpSpPr>
        <a:xfrm>
          <a:off x="0" y="0"/>
          <a:ext cx="0" cy="0"/>
          <a:chOff x="0" y="0"/>
          <a:chExt cx="0" cy="0"/>
        </a:xfrm>
      </p:grpSpPr>
      <p:sp>
        <p:nvSpPr>
          <p:cNvPr id="2" name="Shape 0"/>
          <p:cNvSpPr/>
          <p:nvPr/>
        </p:nvSpPr>
        <p:spPr>
          <a:xfrm>
            <a:off x="548640" y="1554480"/>
            <a:ext cx="2926080" cy="2926080"/>
          </a:xfrm>
          <a:prstGeom prst="ellipse">
            <a:avLst/>
          </a:prstGeom>
          <a:solidFill>
            <a:srgbClr val="FF4D3D"/>
          </a:solidFill>
          <a:ln/>
        </p:spPr>
      </p:sp>
      <p:sp>
        <p:nvSpPr>
          <p:cNvPr id="3" name="Text 1"/>
          <p:cNvSpPr txBox="1"/>
          <p:nvPr/>
        </p:nvSpPr>
        <p:spPr>
          <a:xfrm>
            <a:off x="548640" y="1554480"/>
            <a:ext cx="2926080" cy="2926080"/>
          </a:xfrm>
          <a:prstGeom prst="rect">
            <a:avLst/>
          </a:prstGeom>
          <a:noFill/>
          <a:ln/>
        </p:spPr>
        <p:txBody>
          <a:bodyPr wrap="square" lIns="0" tIns="0" rIns="0" bIns="0" rtlCol="0" anchor="ctr"/>
          <a:lstStyle/>
          <a:p>
            <a:pPr algn="ctr" indent="0" marL="0">
              <a:buNone/>
            </a:pPr>
            <a:r>
              <a:rPr lang="en-US" sz="9600" b="1" dirty="0">
                <a:solidFill>
                  <a:srgbClr val="FFFFFF"/>
                </a:solidFill>
                <a:latin typeface="Arial" pitchFamily="34" charset="0"/>
                <a:ea typeface="Arial" pitchFamily="34" charset="-122"/>
                <a:cs typeface="Arial" pitchFamily="34" charset="-120"/>
              </a:rPr>
              <a:t>13</a:t>
            </a:r>
            <a:endParaRPr lang="en-US" sz="9600" dirty="0"/>
          </a:p>
        </p:txBody>
      </p:sp>
      <p:sp>
        <p:nvSpPr>
          <p:cNvPr id="4" name="Text 2"/>
          <p:cNvSpPr txBox="1"/>
          <p:nvPr/>
        </p:nvSpPr>
        <p:spPr>
          <a:xfrm>
            <a:off x="4023360" y="1737360"/>
            <a:ext cx="7589520"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PHASE 13</a:t>
            </a:r>
            <a:endParaRPr lang="en-US" sz="1400" dirty="0"/>
          </a:p>
        </p:txBody>
      </p:sp>
      <p:sp>
        <p:nvSpPr>
          <p:cNvPr id="5" name="Text 3"/>
          <p:cNvSpPr txBox="1"/>
          <p:nvPr/>
        </p:nvSpPr>
        <p:spPr>
          <a:xfrm>
            <a:off x="4023360" y="2148840"/>
            <a:ext cx="75895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future &amp; lessons from the field</a:t>
            </a:r>
            <a:endParaRPr lang="en-US" sz="4000" dirty="0"/>
          </a:p>
        </p:txBody>
      </p:sp>
      <p:sp>
        <p:nvSpPr>
          <p:cNvPr id="6" name="Text 4"/>
          <p:cNvSpPr txBox="1"/>
          <p:nvPr/>
        </p:nvSpPr>
        <p:spPr>
          <a:xfrm>
            <a:off x="4023360" y="3611880"/>
            <a:ext cx="7589520" cy="1280160"/>
          </a:xfrm>
          <a:prstGeom prst="rect">
            <a:avLst/>
          </a:prstGeom>
          <a:noFill/>
          <a:ln/>
        </p:spPr>
        <p:txBody>
          <a:bodyPr wrap="square" lIns="0" tIns="0" rIns="0" bIns="0" rtlCol="0" anchor="t"/>
          <a:lstStyle/>
          <a:p>
            <a:pPr indent="0" marL="0">
              <a:buNone/>
            </a:pPr>
            <a:r>
              <a:rPr lang="en-US" sz="1800" i="1" dirty="0">
                <a:solidFill>
                  <a:srgbClr val="C9C9D6"/>
                </a:solidFill>
                <a:latin typeface="Calibri" pitchFamily="34" charset="0"/>
                <a:ea typeface="Calibri" pitchFamily="34" charset="-122"/>
                <a:cs typeface="Calibri" pitchFamily="34" charset="-120"/>
              </a:rPr>
              <a:t>A 20-year window of free distribution is closing. Position for what's next.</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13 · THE FUTURE</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The window is closing, so go all in now</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13 · The future &amp; lessons from the field</a:t>
            </a:r>
            <a:endParaRPr lang="en-US" sz="1000" dirty="0"/>
          </a:p>
        </p:txBody>
      </p:sp>
      <p:sp>
        <p:nvSpPr>
          <p:cNvPr id="5" name="Shape 3"/>
          <p:cNvSpPr/>
          <p:nvPr/>
        </p:nvSpPr>
        <p:spPr>
          <a:xfrm>
            <a:off x="548640" y="1645920"/>
            <a:ext cx="3515258" cy="2011680"/>
          </a:xfrm>
          <a:prstGeom prst="roundRect">
            <a:avLst>
              <a:gd name="adj" fmla="val 5455"/>
            </a:avLst>
          </a:prstGeom>
          <a:solidFill>
            <a:srgbClr val="F4F4F8"/>
          </a:solidFill>
          <a:ln/>
        </p:spPr>
      </p:sp>
      <p:sp>
        <p:nvSpPr>
          <p:cNvPr id="6" name="Text 4"/>
          <p:cNvSpPr txBox="1"/>
          <p:nvPr/>
        </p:nvSpPr>
        <p:spPr>
          <a:xfrm>
            <a:off x="731520" y="1874520"/>
            <a:ext cx="3149498" cy="1005840"/>
          </a:xfrm>
          <a:prstGeom prst="rect">
            <a:avLst/>
          </a:prstGeom>
          <a:noFill/>
          <a:ln/>
        </p:spPr>
        <p:txBody>
          <a:bodyPr wrap="square" lIns="0" tIns="0" rIns="0" bIns="0" rtlCol="0" anchor="ctr"/>
          <a:lstStyle/>
          <a:p>
            <a:pPr algn="ctr" indent="0" marL="0">
              <a:buNone/>
            </a:pPr>
            <a:r>
              <a:rPr lang="en-US" sz="4000" b="1" dirty="0">
                <a:solidFill>
                  <a:srgbClr val="FF4D3D"/>
                </a:solidFill>
                <a:latin typeface="Arial" pitchFamily="34" charset="0"/>
                <a:ea typeface="Arial" pitchFamily="34" charset="-122"/>
                <a:cs typeface="Arial" pitchFamily="34" charset="-120"/>
              </a:rPr>
              <a:t>2008–28</a:t>
            </a:r>
            <a:endParaRPr lang="en-US" sz="4000" dirty="0"/>
          </a:p>
        </p:txBody>
      </p:sp>
      <p:sp>
        <p:nvSpPr>
          <p:cNvPr id="7" name="Text 5"/>
          <p:cNvSpPr txBox="1"/>
          <p:nvPr/>
        </p:nvSpPr>
        <p:spPr>
          <a:xfrm>
            <a:off x="731520" y="2926080"/>
            <a:ext cx="3149498" cy="64008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~20 years of free distribution at scale, never coming back</a:t>
            </a:r>
            <a:endParaRPr lang="en-US" sz="1400" dirty="0"/>
          </a:p>
        </p:txBody>
      </p:sp>
      <p:sp>
        <p:nvSpPr>
          <p:cNvPr id="8" name="Shape 6"/>
          <p:cNvSpPr/>
          <p:nvPr/>
        </p:nvSpPr>
        <p:spPr>
          <a:xfrm>
            <a:off x="4338218" y="1645920"/>
            <a:ext cx="3515258" cy="2011680"/>
          </a:xfrm>
          <a:prstGeom prst="roundRect">
            <a:avLst>
              <a:gd name="adj" fmla="val 5455"/>
            </a:avLst>
          </a:prstGeom>
          <a:solidFill>
            <a:srgbClr val="F4F4F8"/>
          </a:solidFill>
          <a:ln/>
        </p:spPr>
      </p:sp>
      <p:sp>
        <p:nvSpPr>
          <p:cNvPr id="9" name="Text 7"/>
          <p:cNvSpPr txBox="1"/>
          <p:nvPr/>
        </p:nvSpPr>
        <p:spPr>
          <a:xfrm>
            <a:off x="4521098" y="1874520"/>
            <a:ext cx="3149498" cy="1005840"/>
          </a:xfrm>
          <a:prstGeom prst="rect">
            <a:avLst/>
          </a:prstGeom>
          <a:noFill/>
          <a:ln/>
        </p:spPr>
        <p:txBody>
          <a:bodyPr wrap="square" lIns="0" tIns="0" rIns="0" bIns="0" rtlCol="0" anchor="ctr"/>
          <a:lstStyle/>
          <a:p>
            <a:pPr algn="ctr" indent="0" marL="0">
              <a:buNone/>
            </a:pPr>
            <a:r>
              <a:rPr lang="en-US" sz="4000" b="1" dirty="0">
                <a:solidFill>
                  <a:srgbClr val="FF4D3D"/>
                </a:solidFill>
                <a:latin typeface="Arial" pitchFamily="34" charset="0"/>
                <a:ea typeface="Arial" pitchFamily="34" charset="-122"/>
                <a:cs typeface="Arial" pitchFamily="34" charset="-120"/>
              </a:rPr>
              <a:t>~2 yrs</a:t>
            </a:r>
            <a:endParaRPr lang="en-US" sz="4000" dirty="0"/>
          </a:p>
        </p:txBody>
      </p:sp>
      <p:sp>
        <p:nvSpPr>
          <p:cNvPr id="10" name="Text 8"/>
          <p:cNvSpPr txBox="1"/>
          <p:nvPr/>
        </p:nvSpPr>
        <p:spPr>
          <a:xfrm>
            <a:off x="4521098" y="2926080"/>
            <a:ext cx="3149498" cy="64008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Until AI floods short form (long form: ~5)</a:t>
            </a:r>
            <a:endParaRPr lang="en-US" sz="1400" dirty="0"/>
          </a:p>
        </p:txBody>
      </p:sp>
      <p:sp>
        <p:nvSpPr>
          <p:cNvPr id="11" name="Shape 9"/>
          <p:cNvSpPr/>
          <p:nvPr/>
        </p:nvSpPr>
        <p:spPr>
          <a:xfrm>
            <a:off x="8127797" y="1645920"/>
            <a:ext cx="3515258" cy="2011680"/>
          </a:xfrm>
          <a:prstGeom prst="roundRect">
            <a:avLst>
              <a:gd name="adj" fmla="val 5455"/>
            </a:avLst>
          </a:prstGeom>
          <a:solidFill>
            <a:srgbClr val="F4F4F8"/>
          </a:solidFill>
          <a:ln/>
        </p:spPr>
      </p:sp>
      <p:sp>
        <p:nvSpPr>
          <p:cNvPr id="12" name="Text 10"/>
          <p:cNvSpPr txBox="1"/>
          <p:nvPr/>
        </p:nvSpPr>
        <p:spPr>
          <a:xfrm>
            <a:off x="8310677" y="1874520"/>
            <a:ext cx="3149498" cy="1005840"/>
          </a:xfrm>
          <a:prstGeom prst="rect">
            <a:avLst/>
          </a:prstGeom>
          <a:noFill/>
          <a:ln/>
        </p:spPr>
        <p:txBody>
          <a:bodyPr wrap="square" lIns="0" tIns="0" rIns="0" bIns="0" rtlCol="0" anchor="ctr"/>
          <a:lstStyle/>
          <a:p>
            <a:pPr algn="ctr" indent="0" marL="0">
              <a:buNone/>
            </a:pPr>
            <a:r>
              <a:rPr lang="en-US" sz="4000" b="1" dirty="0">
                <a:solidFill>
                  <a:srgbClr val="FF4D3D"/>
                </a:solidFill>
                <a:latin typeface="Arial" pitchFamily="34" charset="0"/>
                <a:ea typeface="Arial" pitchFamily="34" charset="-122"/>
                <a:cs typeface="Arial" pitchFamily="34" charset="-120"/>
              </a:rPr>
              <a:t>$10/post</a:t>
            </a:r>
            <a:endParaRPr lang="en-US" sz="4000" dirty="0"/>
          </a:p>
        </p:txBody>
      </p:sp>
      <p:sp>
        <p:nvSpPr>
          <p:cNvPr id="13" name="Text 11"/>
          <p:cNvSpPr txBox="1"/>
          <p:nvPr/>
        </p:nvSpPr>
        <p:spPr>
          <a:xfrm>
            <a:off x="8310677" y="2926080"/>
            <a:ext cx="3149498" cy="640080"/>
          </a:xfrm>
          <a:prstGeom prst="rect">
            <a:avLst/>
          </a:prstGeom>
          <a:noFill/>
          <a:ln/>
        </p:spPr>
        <p:txBody>
          <a:bodyPr wrap="square" lIns="0" tIns="0" rIns="0" bIns="0" rtlCol="0" anchor="t"/>
          <a:lstStyle/>
          <a:p>
            <a:pPr algn="ctr" indent="0" marL="0">
              <a:buNone/>
            </a:pPr>
            <a:r>
              <a:rPr lang="en-US" sz="1400" dirty="0">
                <a:solidFill>
                  <a:srgbClr val="14141F"/>
                </a:solidFill>
                <a:latin typeface="Calibri" pitchFamily="34" charset="0"/>
                <a:ea typeface="Calibri" pitchFamily="34" charset="-122"/>
                <a:cs typeface="Calibri" pitchFamily="34" charset="-120"/>
              </a:rPr>
              <a:t>The likely pay-to-play future</a:t>
            </a:r>
            <a:endParaRPr lang="en-US" sz="1400" dirty="0"/>
          </a:p>
        </p:txBody>
      </p:sp>
      <p:sp>
        <p:nvSpPr>
          <p:cNvPr id="14" name="Shape 12"/>
          <p:cNvSpPr/>
          <p:nvPr/>
        </p:nvSpPr>
        <p:spPr>
          <a:xfrm>
            <a:off x="548640" y="3931920"/>
            <a:ext cx="3515258" cy="2331720"/>
          </a:xfrm>
          <a:prstGeom prst="roundRect">
            <a:avLst>
              <a:gd name="adj" fmla="val 4706"/>
            </a:avLst>
          </a:prstGeom>
          <a:solidFill>
            <a:srgbClr val="F4F4F8"/>
          </a:solidFill>
          <a:ln/>
        </p:spPr>
      </p:sp>
      <p:sp>
        <p:nvSpPr>
          <p:cNvPr id="15" name="Shape 13"/>
          <p:cNvSpPr/>
          <p:nvPr/>
        </p:nvSpPr>
        <p:spPr>
          <a:xfrm>
            <a:off x="777240" y="4160520"/>
            <a:ext cx="411480" cy="411480"/>
          </a:xfrm>
          <a:prstGeom prst="ellipse">
            <a:avLst/>
          </a:prstGeom>
          <a:solidFill>
            <a:srgbClr val="FF4D3D"/>
          </a:solidFill>
          <a:ln/>
        </p:spPr>
      </p:sp>
      <p:sp>
        <p:nvSpPr>
          <p:cNvPr id="16" name="Text 14"/>
          <p:cNvSpPr txBox="1"/>
          <p:nvPr/>
        </p:nvSpPr>
        <p:spPr>
          <a:xfrm>
            <a:off x="777240" y="4160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Text 15"/>
          <p:cNvSpPr txBox="1"/>
          <p:nvPr/>
        </p:nvSpPr>
        <p:spPr>
          <a:xfrm>
            <a:off x="1325880" y="4133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Replacement order</a:t>
            </a:r>
            <a:endParaRPr lang="en-US" sz="1600" dirty="0"/>
          </a:p>
        </p:txBody>
      </p:sp>
      <p:sp>
        <p:nvSpPr>
          <p:cNvPr id="18" name="Text 16"/>
          <p:cNvSpPr txBox="1"/>
          <p:nvPr/>
        </p:nvSpPr>
        <p:spPr>
          <a:xfrm>
            <a:off x="777240" y="4754880"/>
            <a:ext cx="3058058" cy="137160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Text → short → long form → 3-hour uncut live streams (last to go).</a:t>
            </a:r>
            <a:endParaRPr lang="en-US" sz="1300" dirty="0"/>
          </a:p>
        </p:txBody>
      </p:sp>
      <p:sp>
        <p:nvSpPr>
          <p:cNvPr id="19" name="Shape 17"/>
          <p:cNvSpPr/>
          <p:nvPr/>
        </p:nvSpPr>
        <p:spPr>
          <a:xfrm>
            <a:off x="4338218" y="3931920"/>
            <a:ext cx="3515258" cy="2331720"/>
          </a:xfrm>
          <a:prstGeom prst="roundRect">
            <a:avLst>
              <a:gd name="adj" fmla="val 4706"/>
            </a:avLst>
          </a:prstGeom>
          <a:solidFill>
            <a:srgbClr val="F4F4F8"/>
          </a:solidFill>
          <a:ln/>
        </p:spPr>
      </p:sp>
      <p:sp>
        <p:nvSpPr>
          <p:cNvPr id="20" name="Shape 18"/>
          <p:cNvSpPr/>
          <p:nvPr/>
        </p:nvSpPr>
        <p:spPr>
          <a:xfrm>
            <a:off x="4566818" y="4160520"/>
            <a:ext cx="411480" cy="411480"/>
          </a:xfrm>
          <a:prstGeom prst="ellipse">
            <a:avLst/>
          </a:prstGeom>
          <a:solidFill>
            <a:srgbClr val="FF4D3D"/>
          </a:solidFill>
          <a:ln/>
        </p:spPr>
      </p:sp>
      <p:sp>
        <p:nvSpPr>
          <p:cNvPr id="21" name="Text 19"/>
          <p:cNvSpPr txBox="1"/>
          <p:nvPr/>
        </p:nvSpPr>
        <p:spPr>
          <a:xfrm>
            <a:off x="4566818" y="4160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txBox="1"/>
          <p:nvPr/>
        </p:nvSpPr>
        <p:spPr>
          <a:xfrm>
            <a:off x="5115458" y="4133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Moats</a:t>
            </a:r>
            <a:endParaRPr lang="en-US" sz="1600" dirty="0"/>
          </a:p>
        </p:txBody>
      </p:sp>
      <p:sp>
        <p:nvSpPr>
          <p:cNvPr id="23" name="Text 21"/>
          <p:cNvSpPr txBox="1"/>
          <p:nvPr/>
        </p:nvSpPr>
        <p:spPr>
          <a:xfrm>
            <a:off x="4566818" y="4754880"/>
            <a:ext cx="3058058" cy="137160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Niche, an owned term, one-of-one stories, a searched-for brand, owned email.</a:t>
            </a:r>
            <a:endParaRPr lang="en-US" sz="1300" dirty="0"/>
          </a:p>
        </p:txBody>
      </p:sp>
      <p:sp>
        <p:nvSpPr>
          <p:cNvPr id="24" name="Shape 22"/>
          <p:cNvSpPr/>
          <p:nvPr/>
        </p:nvSpPr>
        <p:spPr>
          <a:xfrm>
            <a:off x="8127797" y="3931920"/>
            <a:ext cx="3515258" cy="2331720"/>
          </a:xfrm>
          <a:prstGeom prst="roundRect">
            <a:avLst>
              <a:gd name="adj" fmla="val 4706"/>
            </a:avLst>
          </a:prstGeom>
          <a:solidFill>
            <a:srgbClr val="F4F4F8"/>
          </a:solidFill>
          <a:ln/>
        </p:spPr>
      </p:sp>
      <p:sp>
        <p:nvSpPr>
          <p:cNvPr id="25" name="Shape 23"/>
          <p:cNvSpPr/>
          <p:nvPr/>
        </p:nvSpPr>
        <p:spPr>
          <a:xfrm>
            <a:off x="8356397" y="4160520"/>
            <a:ext cx="411480" cy="411480"/>
          </a:xfrm>
          <a:prstGeom prst="ellipse">
            <a:avLst/>
          </a:prstGeom>
          <a:solidFill>
            <a:srgbClr val="FF4D3D"/>
          </a:solidFill>
          <a:ln/>
        </p:spPr>
      </p:sp>
      <p:sp>
        <p:nvSpPr>
          <p:cNvPr id="26" name="Text 24"/>
          <p:cNvSpPr txBox="1"/>
          <p:nvPr/>
        </p:nvSpPr>
        <p:spPr>
          <a:xfrm>
            <a:off x="8356397" y="41605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Text 25"/>
          <p:cNvSpPr txBox="1"/>
          <p:nvPr/>
        </p:nvSpPr>
        <p:spPr>
          <a:xfrm>
            <a:off x="8905037" y="41330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AI-proof skills</a:t>
            </a:r>
            <a:endParaRPr lang="en-US" sz="1600" dirty="0"/>
          </a:p>
        </p:txBody>
      </p:sp>
      <p:sp>
        <p:nvSpPr>
          <p:cNvPr id="28" name="Text 26"/>
          <p:cNvSpPr txBox="1"/>
          <p:nvPr/>
        </p:nvSpPr>
        <p:spPr>
          <a:xfrm>
            <a:off x="8356397" y="4754880"/>
            <a:ext cx="3058058" cy="1371600"/>
          </a:xfrm>
          <a:prstGeom prst="rect">
            <a:avLst/>
          </a:prstGeom>
          <a:noFill/>
          <a:ln/>
        </p:spPr>
        <p:txBody>
          <a:bodyPr wrap="square" lIns="0" tIns="0" rIns="0" bIns="0" rtlCol="0" anchor="t"/>
          <a:lstStyle/>
          <a:p>
            <a:pPr indent="0" marL="0">
              <a:buNone/>
            </a:pPr>
            <a:r>
              <a:rPr lang="en-US" sz="1300" dirty="0">
                <a:solidFill>
                  <a:srgbClr val="14141F"/>
                </a:solidFill>
                <a:latin typeface="Calibri" pitchFamily="34" charset="0"/>
                <a:ea typeface="Calibri" pitchFamily="34" charset="-122"/>
                <a:cs typeface="Calibri" pitchFamily="34" charset="-120"/>
              </a:rPr>
              <a:t>Psychology and attention. Plus Dan Koe's four: marketing, sales, writing, speaking.</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spc="200" kern="0" dirty="0">
                <a:solidFill>
                  <a:srgbClr val="FF4D3D"/>
                </a:solidFill>
                <a:latin typeface="Arial" pitchFamily="34" charset="0"/>
                <a:ea typeface="Arial" pitchFamily="34" charset="-122"/>
                <a:cs typeface="Arial" pitchFamily="34" charset="-120"/>
              </a:rPr>
              <a:t>PHASE 13 · LESSONS FROM THE FIELD</a:t>
            </a:r>
            <a:endParaRPr lang="en-US" sz="1100" dirty="0"/>
          </a:p>
        </p:txBody>
      </p:sp>
      <p:sp>
        <p:nvSpPr>
          <p:cNvPr id="3" name="Text 1"/>
          <p:cNvSpPr txBox="1"/>
          <p:nvPr/>
        </p:nvSpPr>
        <p:spPr>
          <a:xfrm>
            <a:off x="548640" y="658368"/>
            <a:ext cx="11094415" cy="685800"/>
          </a:xfrm>
          <a:prstGeom prst="rect">
            <a:avLst/>
          </a:prstGeom>
          <a:noFill/>
          <a:ln/>
        </p:spPr>
        <p:txBody>
          <a:bodyPr wrap="square" lIns="0" tIns="0" rIns="0" bIns="0" rtlCol="0" anchor="t"/>
          <a:lstStyle/>
          <a:p>
            <a:pPr indent="0" marL="0">
              <a:buNone/>
            </a:pPr>
            <a:r>
              <a:rPr lang="en-US" sz="2800" b="1" dirty="0">
                <a:solidFill>
                  <a:srgbClr val="14141F"/>
                </a:solidFill>
                <a:latin typeface="Arial" pitchFamily="34" charset="0"/>
                <a:ea typeface="Arial" pitchFamily="34" charset="-122"/>
                <a:cs typeface="Arial" pitchFamily="34" charset="-120"/>
              </a:rPr>
              <a:t>What the pros would tell you</a:t>
            </a:r>
            <a:endParaRPr lang="en-US" sz="2800" dirty="0"/>
          </a:p>
        </p:txBody>
      </p:sp>
      <p:sp>
        <p:nvSpPr>
          <p:cNvPr id="4" name="Text 2"/>
          <p:cNvSpPr txBox="1"/>
          <p:nvPr/>
        </p:nvSpPr>
        <p:spPr>
          <a:xfrm>
            <a:off x="548640" y="6446520"/>
            <a:ext cx="7315200" cy="228600"/>
          </a:xfrm>
          <a:prstGeom prst="rect">
            <a:avLst/>
          </a:prstGeom>
          <a:noFill/>
          <a:ln/>
        </p:spPr>
        <p:txBody>
          <a:bodyPr wrap="square" lIns="0" tIns="0" rIns="0" bIns="0" rtlCol="0" anchor="t"/>
          <a:lstStyle/>
          <a:p>
            <a:pPr indent="0" marL="0">
              <a:buNone/>
            </a:pPr>
            <a:r>
              <a:rPr lang="en-US" sz="1000" dirty="0">
                <a:solidFill>
                  <a:srgbClr val="5B5B6B"/>
                </a:solidFill>
                <a:latin typeface="Calibri" pitchFamily="34" charset="0"/>
                <a:ea typeface="Calibri" pitchFamily="34" charset="-122"/>
                <a:cs typeface="Calibri" pitchFamily="34" charset="-120"/>
              </a:rPr>
              <a:t>Phase 13 · The future &amp; lessons from the field</a:t>
            </a:r>
            <a:endParaRPr lang="en-US" sz="1000" dirty="0"/>
          </a:p>
        </p:txBody>
      </p:sp>
      <p:sp>
        <p:nvSpPr>
          <p:cNvPr id="5" name="Shape 3"/>
          <p:cNvSpPr/>
          <p:nvPr/>
        </p:nvSpPr>
        <p:spPr>
          <a:xfrm>
            <a:off x="548640" y="1554480"/>
            <a:ext cx="3515258" cy="2217420"/>
          </a:xfrm>
          <a:prstGeom prst="roundRect">
            <a:avLst>
              <a:gd name="adj" fmla="val 4948"/>
            </a:avLst>
          </a:prstGeom>
          <a:solidFill>
            <a:srgbClr val="F4F4F8"/>
          </a:solidFill>
          <a:ln/>
        </p:spPr>
      </p:sp>
      <p:sp>
        <p:nvSpPr>
          <p:cNvPr id="6" name="Shape 4"/>
          <p:cNvSpPr/>
          <p:nvPr/>
        </p:nvSpPr>
        <p:spPr>
          <a:xfrm>
            <a:off x="777240" y="1783080"/>
            <a:ext cx="411480" cy="411480"/>
          </a:xfrm>
          <a:prstGeom prst="ellipse">
            <a:avLst/>
          </a:prstGeom>
          <a:solidFill>
            <a:srgbClr val="FF4D3D"/>
          </a:solidFill>
          <a:ln/>
        </p:spPr>
      </p:sp>
      <p:sp>
        <p:nvSpPr>
          <p:cNvPr id="7" name="Text 5"/>
          <p:cNvSpPr txBox="1"/>
          <p:nvPr/>
        </p:nvSpPr>
        <p:spPr>
          <a:xfrm>
            <a:off x="777240"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325880"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$0 → $1M profit</a:t>
            </a:r>
            <a:endParaRPr lang="en-US" sz="1600" dirty="0"/>
          </a:p>
        </p:txBody>
      </p:sp>
      <p:sp>
        <p:nvSpPr>
          <p:cNvPr id="9" name="Text 7"/>
          <p:cNvSpPr txBox="1"/>
          <p:nvPr/>
        </p:nvSpPr>
        <p:spPr>
          <a:xfrm>
            <a:off x="777240"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A high-ticket, high-margin offer (done-for-you, or done-with-you at $5–10k) plus super-precise, high-value YouTube.</a:t>
            </a:r>
            <a:endParaRPr lang="en-US" sz="1450" dirty="0"/>
          </a:p>
        </p:txBody>
      </p:sp>
      <p:sp>
        <p:nvSpPr>
          <p:cNvPr id="10" name="Shape 8"/>
          <p:cNvSpPr/>
          <p:nvPr/>
        </p:nvSpPr>
        <p:spPr>
          <a:xfrm>
            <a:off x="4338218" y="1554480"/>
            <a:ext cx="3515258" cy="2217420"/>
          </a:xfrm>
          <a:prstGeom prst="roundRect">
            <a:avLst>
              <a:gd name="adj" fmla="val 4948"/>
            </a:avLst>
          </a:prstGeom>
          <a:solidFill>
            <a:srgbClr val="F4F4F8"/>
          </a:solidFill>
          <a:ln/>
        </p:spPr>
      </p:sp>
      <p:sp>
        <p:nvSpPr>
          <p:cNvPr id="11" name="Shape 9"/>
          <p:cNvSpPr/>
          <p:nvPr/>
        </p:nvSpPr>
        <p:spPr>
          <a:xfrm>
            <a:off x="4566818" y="1783080"/>
            <a:ext cx="411480" cy="411480"/>
          </a:xfrm>
          <a:prstGeom prst="ellipse">
            <a:avLst/>
          </a:prstGeom>
          <a:solidFill>
            <a:srgbClr val="FF4D3D"/>
          </a:solidFill>
          <a:ln/>
        </p:spPr>
      </p:sp>
      <p:sp>
        <p:nvSpPr>
          <p:cNvPr id="12" name="Text 10"/>
          <p:cNvSpPr txBox="1"/>
          <p:nvPr/>
        </p:nvSpPr>
        <p:spPr>
          <a:xfrm>
            <a:off x="4566818"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5115458"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It's all skills</a:t>
            </a:r>
            <a:endParaRPr lang="en-US" sz="1600" dirty="0"/>
          </a:p>
        </p:txBody>
      </p:sp>
      <p:sp>
        <p:nvSpPr>
          <p:cNvPr id="14" name="Text 12"/>
          <p:cNvSpPr txBox="1"/>
          <p:nvPr/>
        </p:nvSpPr>
        <p:spPr>
          <a:xfrm>
            <a:off x="4566818"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Kane's regret: going all in too late. Get a job to build skills, but start the 5–7 year clock early.</a:t>
            </a:r>
            <a:endParaRPr lang="en-US" sz="1450" dirty="0"/>
          </a:p>
        </p:txBody>
      </p:sp>
      <p:sp>
        <p:nvSpPr>
          <p:cNvPr id="15" name="Shape 13"/>
          <p:cNvSpPr/>
          <p:nvPr/>
        </p:nvSpPr>
        <p:spPr>
          <a:xfrm>
            <a:off x="8127797" y="1554480"/>
            <a:ext cx="3515258" cy="2217420"/>
          </a:xfrm>
          <a:prstGeom prst="roundRect">
            <a:avLst>
              <a:gd name="adj" fmla="val 4948"/>
            </a:avLst>
          </a:prstGeom>
          <a:solidFill>
            <a:srgbClr val="F4F4F8"/>
          </a:solidFill>
          <a:ln/>
        </p:spPr>
      </p:sp>
      <p:sp>
        <p:nvSpPr>
          <p:cNvPr id="16" name="Shape 14"/>
          <p:cNvSpPr/>
          <p:nvPr/>
        </p:nvSpPr>
        <p:spPr>
          <a:xfrm>
            <a:off x="8356397" y="1783080"/>
            <a:ext cx="411480" cy="411480"/>
          </a:xfrm>
          <a:prstGeom prst="ellipse">
            <a:avLst/>
          </a:prstGeom>
          <a:solidFill>
            <a:srgbClr val="FF4D3D"/>
          </a:solidFill>
          <a:ln/>
        </p:spPr>
      </p:sp>
      <p:sp>
        <p:nvSpPr>
          <p:cNvPr id="17" name="Text 15"/>
          <p:cNvSpPr txBox="1"/>
          <p:nvPr/>
        </p:nvSpPr>
        <p:spPr>
          <a:xfrm>
            <a:off x="8356397" y="17830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905037" y="175564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Be present</a:t>
            </a:r>
            <a:endParaRPr lang="en-US" sz="1600" dirty="0"/>
          </a:p>
        </p:txBody>
      </p:sp>
      <p:sp>
        <p:nvSpPr>
          <p:cNvPr id="19" name="Text 17"/>
          <p:cNvSpPr txBox="1"/>
          <p:nvPr/>
        </p:nvSpPr>
        <p:spPr>
          <a:xfrm>
            <a:off x="8356397" y="237744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Zuckerberg and Ek both lock in instantly, 100% present, then switch.</a:t>
            </a:r>
            <a:endParaRPr lang="en-US" sz="1450" dirty="0"/>
          </a:p>
        </p:txBody>
      </p:sp>
      <p:sp>
        <p:nvSpPr>
          <p:cNvPr id="20" name="Shape 18"/>
          <p:cNvSpPr/>
          <p:nvPr/>
        </p:nvSpPr>
        <p:spPr>
          <a:xfrm>
            <a:off x="548640" y="4046220"/>
            <a:ext cx="3515258" cy="2217420"/>
          </a:xfrm>
          <a:prstGeom prst="roundRect">
            <a:avLst>
              <a:gd name="adj" fmla="val 4948"/>
            </a:avLst>
          </a:prstGeom>
          <a:solidFill>
            <a:srgbClr val="F4F4F8"/>
          </a:solidFill>
          <a:ln/>
        </p:spPr>
      </p:sp>
      <p:sp>
        <p:nvSpPr>
          <p:cNvPr id="21" name="Shape 19"/>
          <p:cNvSpPr/>
          <p:nvPr/>
        </p:nvSpPr>
        <p:spPr>
          <a:xfrm>
            <a:off x="777240" y="4274820"/>
            <a:ext cx="411480" cy="411480"/>
          </a:xfrm>
          <a:prstGeom prst="ellipse">
            <a:avLst/>
          </a:prstGeom>
          <a:solidFill>
            <a:srgbClr val="FF4D3D"/>
          </a:solidFill>
          <a:ln/>
        </p:spPr>
      </p:sp>
      <p:sp>
        <p:nvSpPr>
          <p:cNvPr id="22" name="Text 20"/>
          <p:cNvSpPr txBox="1"/>
          <p:nvPr/>
        </p:nvSpPr>
        <p:spPr>
          <a:xfrm>
            <a:off x="777240"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325880"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Ask holistically</a:t>
            </a:r>
            <a:endParaRPr lang="en-US" sz="1600" dirty="0"/>
          </a:p>
        </p:txBody>
      </p:sp>
      <p:sp>
        <p:nvSpPr>
          <p:cNvPr id="24" name="Text 22"/>
          <p:cNvSpPr txBox="1"/>
          <p:nvPr/>
        </p:nvSpPr>
        <p:spPr>
          <a:xfrm>
            <a:off x="777240"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"Here's my business and resources. What's the whole strategy?" beats fixating on one symptom.</a:t>
            </a:r>
            <a:endParaRPr lang="en-US" sz="1450" dirty="0"/>
          </a:p>
        </p:txBody>
      </p:sp>
      <p:sp>
        <p:nvSpPr>
          <p:cNvPr id="25" name="Shape 23"/>
          <p:cNvSpPr/>
          <p:nvPr/>
        </p:nvSpPr>
        <p:spPr>
          <a:xfrm>
            <a:off x="4338218" y="4046220"/>
            <a:ext cx="3515258" cy="2217420"/>
          </a:xfrm>
          <a:prstGeom prst="roundRect">
            <a:avLst>
              <a:gd name="adj" fmla="val 4948"/>
            </a:avLst>
          </a:prstGeom>
          <a:solidFill>
            <a:srgbClr val="F4F4F8"/>
          </a:solidFill>
          <a:ln/>
        </p:spPr>
      </p:sp>
      <p:sp>
        <p:nvSpPr>
          <p:cNvPr id="26" name="Shape 24"/>
          <p:cNvSpPr/>
          <p:nvPr/>
        </p:nvSpPr>
        <p:spPr>
          <a:xfrm>
            <a:off x="4566818" y="4274820"/>
            <a:ext cx="411480" cy="411480"/>
          </a:xfrm>
          <a:prstGeom prst="ellipse">
            <a:avLst/>
          </a:prstGeom>
          <a:solidFill>
            <a:srgbClr val="FF4D3D"/>
          </a:solidFill>
          <a:ln/>
        </p:spPr>
      </p:sp>
      <p:sp>
        <p:nvSpPr>
          <p:cNvPr id="27" name="Text 25"/>
          <p:cNvSpPr txBox="1"/>
          <p:nvPr/>
        </p:nvSpPr>
        <p:spPr>
          <a:xfrm>
            <a:off x="4566818"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txBox="1"/>
          <p:nvPr/>
        </p:nvSpPr>
        <p:spPr>
          <a:xfrm>
            <a:off x="5115458"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Machine that builds machines</a:t>
            </a:r>
            <a:endParaRPr lang="en-US" sz="1600" dirty="0"/>
          </a:p>
        </p:txBody>
      </p:sp>
      <p:sp>
        <p:nvSpPr>
          <p:cNvPr id="29" name="Text 27"/>
          <p:cNvSpPr txBox="1"/>
          <p:nvPr/>
        </p:nvSpPr>
        <p:spPr>
          <a:xfrm>
            <a:off x="4566818"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Kane's vision: productize the attention-to-dollars factory.</a:t>
            </a:r>
            <a:endParaRPr lang="en-US" sz="1450" dirty="0"/>
          </a:p>
        </p:txBody>
      </p:sp>
      <p:sp>
        <p:nvSpPr>
          <p:cNvPr id="30" name="Shape 28"/>
          <p:cNvSpPr/>
          <p:nvPr/>
        </p:nvSpPr>
        <p:spPr>
          <a:xfrm>
            <a:off x="8127797" y="4046220"/>
            <a:ext cx="3515258" cy="2217420"/>
          </a:xfrm>
          <a:prstGeom prst="roundRect">
            <a:avLst>
              <a:gd name="adj" fmla="val 4948"/>
            </a:avLst>
          </a:prstGeom>
          <a:solidFill>
            <a:srgbClr val="F4F4F8"/>
          </a:solidFill>
          <a:ln/>
        </p:spPr>
      </p:sp>
      <p:sp>
        <p:nvSpPr>
          <p:cNvPr id="31" name="Shape 29"/>
          <p:cNvSpPr/>
          <p:nvPr/>
        </p:nvSpPr>
        <p:spPr>
          <a:xfrm>
            <a:off x="8356397" y="4274820"/>
            <a:ext cx="411480" cy="411480"/>
          </a:xfrm>
          <a:prstGeom prst="ellipse">
            <a:avLst/>
          </a:prstGeom>
          <a:solidFill>
            <a:srgbClr val="FF4D3D"/>
          </a:solidFill>
          <a:ln/>
        </p:spPr>
      </p:sp>
      <p:sp>
        <p:nvSpPr>
          <p:cNvPr id="32" name="Text 30"/>
          <p:cNvSpPr txBox="1"/>
          <p:nvPr/>
        </p:nvSpPr>
        <p:spPr>
          <a:xfrm>
            <a:off x="8356397" y="42748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txBox="1"/>
          <p:nvPr/>
        </p:nvSpPr>
        <p:spPr>
          <a:xfrm>
            <a:off x="8905037" y="4247388"/>
            <a:ext cx="2555138" cy="502920"/>
          </a:xfrm>
          <a:prstGeom prst="rect">
            <a:avLst/>
          </a:prstGeom>
          <a:noFill/>
          <a:ln/>
        </p:spPr>
        <p:txBody>
          <a:bodyPr wrap="square" lIns="0" tIns="0" rIns="0" bIns="0" rtlCol="0" anchor="ctr"/>
          <a:lstStyle/>
          <a:p>
            <a:pPr indent="0" marL="0">
              <a:buNone/>
            </a:pPr>
            <a:r>
              <a:rPr lang="en-US" sz="1600" b="1" dirty="0">
                <a:solidFill>
                  <a:srgbClr val="14141F"/>
                </a:solidFill>
                <a:latin typeface="Arial" pitchFamily="34" charset="0"/>
                <a:ea typeface="Arial" pitchFamily="34" charset="-122"/>
                <a:cs typeface="Arial" pitchFamily="34" charset="-120"/>
              </a:rPr>
              <a:t>Act</a:t>
            </a:r>
            <a:endParaRPr lang="en-US" sz="1600" dirty="0"/>
          </a:p>
        </p:txBody>
      </p:sp>
      <p:sp>
        <p:nvSpPr>
          <p:cNvPr id="34" name="Text 32"/>
          <p:cNvSpPr txBox="1"/>
          <p:nvPr/>
        </p:nvSpPr>
        <p:spPr>
          <a:xfrm>
            <a:off x="8356397" y="4869180"/>
            <a:ext cx="3058058" cy="1257300"/>
          </a:xfrm>
          <a:prstGeom prst="rect">
            <a:avLst/>
          </a:prstGeom>
          <a:noFill/>
          <a:ln/>
        </p:spPr>
        <p:txBody>
          <a:bodyPr wrap="square" lIns="0" tIns="0" rIns="0" bIns="0" rtlCol="0" anchor="t"/>
          <a:lstStyle/>
          <a:p>
            <a:pPr indent="0" marL="0">
              <a:buNone/>
            </a:pPr>
            <a:r>
              <a:rPr lang="en-US" sz="1450" dirty="0">
                <a:solidFill>
                  <a:srgbClr val="14141F"/>
                </a:solidFill>
                <a:latin typeface="Calibri" pitchFamily="34" charset="0"/>
                <a:ea typeface="Calibri" pitchFamily="34" charset="-122"/>
                <a:cs typeface="Calibri" pitchFamily="34" charset="-120"/>
              </a:rPr>
              <a:t>Caleb's charge: download the playbooks and execute. Consumption without action is wasted.</a:t>
            </a:r>
            <a:endParaRPr lang="en-US" sz="14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48640" y="640080"/>
            <a:ext cx="11094415" cy="365760"/>
          </a:xfrm>
          <a:prstGeom prst="rect">
            <a:avLst/>
          </a:prstGeom>
          <a:noFill/>
          <a:ln/>
        </p:spPr>
        <p:txBody>
          <a:bodyPr wrap="square" lIns="0" tIns="0" rIns="0" bIns="0" rtlCol="0" anchor="t"/>
          <a:lstStyle/>
          <a:p>
            <a:pPr indent="0" marL="0">
              <a:buNone/>
            </a:pPr>
            <a:r>
              <a:rPr lang="en-US" sz="1400" b="1" spc="300" kern="0" dirty="0">
                <a:solidFill>
                  <a:srgbClr val="FFC93C"/>
                </a:solidFill>
                <a:latin typeface="Arial" pitchFamily="34" charset="0"/>
                <a:ea typeface="Arial" pitchFamily="34" charset="-122"/>
                <a:cs typeface="Arial" pitchFamily="34" charset="-120"/>
              </a:rPr>
              <a:t>YOUR NEXT 7 DAYS</a:t>
            </a:r>
            <a:endParaRPr lang="en-US" sz="1400" dirty="0"/>
          </a:p>
        </p:txBody>
      </p:sp>
      <p:sp>
        <p:nvSpPr>
          <p:cNvPr id="3" name="Text 1"/>
          <p:cNvSpPr txBox="1"/>
          <p:nvPr/>
        </p:nvSpPr>
        <p:spPr>
          <a:xfrm>
            <a:off x="548640" y="1005840"/>
            <a:ext cx="11094415" cy="8229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Start the machine</a:t>
            </a:r>
            <a:endParaRPr lang="en-US" sz="4000" dirty="0"/>
          </a:p>
        </p:txBody>
      </p:sp>
      <p:sp>
        <p:nvSpPr>
          <p:cNvPr id="4" name="Shape 2"/>
          <p:cNvSpPr/>
          <p:nvPr/>
        </p:nvSpPr>
        <p:spPr>
          <a:xfrm>
            <a:off x="548640" y="2194560"/>
            <a:ext cx="548640" cy="548640"/>
          </a:xfrm>
          <a:prstGeom prst="ellipse">
            <a:avLst/>
          </a:prstGeom>
          <a:solidFill>
            <a:srgbClr val="FF4D3D"/>
          </a:solidFill>
          <a:ln/>
        </p:spPr>
      </p:sp>
      <p:sp>
        <p:nvSpPr>
          <p:cNvPr id="5" name="Text 3"/>
          <p:cNvSpPr txBox="1"/>
          <p:nvPr/>
        </p:nvSpPr>
        <p:spPr>
          <a:xfrm>
            <a:off x="548640"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325880" y="2194560"/>
            <a:ext cx="4754880" cy="5486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Pick your game (1–5) and sketch your first offer</a:t>
            </a:r>
            <a:endParaRPr lang="en-US" sz="1700" dirty="0"/>
          </a:p>
        </p:txBody>
      </p:sp>
      <p:sp>
        <p:nvSpPr>
          <p:cNvPr id="7" name="Shape 5"/>
          <p:cNvSpPr/>
          <p:nvPr/>
        </p:nvSpPr>
        <p:spPr>
          <a:xfrm>
            <a:off x="548640" y="3154680"/>
            <a:ext cx="548640" cy="548640"/>
          </a:xfrm>
          <a:prstGeom prst="ellipse">
            <a:avLst/>
          </a:prstGeom>
          <a:solidFill>
            <a:srgbClr val="FF4D3D"/>
          </a:solidFill>
          <a:ln/>
        </p:spPr>
      </p:sp>
      <p:sp>
        <p:nvSpPr>
          <p:cNvPr id="8" name="Text 6"/>
          <p:cNvSpPr txBox="1"/>
          <p:nvPr/>
        </p:nvSpPr>
        <p:spPr>
          <a:xfrm>
            <a:off x="548640" y="3154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txBox="1"/>
          <p:nvPr/>
        </p:nvSpPr>
        <p:spPr>
          <a:xfrm>
            <a:off x="1325880" y="3154680"/>
            <a:ext cx="4754880" cy="5486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Answer the 4 Brand Journey questions</a:t>
            </a:r>
            <a:endParaRPr lang="en-US" sz="1700" dirty="0"/>
          </a:p>
        </p:txBody>
      </p:sp>
      <p:sp>
        <p:nvSpPr>
          <p:cNvPr id="10" name="Shape 8"/>
          <p:cNvSpPr/>
          <p:nvPr/>
        </p:nvSpPr>
        <p:spPr>
          <a:xfrm>
            <a:off x="548640" y="4114800"/>
            <a:ext cx="548640" cy="548640"/>
          </a:xfrm>
          <a:prstGeom prst="ellipse">
            <a:avLst/>
          </a:prstGeom>
          <a:solidFill>
            <a:srgbClr val="FF4D3D"/>
          </a:solidFill>
          <a:ln/>
        </p:spPr>
      </p:sp>
      <p:sp>
        <p:nvSpPr>
          <p:cNvPr id="11" name="Text 9"/>
          <p:cNvSpPr txBox="1"/>
          <p:nvPr/>
        </p:nvSpPr>
        <p:spPr>
          <a:xfrm>
            <a:off x="548640" y="4114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txBox="1"/>
          <p:nvPr/>
        </p:nvSpPr>
        <p:spPr>
          <a:xfrm>
            <a:off x="1325880" y="4114800"/>
            <a:ext cx="4754880" cy="5486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Write your gap, core truth and the term to own</a:t>
            </a:r>
            <a:endParaRPr lang="en-US" sz="1700" dirty="0"/>
          </a:p>
        </p:txBody>
      </p:sp>
      <p:sp>
        <p:nvSpPr>
          <p:cNvPr id="13" name="Shape 11"/>
          <p:cNvSpPr/>
          <p:nvPr/>
        </p:nvSpPr>
        <p:spPr>
          <a:xfrm>
            <a:off x="548640" y="5074920"/>
            <a:ext cx="548640" cy="548640"/>
          </a:xfrm>
          <a:prstGeom prst="ellipse">
            <a:avLst/>
          </a:prstGeom>
          <a:solidFill>
            <a:srgbClr val="FF4D3D"/>
          </a:solidFill>
          <a:ln/>
        </p:spPr>
      </p:sp>
      <p:sp>
        <p:nvSpPr>
          <p:cNvPr id="14" name="Text 12"/>
          <p:cNvSpPr txBox="1"/>
          <p:nvPr/>
        </p:nvSpPr>
        <p:spPr>
          <a:xfrm>
            <a:off x="548640" y="5074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txBox="1"/>
          <p:nvPr/>
        </p:nvSpPr>
        <p:spPr>
          <a:xfrm>
            <a:off x="1325880" y="5074920"/>
            <a:ext cx="4754880" cy="5486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Choose your 80% medium and 2–3 platforms</a:t>
            </a:r>
            <a:endParaRPr lang="en-US" sz="1700" dirty="0"/>
          </a:p>
        </p:txBody>
      </p:sp>
      <p:sp>
        <p:nvSpPr>
          <p:cNvPr id="16" name="Shape 14"/>
          <p:cNvSpPr/>
          <p:nvPr/>
        </p:nvSpPr>
        <p:spPr>
          <a:xfrm>
            <a:off x="6217920" y="2194560"/>
            <a:ext cx="548640" cy="548640"/>
          </a:xfrm>
          <a:prstGeom prst="ellipse">
            <a:avLst/>
          </a:prstGeom>
          <a:solidFill>
            <a:srgbClr val="FF4D3D"/>
          </a:solidFill>
          <a:ln/>
        </p:spPr>
      </p:sp>
      <p:sp>
        <p:nvSpPr>
          <p:cNvPr id="17" name="Text 15"/>
          <p:cNvSpPr txBox="1"/>
          <p:nvPr/>
        </p:nvSpPr>
        <p:spPr>
          <a:xfrm>
            <a:off x="6217920"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8" name="Text 16"/>
          <p:cNvSpPr txBox="1"/>
          <p:nvPr/>
        </p:nvSpPr>
        <p:spPr>
          <a:xfrm>
            <a:off x="6995160" y="2194560"/>
            <a:ext cx="4754880" cy="5486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Explode 3 winning videos into 7 bricks</a:t>
            </a:r>
            <a:endParaRPr lang="en-US" sz="1700" dirty="0"/>
          </a:p>
        </p:txBody>
      </p:sp>
      <p:sp>
        <p:nvSpPr>
          <p:cNvPr id="19" name="Shape 17"/>
          <p:cNvSpPr/>
          <p:nvPr/>
        </p:nvSpPr>
        <p:spPr>
          <a:xfrm>
            <a:off x="6217920" y="3154680"/>
            <a:ext cx="548640" cy="548640"/>
          </a:xfrm>
          <a:prstGeom prst="ellipse">
            <a:avLst/>
          </a:prstGeom>
          <a:solidFill>
            <a:srgbClr val="FF4D3D"/>
          </a:solidFill>
          <a:ln/>
        </p:spPr>
      </p:sp>
      <p:sp>
        <p:nvSpPr>
          <p:cNvPr id="20" name="Text 18"/>
          <p:cNvSpPr txBox="1"/>
          <p:nvPr/>
        </p:nvSpPr>
        <p:spPr>
          <a:xfrm>
            <a:off x="6217920" y="3154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21" name="Text 19"/>
          <p:cNvSpPr txBox="1"/>
          <p:nvPr/>
        </p:nvSpPr>
        <p:spPr>
          <a:xfrm>
            <a:off x="6995160" y="3154680"/>
            <a:ext cx="4754880" cy="5486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Post one video and do an A-vs-B review</a:t>
            </a:r>
            <a:endParaRPr lang="en-US" sz="1700" dirty="0"/>
          </a:p>
        </p:txBody>
      </p:sp>
      <p:sp>
        <p:nvSpPr>
          <p:cNvPr id="22" name="Shape 20"/>
          <p:cNvSpPr/>
          <p:nvPr/>
        </p:nvSpPr>
        <p:spPr>
          <a:xfrm>
            <a:off x="6217920" y="4114800"/>
            <a:ext cx="548640" cy="548640"/>
          </a:xfrm>
          <a:prstGeom prst="ellipse">
            <a:avLst/>
          </a:prstGeom>
          <a:solidFill>
            <a:srgbClr val="FF4D3D"/>
          </a:solidFill>
          <a:ln/>
        </p:spPr>
      </p:sp>
      <p:sp>
        <p:nvSpPr>
          <p:cNvPr id="23" name="Text 21"/>
          <p:cNvSpPr txBox="1"/>
          <p:nvPr/>
        </p:nvSpPr>
        <p:spPr>
          <a:xfrm>
            <a:off x="6217920" y="4114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24" name="Text 22"/>
          <p:cNvSpPr txBox="1"/>
          <p:nvPr/>
        </p:nvSpPr>
        <p:spPr>
          <a:xfrm>
            <a:off x="6995160" y="4114800"/>
            <a:ext cx="4754880" cy="5486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Build your multiplier sheet and one lead magnet</a:t>
            </a:r>
            <a:endParaRPr lang="en-US" sz="1700" dirty="0"/>
          </a:p>
        </p:txBody>
      </p:sp>
      <p:sp>
        <p:nvSpPr>
          <p:cNvPr id="25" name="Text 23"/>
          <p:cNvSpPr txBox="1"/>
          <p:nvPr/>
        </p:nvSpPr>
        <p:spPr>
          <a:xfrm>
            <a:off x="548640" y="6263640"/>
            <a:ext cx="11094415" cy="274320"/>
          </a:xfrm>
          <a:prstGeom prst="rect">
            <a:avLst/>
          </a:prstGeom>
          <a:noFill/>
          <a:ln/>
        </p:spPr>
        <p:txBody>
          <a:bodyPr wrap="square" lIns="0" tIns="0" rIns="0" bIns="0" rtlCol="0" anchor="t"/>
          <a:lstStyle/>
          <a:p>
            <a:pPr indent="0" marL="0">
              <a:buNone/>
            </a:pPr>
            <a:r>
              <a:rPr lang="en-US" sz="1100" dirty="0">
                <a:solidFill>
                  <a:srgbClr val="C9C9D6"/>
                </a:solidFill>
                <a:latin typeface="Calibri" pitchFamily="34" charset="0"/>
                <a:ea typeface="Calibri" pitchFamily="34" charset="-122"/>
                <a:cs typeface="Calibri" pitchFamily="34" charset="-120"/>
              </a:rPr>
              <a:t>Sources: Kane Callaway interview · Caleb Ralston, How to Build a Brand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Content Machine Masterclass</dc:title>
  <dc:subject>PptxGenJS Presentation</dc:subject>
  <dc:creator>PptxGenJS</dc:creator>
  <cp:lastModifiedBy>PptxGenJS</cp:lastModifiedBy>
  <cp:revision>1</cp:revision>
  <dcterms:created xsi:type="dcterms:W3CDTF">2026-09-28T07:19:17Z</dcterms:created>
  <dcterms:modified xsi:type="dcterms:W3CDTF">2026-09-28T07:19:17Z</dcterms:modified>
</cp:coreProperties>
</file>